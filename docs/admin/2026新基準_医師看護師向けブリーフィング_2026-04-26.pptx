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0】</a:t>
            </a:r>
          </a:p>
          <a:p>
            <a:r>
              <a:t>タイトル: この資料は、必要な医療を正しく数字に残すためのものです</a:t>
            </a:r>
          </a:p>
          <a:p>
            <a:r>
              <a:t>キーメッセージ: 不必要な処置・虚偽記載・患者選別はしません</a:t>
            </a:r>
          </a:p>
          <a:p/>
          <a:p>
            <a:r>
              <a:t>【スピーカーノート】</a:t>
            </a:r>
          </a:p>
          <a:p>
            <a:r>
              <a:t>冒頭で倫理ラインを固定する。必要度達成のための処置追加ではなく、医学的適応のある治療・処置・ケアを正しく記録し制度評価と同期する資料だと明確にする。</a:t>
            </a:r>
          </a:p>
          <a:p/>
          <a:p>
            <a:r>
              <a:t>【聴衆に残したい行動】</a:t>
            </a:r>
          </a:p>
          <a:p>
            <a:r>
              <a:t>数字目的の処置追加ではない、という前提で全員が話を聞く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1】</a:t>
            </a:r>
          </a:p>
          <a:p>
            <a:r>
              <a:t>タイトル: 2026 年 6 月 1 日から、6F は「今まで通り」では必要度 II が足りません</a:t>
            </a:r>
          </a:p>
          <a:p>
            <a:r>
              <a:t>キーメッセージ: 6F 必要度 II: 直近 3 ヶ月で月 99 患者日 不足</a:t>
            </a:r>
          </a:p>
          <a:p/>
          <a:p>
            <a:r>
              <a:t>【スピーカーノート】</a:t>
            </a:r>
          </a:p>
          <a:p>
            <a:r>
              <a:t>制度説明から入らず、まず危機の大きさを患者日で見せる。6F は入院数を減らさず、高稼働を維持する前提で分子を増やす必要がある。</a:t>
            </a:r>
          </a:p>
          <a:p/>
          <a:p>
            <a:r>
              <a:t>【聴衆に残したい行動】</a:t>
            </a:r>
          </a:p>
          <a:p>
            <a:r>
              <a:t>「不足 pt」ではなく「月 99 患者日」を共通言語にする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2】</a:t>
            </a:r>
          </a:p>
          <a:p>
            <a:r>
              <a:t>タイトル: 看護必要度は「重い患者を診ていること」を数字で証明する指標です</a:t>
            </a:r>
          </a:p>
          <a:p>
            <a:r>
              <a:t>キーメッセージ: やった医療は、記録とコードにつながって初めて数字になります</a:t>
            </a:r>
          </a:p>
          <a:p/>
          <a:p>
            <a:r>
              <a:t>【スピーカーノート】</a:t>
            </a:r>
          </a:p>
          <a:p>
            <a:r>
              <a:t>医師には看護必要度の前提知識がない。制度用語ではなく、治療実態を数字に残す仕組みとして説明する。</a:t>
            </a:r>
          </a:p>
          <a:p/>
          <a:p>
            <a:r>
              <a:t>【聴衆に残したい行動】</a:t>
            </a:r>
          </a:p>
          <a:p>
            <a:r>
              <a:t>医師が「自分の指示・記録が必要度に影響する」と理解する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3】</a:t>
            </a:r>
          </a:p>
          <a:p>
            <a:r>
              <a:t>タイトル: 6F は入院数を減らさず、分子の該当患者日を増やします</a:t>
            </a:r>
          </a:p>
          <a:p>
            <a:r>
              <a:t>キーメッセージ: 分母は維持。増やすのは、適応のある該当日です</a:t>
            </a:r>
          </a:p>
          <a:p/>
          <a:p>
            <a:r>
              <a:t>【スピーカーノート】</a:t>
            </a:r>
          </a:p>
          <a:p>
            <a:r>
              <a:t>稼働率維持のため、非該当日を持つ長期入院患者で病床を支える現実がある。よって分母を減らす提案はしない。</a:t>
            </a:r>
          </a:p>
          <a:p/>
          <a:p>
            <a:r>
              <a:t>【聴衆に残したい行動】</a:t>
            </a:r>
          </a:p>
          <a:p>
            <a:r>
              <a:t>「入院を絞る」ではなく「拾い漏れを減らす」に合意する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4】</a:t>
            </a:r>
          </a:p>
          <a:p>
            <a:r>
              <a:t>タイトル: 6F は月 75〜80 件の入院を維持する病棟です</a:t>
            </a:r>
          </a:p>
          <a:p>
            <a:r>
              <a:t>キーメッセージ: 入院数を減らさず、100 患者日/月を取り戻す</a:t>
            </a:r>
          </a:p>
          <a:p/>
          <a:p>
            <a:r>
              <a:t>【スピーカーノート】</a:t>
            </a:r>
          </a:p>
          <a:p>
            <a:r>
              <a:t>6F の過去 1 年の入院ボリュームを示す。これを今後も維持する前提で、必要度の分子を積み増す。</a:t>
            </a:r>
          </a:p>
          <a:p/>
          <a:p>
            <a:r>
              <a:t>【聴衆に残したい行動】</a:t>
            </a:r>
          </a:p>
          <a:p>
            <a:r>
              <a:t>月 75〜80 件の入院を維持したまま改善する前提を共有する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5】</a:t>
            </a:r>
          </a:p>
          <a:p>
            <a:r>
              <a:t>タイトル: A3 は「点滴ライン 3 本」ではなく「注射薬剤 3 種類以上」です</a:t>
            </a:r>
          </a:p>
          <a:p>
            <a:r>
              <a:t>キーメッセージ: ラインではなく薬剤数。最大 7 日間。除外薬剤あり。</a:t>
            </a:r>
          </a:p>
          <a:p/>
          <a:p>
            <a:r>
              <a:t>【スピーカーノート】</a:t>
            </a:r>
          </a:p>
          <a:p>
            <a:r>
              <a:t>前回 PPTX の重大誤りを修正するスライド。維持輸液だけで 3 種類にしない。抗生剤単独も A3 ではない。</a:t>
            </a:r>
          </a:p>
          <a:p/>
          <a:p>
            <a:r>
              <a:t>【聴衆に残したい行動】</a:t>
            </a:r>
          </a:p>
          <a:p>
            <a:r>
              <a:t>A3 を確認するとき、医師・看護師・医事が薬剤種類と除外薬剤を確認する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6】</a:t>
            </a:r>
          </a:p>
          <a:p>
            <a:r>
              <a:t>タイトル: 肺炎・心不全・COPD 増悪は、A2/A3 の組み合わせで拾います</a:t>
            </a:r>
          </a:p>
          <a:p>
            <a:r>
              <a:t>キーメッセージ: 酸素 + 注射薬 3 種類 = A 合計 2 点の入口</a:t>
            </a:r>
          </a:p>
          <a:p/>
          <a:p>
            <a:r>
              <a:t>【スピーカーノート】</a:t>
            </a:r>
          </a:p>
          <a:p>
            <a:r>
              <a:t>医師が目の前の患者で当てはめられるようにする。A2 は喀痰吸引のみ除外、コード一覧該当行為が必要。A3 は薬剤数と除外薬剤確認。</a:t>
            </a:r>
          </a:p>
          <a:p/>
          <a:p>
            <a:r>
              <a:t>【聴衆に残したい行動】</a:t>
            </a:r>
          </a:p>
          <a:p>
            <a:r>
              <a:t>入院時 30 秒で「この肺炎は A2/A3 になるか」を考える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7】</a:t>
            </a:r>
          </a:p>
          <a:p>
            <a:r>
              <a:t>タイトル: 敗血症・ショックでは A6 の 3 点項目を見落としません</a:t>
            </a:r>
          </a:p>
          <a:p>
            <a:r>
              <a:t>キーメッセージ: 昇圧薬・麻薬注射・抗不整脈薬・抗血栓薬持続点滴は高得点候補</a:t>
            </a:r>
          </a:p>
          <a:p/>
          <a:p>
            <a:r>
              <a:t>【スピーカーノート】</a:t>
            </a:r>
          </a:p>
          <a:p>
            <a:r>
              <a:t>A6 は強いが誤用が危険。内服・貼付麻薬は 3 点ではない。複数 A6 の足し算もしない。</a:t>
            </a:r>
          </a:p>
          <a:p/>
          <a:p>
            <a:r>
              <a:t>【聴衆に残したい行動】</a:t>
            </a:r>
          </a:p>
          <a:p>
            <a:r>
              <a:t>薬剤名、投与経路、投与日、目的を当日記録する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8】</a:t>
            </a:r>
          </a:p>
          <a:p>
            <a:r>
              <a:t>タイトル: 内科処置・検査は C 項目ごとに 2 日・4 日・5 日で数えます</a:t>
            </a:r>
          </a:p>
          <a:p>
            <a:r>
              <a:t>キーメッセージ: C22 = 2 日、C21 = 4 日、C23 = 5 日</a:t>
            </a:r>
          </a:p>
          <a:p/>
          <a:p>
            <a:r>
              <a:t>【スピーカーノート】</a:t>
            </a:r>
          </a:p>
          <a:p>
            <a:r>
              <a:t>PT-OT-ST.NET 別紙7別表1 で照合済。中心静脈注射用カテーテル挿入、腰椎穿刺、持続緩徐式血液濾過、吸着式血液浄化法、エンドトキシン選択除去用吸着式血液浄化法はいずれも C21。PEG、CART、PTCD、消化管ステントは C23。</a:t>
            </a:r>
          </a:p>
          <a:p/>
          <a:p>
            <a:r>
              <a:t>【聴衆に残したい行動】</a:t>
            </a:r>
          </a:p>
          <a:p>
            <a:r>
              <a:t>処置をした日に「C 項目候補」と医事へつなぐ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9】</a:t>
            </a:r>
          </a:p>
          <a:p>
            <a:r>
              <a:t>タイトル: ペイン科は「薬剤名・目的・投与日」を残すだけで改善余地があります</a:t>
            </a:r>
          </a:p>
          <a:p>
            <a:r>
              <a:t>キーメッセージ: 治療実態を A6 候補として照合する</a:t>
            </a:r>
          </a:p>
          <a:p/>
          <a:p>
            <a:r>
              <a:t>【スピーカーノート】</a:t>
            </a:r>
          </a:p>
          <a:p>
            <a:r>
              <a:t>ペイン科は在院日数が長く、6F の稼働率を支える一方で、必要度分子の取りこぼしが起きやすい。点数目的ではなく、適応ある治療の可視化。</a:t>
            </a:r>
          </a:p>
          <a:p/>
          <a:p>
            <a:r>
              <a:t>【聴衆に残したい行動】</a:t>
            </a:r>
          </a:p>
          <a:p>
            <a:r>
              <a:t>ペイン科症例は週 1 回、A6 候補を医師・看護師・医事で照合する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10】</a:t>
            </a:r>
          </a:p>
          <a:p>
            <a:r>
              <a:t>タイトル: A7 は入院初期 2 日間だけです</a:t>
            </a:r>
          </a:p>
          <a:p>
            <a:r>
              <a:t>キーメッセージ: 3 日目から落ちる前提で、次の A/C を探す</a:t>
            </a:r>
          </a:p>
          <a:p/>
          <a:p>
            <a:r>
              <a:t>【スピーカーノート】</a:t>
            </a:r>
          </a:p>
          <a:p>
            <a:r>
              <a:t>救急搬送後入院や緊急入院は 2 日間（旧 5 日間から短縮）。3 日目以降の該当維持を A/C 項目で設計する必要がある。</a:t>
            </a:r>
          </a:p>
          <a:p/>
          <a:p>
            <a:r>
              <a:t>【聴衆に残したい行動】</a:t>
            </a:r>
          </a:p>
          <a:p>
            <a:r>
              <a:t>入院 3 日目の朝に、A7 後の受け皿を確認する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11】</a:t>
            </a:r>
          </a:p>
          <a:p>
            <a:r>
              <a:t>タイトル: 救急 15% は、病院全体ではなく病棟別・3 ヶ月で見られます</a:t>
            </a:r>
          </a:p>
          <a:p>
            <a:r>
              <a:t>キーメッセージ: 5F / 6F それぞれ、rolling 3 ヶ月で 15% 以上</a:t>
            </a:r>
          </a:p>
          <a:p/>
          <a:p>
            <a:r>
              <a:t>【スピーカーノート】</a:t>
            </a:r>
          </a:p>
          <a:p>
            <a:r>
              <a:t>予定外入院割合と制度上の救急搬送後割合は違う。下り搬送は 15% 分子の内訳。</a:t>
            </a:r>
          </a:p>
          <a:p/>
          <a:p>
            <a:r>
              <a:t>【聴衆に残したい行動】</a:t>
            </a:r>
          </a:p>
          <a:p>
            <a:r>
              <a:t>救急・下り搬送の経路記録を曖昧にしない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12】</a:t>
            </a:r>
          </a:p>
          <a:p>
            <a:r>
              <a:t>タイトル: 短手 3 は Day6 に延びた瞬間、LOS 分母が跳ねます</a:t>
            </a:r>
          </a:p>
          <a:p>
            <a:r>
              <a:t>キーメッセージ: Day5 までは除外、Day6 で +6 日ジャンプ</a:t>
            </a:r>
          </a:p>
          <a:p/>
          <a:p>
            <a:r>
              <a:t>【スピーカーノート】</a:t>
            </a:r>
          </a:p>
          <a:p>
            <a:r>
              <a:t>短手 3 は便利だが、Day6 延長時に平均在院日数へ不連続な影響が出る。医学的判断は変えないが、判断点を可視化する。</a:t>
            </a:r>
          </a:p>
          <a:p/>
          <a:p>
            <a:r>
              <a:t>【聴衆に残したい行動】</a:t>
            </a:r>
          </a:p>
          <a:p>
            <a:r>
              <a:t>Day5 短手 3 患者はカンファで明示判断する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13】</a:t>
            </a:r>
          </a:p>
          <a:p>
            <a:r>
              <a:t>タイトル: 退院集中は、空床と月曜負荷を作ります</a:t>
            </a:r>
          </a:p>
          <a:p>
            <a:r>
              <a:t>キーメッセージ: 金曜・土曜集中 → 週末空床 → 月曜入院集中</a:t>
            </a:r>
          </a:p>
          <a:p/>
          <a:p>
            <a:r>
              <a:t>【スピーカーノート】</a:t>
            </a:r>
          </a:p>
          <a:p>
            <a:r>
              <a:t>退院集中は制度の直接項目ではないが、稼働率・現場負荷・患者受入に影響する。金額だけでなく業務負荷で伝える。</a:t>
            </a:r>
          </a:p>
          <a:p/>
          <a:p>
            <a:r>
              <a:t>【聴衆に残したい行動】</a:t>
            </a:r>
          </a:p>
          <a:p>
            <a:r>
              <a:t>木曜カンファで退院日を 1 日単位で分散検討する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14】</a:t>
            </a:r>
          </a:p>
          <a:p>
            <a:r>
              <a:t>タイトル: 明日から変えるのは、3 つだけです</a:t>
            </a:r>
          </a:p>
          <a:p>
            <a:r>
              <a:t>キーメッセージ: 入院時 30 秒、朝ラウンド即答、木曜 6F ハドル</a:t>
            </a:r>
          </a:p>
          <a:p/>
          <a:p>
            <a:r>
              <a:t>【スピーカーノート】</a:t>
            </a:r>
          </a:p>
          <a:p>
            <a:r>
              <a:t>行動人間学的に、覚える項目を増やさない。固定習慣に落とす。</a:t>
            </a:r>
          </a:p>
          <a:p/>
          <a:p>
            <a:r>
              <a:t>【聴衆に残したい行動】</a:t>
            </a:r>
          </a:p>
          <a:p>
            <a:r>
              <a:t>医師: 入院時 30 秒確認。看護師: A 項目同日確認。管理者: 週 1 回、残不足患者日を共有する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【スライド 15】</a:t>
            </a:r>
          </a:p>
          <a:p>
            <a:r>
              <a:t>タイトル: 医師と看護師の協力で、月 100 患者日は現実的に届きます</a:t>
            </a:r>
          </a:p>
          <a:p>
            <a:r>
              <a:t>キーメッセージ: 記録 11 + 内科 40 + ペイン 9 + C 項目 40 = 100 患者日/月</a:t>
            </a:r>
          </a:p>
          <a:p/>
          <a:p>
            <a:r>
              <a:t>【スピーカーノート】</a:t>
            </a:r>
          </a:p>
          <a:p>
            <a:r>
              <a:t>最後は「無理なお願い」ではなく「どの行動で何患者日が増えるか」を見せる。責める資料ではなく、同じ数字を見る資料にする。</a:t>
            </a:r>
          </a:p>
          <a:p/>
          <a:p>
            <a:r>
              <a:t>【聴衆に残したい行動】</a:t>
            </a:r>
          </a:p>
          <a:p>
            <a:r>
              <a:t>次週から 6F で「残不足患者日/月」を運用 KPI にする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この資料は、必要な医療を正しく数字に残すためのものです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DC2626"/>
                </a:solidFill>
                <a:latin typeface="Hiragino Kaku Gothic ProN"/>
              </a:rPr>
              <a:t>不必要な処置・虚偽記載・患者選別はしません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適応のある治療・処置・ケアを、A項目 / C項目として正しく記録します。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数字目的の処置追加ではない、という前提で進めます。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数字目的の処置追加ではない、という前提で全員が話を聞く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2026 年 6 月 1 日から、6F は「今まで通り」では必要度 II が足りません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DC2626"/>
                </a:solidFill>
                <a:latin typeface="Hiragino Kaku Gothic ProN"/>
              </a:rPr>
              <a:t>6F 必要度 II: 直近 3 ヶ月で月 99 患者日 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目標 18%、現状 9.17%、不足 99.4 患者日/月（応需係数 +1.48% 加算後）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12 ヶ月平均は最低ライン、直近 3 ヶ月は安全ラインとして見る。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「不足 pt」ではなく「月 99 患者日」を共通言語にする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看護必要度は「重い患者を診ていること」を数字で証明する指標です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やった医療は、記録とコードにつながって初めて数字になります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患者 → 医師指示 → 看護記録 → 医事コード → 必要度 の流れで数字に残る。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忙しい病棟だから自動的に上がる、わけではない。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医師が「自分の指示・記録が必要度に影響する」と理解する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6F は入院数を減らさず、分子の該当患者日を増やします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分母は維持。増やすのは、適応のある該当日です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稼働率維持のため、非該当日を持つ長期入院患者で病床を支える現実があります。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分母を減らす提案ではありません。拾い漏れを減らす運用改善です。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「入院を絞る」ではなく「拾い漏れを減らす」に合意する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6F は月 75〜80 件の入院を維持する病棟です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入院数を減らさず、100 患者日/月を取り戻す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6F 過去 1 年: 入院 930 件/年、平均 77.5 件/月、範囲 70〜85 件/月。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この入院ボリュームを維持したまま、分子を積み増します。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月 75〜80 件の入院を維持したまま改善する前提を共有する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A3 は「点滴ライン 3 本」ではなく「注射薬剤 3 種類以上」です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DC2626"/>
                </a:solidFill>
                <a:latin typeface="Hiragino Kaku Gothic ProN"/>
              </a:rPr>
              <a:t>ラインではなく薬剤数。最大 7 日間。除外薬剤あり。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悪い例: 維持輸液だけで 3 種類カウント。抗生剤単独。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良い例: 抗菌薬 + 輸液 + 電解質補正など医学的に必要な 3 種類同時投与。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A3 を確認するとき、医師・看護師・医事が薬剤種類と除外薬剤を確認する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肺炎・心不全・COPD 増悪は、A2/A3 の組み合わせで拾います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酸素 + 注射薬 3 種類 = A 合計 2 点の入口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Day1-2 は A7 (救急 2 点) でカバー、Day3 以降は A2/A3 で維持。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A2 は喀痰吸引のみ除外。コード一覧該当行為が必要。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入院時 30 秒で「この肺炎は A2/A3 になるか」を考える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敗血症・ショックでは A6 の 3 点項目を見落としません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昇圧薬・麻薬注射・抗不整脈薬・抗血栓薬持続点滴は高得点候補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条件: いずれも「注射剤のみ」または「持続点滴」が必須。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内服・貼付・坐剤の麻薬は 3 点項目ではない。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複数 A6 該当でも合算しない（最高得点を採用）。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薬剤名、投与経路、投与日、目的を当日記録する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内科処置・検査は C 項目ごとに 2 日・4 日・5 日で数えます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C22 = 2 日、C21 = 4 日、C23 = 5 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C22 (2日): 経食道心エコー、気管支鏡 等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C21 (4日): CV 挿入、腰椎穿刺、CHDF、ERCP、内視鏡止血 等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C23 (5日): PEG、CART、PTCD、消化管ステント 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処置をした日に「C 項目候補」と医事へつなぐ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ペイン科は「薬剤名・目的・投与日」を残すだけで改善余地があります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治療実態を A6 候補として照合する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薬剤名 → コード照合 → 投与日記録 → 該当日 のフローを徹底。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ペイン科は在院日数が長く、6F の稼働率を支えています。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点数目的ではなく、適応ある治療の可視化です。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ペイン科症例は週 1 回、A6 候補を医師・看護師・医事で照合する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A7 は入院初期 2 日間だけです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3 日目から落ちる前提で、次の A/C 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Day1-2: A7（救急搬送後 / 緊急入院、2 点）でカバー。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Day3 以降: A2/A3/A4/A5/A6 または C 項目で維持する設計。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入院 3 日目の朝に、A7 後の受け皿を確認する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救急 15% は、病院全体ではなく病棟別・3 ヶ月で見られます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5F / 6F それぞれ、rolling 3 ヶ月で 15% 以上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予定外入院割合と制度上の救急搬送後割合は違う。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下り搬送は 15% 分子の内訳（独立基準ではない）。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経路記録（救急車 / 他院救急患者連携搬送料）を曖昧にしない。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救急・下り搬送の経路記録を曖昧にしない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短手 3 は Day6 に延びた瞬間、LOS 分母が跳ねます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DC2626"/>
                </a:solidFill>
                <a:latin typeface="Hiragino Kaku Gothic ProN"/>
              </a:rPr>
              <a:t>Day5 までは除外、Day6 で +6 日ジャンプ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Day1-5: LOS 分母から除外（短手 3 患者）。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Day6 に延長した瞬間: 入院初日まで遡って全日数を分母にカウント。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救急 15% 分母には短手 3 を含む。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Day5 短手 3 患者はカンファで明示判断する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退院集中は、空床と月曜負荷を作ります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金曜・土曜集中 → 週末空床 → 月曜入院集中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過去 1 年で退院集中 49 回。機会損失 年間 812〜1,215 万円規模。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6F は火曜・金曜集中が目立つ。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金額ではなく業務負荷の因果で伝える。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木曜カンファで退院日を 1 日単位で分散検討する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明日から変えるのは、3 つだけです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入院時 30 秒、朝ラウンド即答、木曜 6F ハドル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医師: 入院時 30 秒で A2 以上 / C1 以上 / A7 該当を考える。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看護師: 朝の A 項目評価で疑問あれば医師に当日確認、翌日に持ち越さない。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管理者: 週 1 回、残不足患者日を共有する。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医師: 入院時 30 秒確認。看護師: A 項目同日確認。管理者: 週 1 回、残不足患者日を共有する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374151"/>
                </a:solidFill>
                <a:latin typeface="Hiragino Kaku Gothic ProN"/>
              </a:rPr>
              <a:t>医師と看護師の協力で、月 100 患者日は現実的に届きます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Hiragino Kaku Gothic ProN"/>
              </a:rPr>
              <a:t>スライド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F2937"/>
                </a:solidFill>
                <a:latin typeface="Hiragino Kaku Gothic ProN"/>
              </a:rPr>
              <a:t>記録 11 + 内科 40 + ペイン 9 + C 項目 40 = 100 患者日/月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記録回収 11、内科 A 項目 40、ペイン科 A6 9、C21系 16、C22系 4、C23系 20。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「無理なお願い」ではなく「どの行動で何患者日が増えるか」を見る。</a:t>
            </a:r>
          </a:p>
          <a:p>
            <a:pPr algn="l"/>
            <a:r>
              <a:rPr sz="2000" b="0">
                <a:solidFill>
                  <a:srgbClr val="1F2937"/>
                </a:solidFill>
                <a:latin typeface="Hiragino Kaku Gothic ProN"/>
              </a:rPr>
              <a:t>・ 次週から 6F で「残不足患者日/月」を運用 KPI にする。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iragino Kaku Gothic ProN"/>
              </a:rPr>
              <a:t>📌 残したい行動: 次週から 6F で「残不足患者日/月」を運用 KPI にする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