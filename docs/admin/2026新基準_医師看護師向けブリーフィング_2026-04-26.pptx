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86" r:id="rId2"/>
    <p:sldId id="287" r:id="rId3"/>
    <p:sldId id="310" r:id="rId4"/>
    <p:sldId id="289" r:id="rId5"/>
    <p:sldId id="290" r:id="rId6"/>
    <p:sldId id="291" r:id="rId7"/>
    <p:sldId id="311" r:id="rId8"/>
    <p:sldId id="312" r:id="rId9"/>
    <p:sldId id="313" r:id="rId10"/>
    <p:sldId id="314" r:id="rId11"/>
    <p:sldId id="315" r:id="rId12"/>
    <p:sldId id="316" r:id="rId13"/>
    <p:sldId id="318" r:id="rId14"/>
    <p:sldId id="32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27945"/>
  </p:normalViewPr>
  <p:slideViewPr>
    <p:cSldViewPr snapToGrid="0" snapToObjects="1">
      <p:cViewPr varScale="1">
        <p:scale>
          <a:sx n="16" d="100"/>
          <a:sy n="16" d="100"/>
        </p:scale>
        <p:origin x="4800" y="4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164932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dirty="0"/>
              <a:t>【導入 — 倫理ラインの固定】</a:t>
            </a:r>
          </a:p>
          <a:p>
            <a:r>
              <a:rPr lang="ja-JP" dirty="0"/>
              <a:t>本日は「2026年度 看護必要度 新基準」について、医師・看護師の皆さんに知っていただきたいポイントをお伝えします。</a:t>
            </a:r>
          </a:p>
          <a:p>
            <a:endParaRPr lang="ja-JP" dirty="0"/>
          </a:p>
          <a:p>
            <a:r>
              <a:rPr lang="ja-JP" dirty="0"/>
              <a:t>テーマは「制度を知り、私たちの医療を正当に評価につなげる」こと。</a:t>
            </a:r>
          </a:p>
          <a:p>
            <a:r>
              <a:rPr lang="ja-JP" dirty="0"/>
              <a:t>冒頭で明確にしておきたいのは、この資料は不必要な処置の追加や虚偽記載を勧めるものではないということです。</a:t>
            </a:r>
          </a:p>
          <a:p>
            <a:r>
              <a:rPr lang="ja-JP" dirty="0"/>
              <a:t>目的は2つ。</a:t>
            </a:r>
          </a:p>
          <a:p>
            <a:r>
              <a:rPr lang="ja-JP" dirty="0"/>
              <a:t>① 医学的に適切な医療を正しく記録し、制度評価と同期させること</a:t>
            </a:r>
          </a:p>
          <a:p>
            <a:r>
              <a:rPr lang="ja-JP" dirty="0"/>
              <a:t>② 必要度の仕組みを理解し、日常業務のなかで拾い漏れを減らすこと</a:t>
            </a:r>
          </a:p>
          <a:p>
            <a:endParaRPr lang="ja-JP" dirty="0"/>
          </a:p>
          <a:p>
            <a:r>
              <a:rPr lang="ja-JP" dirty="0"/>
              <a:t>「何か新しいことをやってください」というお願いではありません。今やっている医療を適切に記録に反映させましょう、というお話です。</a:t>
            </a:r>
          </a:p>
          <a:p>
            <a:endParaRPr lang="ja-JP" dirty="0"/>
          </a:p>
          <a:p>
            <a:r>
              <a:rPr lang="ja-JP" dirty="0"/>
              <a:t>【聴衆に残したい行動】</a:t>
            </a:r>
          </a:p>
          <a:p>
            <a:r>
              <a:rPr lang="ja-JP" dirty="0"/>
              <a:t>数字目的の処置追加ではない、という前提で全員が話を聞く姿勢をつくる。</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dirty="0"/>
              <a:t>【「患者日」の概念を定着させる】</a:t>
            </a:r>
          </a:p>
          <a:p>
            <a:r>
              <a:rPr lang="ja-JP" dirty="0"/>
              <a:t>まず基本の単位を押さえましょう。「1患者日」とは、1人の患者さんの1日分の入院のことです。</a:t>
            </a:r>
          </a:p>
          <a:p>
            <a:r>
              <a:rPr lang="ja-JP" dirty="0"/>
              <a:t>たとえば3人の患者が5日入院すれば、合計15患者日になります。</a:t>
            </a:r>
          </a:p>
          <a:p>
            <a:endParaRPr lang="ja-JP" dirty="0"/>
          </a:p>
          <a:p>
            <a:r>
              <a:rPr lang="ja-JP" dirty="0"/>
              <a:t>必要度IIは「該当患者日 ÷ 全患者日」で計算されます。</a:t>
            </a:r>
          </a:p>
          <a:p>
            <a:r>
              <a:rPr lang="ja-JP" dirty="0"/>
              <a:t>地域包括医療病棟入院料1の基準は、この割合が18%以上であること。</a:t>
            </a:r>
          </a:p>
          <a:p>
            <a:endParaRPr lang="ja-JP" dirty="0"/>
          </a:p>
          <a:p>
            <a:r>
              <a:rPr lang="ja-JP" dirty="0"/>
              <a:t>6Fの現状を見ると…</a:t>
            </a:r>
          </a:p>
          <a:p>
            <a:r>
              <a:rPr lang="ja-JP" dirty="0"/>
              <a:t>・目標: 18%以上</a:t>
            </a:r>
          </a:p>
          <a:p>
            <a:r>
              <a:rPr lang="ja-JP" dirty="0"/>
              <a:t>・現状: 9.17%（約半分）</a:t>
            </a:r>
          </a:p>
          <a:p>
            <a:r>
              <a:rPr lang="ja-JP" dirty="0"/>
              <a:t>・不足: 月あたり約99患者日</a:t>
            </a:r>
          </a:p>
          <a:p>
            <a:endParaRPr lang="ja-JP" dirty="0"/>
          </a:p>
          <a:p>
            <a:r>
              <a:rPr lang="ja-JP" dirty="0"/>
              <a:t>つまり、毎月99患者日分の「拾い漏れ」を埋めれば基準を達成できる計算です。</a:t>
            </a:r>
          </a:p>
          <a:p>
            <a:r>
              <a:rPr lang="ja-JP" dirty="0"/>
              <a:t>記録の残し方を工夫するだけで、新たな医療行為を追加する必要はありません。</a:t>
            </a:r>
          </a:p>
          <a:p>
            <a:endParaRPr lang="ja-JP" dirty="0"/>
          </a:p>
          <a:p>
            <a:r>
              <a:rPr lang="ja-JP" dirty="0"/>
              <a:t>【聴衆に残したい行動】</a:t>
            </a:r>
          </a:p>
          <a:p>
            <a:r>
              <a:rPr lang="ja-JP" dirty="0"/>
              <a:t>「患者日」という単位を理解し、分子を増やす＝拾い漏れを減らす、と認識する。</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dirty="0"/>
              <a:t>【評価票の全体像を見せる】</a:t>
            </a:r>
          </a:p>
          <a:p>
            <a:r>
              <a:rPr lang="ja-JP" dirty="0"/>
              <a:t>これが地域包括医療病棟で使われる「重症度、医療・看護必要度」の評価票です。</a:t>
            </a:r>
          </a:p>
          <a:p>
            <a:r>
              <a:rPr lang="ja-JP" dirty="0"/>
              <a:t>画面に表示されている表をご覧ください。</a:t>
            </a:r>
          </a:p>
          <a:p>
            <a:endParaRPr lang="ja-JP" dirty="0"/>
          </a:p>
          <a:p>
            <a:r>
              <a:rPr lang="ja-JP" dirty="0"/>
              <a:t>重症患者の判定基準はシンプルです。</a:t>
            </a:r>
          </a:p>
          <a:p>
            <a:r>
              <a:rPr lang="ja-JP" dirty="0"/>
              <a:t>・A項目の合計が2点以上</a:t>
            </a:r>
          </a:p>
          <a:p>
            <a:r>
              <a:rPr lang="ja-JP" dirty="0"/>
              <a:t>・または C項目が1点以上</a:t>
            </a:r>
          </a:p>
          <a:p>
            <a:r>
              <a:rPr lang="ja-JP" dirty="0"/>
              <a:t>このどちらかを満たせば、その患者日は「該当」としてカウントされます。</a:t>
            </a:r>
          </a:p>
          <a:p>
            <a:endParaRPr lang="ja-JP" dirty="0"/>
          </a:p>
          <a:p>
            <a:r>
              <a:rPr lang="ja-JP" dirty="0"/>
              <a:t>重要なポイント: B項目（ADL評価）は毎日の評価義務はありますが、重症判定の基準には使われません。</a:t>
            </a:r>
          </a:p>
          <a:p>
            <a:r>
              <a:rPr lang="ja-JP" dirty="0"/>
              <a:t>これは7:1病棟では2024年度改定から、地域包括医療病棟では2026年度改定からの変更です。</a:t>
            </a:r>
          </a:p>
          <a:p>
            <a:endParaRPr lang="ja-JP" dirty="0"/>
          </a:p>
          <a:p>
            <a:r>
              <a:rPr lang="ja-JP" dirty="0"/>
              <a:t>つまり、私たちが集中すべきはA項目とC項目です。</a:t>
            </a:r>
          </a:p>
          <a:p>
            <a:r>
              <a:rPr lang="ja-JP" dirty="0"/>
              <a:t>A項目は日々の処置・投薬、C項目は手術・検査に紐づきます。</a:t>
            </a:r>
          </a:p>
          <a:p>
            <a:r>
              <a:rPr lang="ja-JP" dirty="0"/>
              <a:t>次のスライドから、具体的にどの項目がどう点数になるかを見ていきます。</a:t>
            </a:r>
          </a:p>
          <a:p>
            <a:endParaRPr lang="ja-JP" dirty="0"/>
          </a:p>
          <a:p>
            <a:r>
              <a:rPr lang="ja-JP" dirty="0"/>
              <a:t>【聴衆に残したい行動】</a:t>
            </a:r>
          </a:p>
          <a:p>
            <a:r>
              <a:rPr lang="ja-JP" dirty="0"/>
              <a:t>判定基準は「A2点以上 or C1点以上」の2パターンだけ、と覚える。B項目は判定に使わない。</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dirty="0"/>
              <a:t>【記録が数字になる流れ】</a:t>
            </a:r>
          </a:p>
          <a:p>
            <a:r>
              <a:rPr lang="ja-JP" dirty="0"/>
              <a:t>看護必要度は「重い患者さんを診ている」ことを数字で証明する指標です。</a:t>
            </a:r>
          </a:p>
          <a:p>
            <a:r>
              <a:rPr lang="ja-JP" dirty="0"/>
              <a:t>大事なのは、やった医療が記録とコードにつながって初めて数字になるということ。</a:t>
            </a:r>
          </a:p>
          <a:p>
            <a:endParaRPr lang="ja-JP" dirty="0"/>
          </a:p>
          <a:p>
            <a:r>
              <a:rPr lang="ja-JP" dirty="0"/>
              <a:t>流れは「患者 → 医師指示 → 看護記録 → 医事コード → 必要度」です。</a:t>
            </a:r>
          </a:p>
          <a:p>
            <a:r>
              <a:rPr lang="ja-JP" dirty="0"/>
              <a:t>忙しい病棟だから自動的に数字が上がるわけではありません。</a:t>
            </a:r>
          </a:p>
          <a:p>
            <a:r>
              <a:rPr lang="ja-JP" dirty="0"/>
              <a:t>適切な指示・記録・コーディングの連携があって初めて、実態が数字に反映されます。</a:t>
            </a:r>
          </a:p>
          <a:p>
            <a:endParaRPr lang="ja-JP" dirty="0"/>
          </a:p>
          <a:p>
            <a:r>
              <a:rPr lang="ja-JP" dirty="0"/>
              <a:t>たとえば、実際に注射薬を3種類投与していても、医事課が2種類しかコードを取っていなければA3はつきません。</a:t>
            </a:r>
          </a:p>
          <a:p>
            <a:r>
              <a:rPr lang="ja-JP" dirty="0"/>
              <a:t>逆に、記録に残っていなければ投与した事実すら把握できません。</a:t>
            </a:r>
          </a:p>
          <a:p>
            <a:endParaRPr lang="ja-JP" dirty="0"/>
          </a:p>
          <a:p>
            <a:r>
              <a:rPr lang="ja-JP" dirty="0"/>
              <a:t>医師の指示出し、看護師の記録、医事課のコーディング。この3者の連携が必要度を決めます。</a:t>
            </a:r>
          </a:p>
          <a:p>
            <a:endParaRPr lang="ja-JP" dirty="0"/>
          </a:p>
          <a:p>
            <a:r>
              <a:rPr lang="ja-JP" dirty="0"/>
              <a:t>【聴衆に残したい行動】</a:t>
            </a:r>
          </a:p>
          <a:p>
            <a:r>
              <a:rPr lang="ja-JP" dirty="0"/>
              <a:t>「やった医療が自動的に数字になるわけではない」という認識を持つ。記録とコードの両方が必要。</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dirty="0"/>
              <a:t>【6Fの戦略 — 分子を増やす】</a:t>
            </a:r>
          </a:p>
          <a:p>
            <a:r>
              <a:rPr lang="ja-JP" dirty="0"/>
              <a:t>6Fでは入院数を減らさずに、分子（該当患者日）を増やすアプローチを取ります。</a:t>
            </a:r>
          </a:p>
          <a:p>
            <a:endParaRPr lang="ja-JP" dirty="0"/>
          </a:p>
          <a:p>
            <a:r>
              <a:rPr lang="ja-JP" dirty="0"/>
              <a:t>まず前提を共有します。</a:t>
            </a:r>
          </a:p>
          <a:p>
            <a:r>
              <a:rPr lang="ja-JP" dirty="0"/>
              <a:t>・稼働率を維持するため、非該当日を持つ長期入院患者で病床を支えている現実があります</a:t>
            </a:r>
          </a:p>
          <a:p>
            <a:r>
              <a:rPr lang="ja-JP" dirty="0"/>
              <a:t>・ですから「分母を減らせ＝入院を減らせ」という提案ではありません</a:t>
            </a:r>
          </a:p>
          <a:p>
            <a:endParaRPr lang="ja-JP" dirty="0"/>
          </a:p>
          <a:p>
            <a:r>
              <a:rPr lang="ja-JP" dirty="0"/>
              <a:t>あくまで「拾い漏れを減らす運用改善」です。</a:t>
            </a:r>
          </a:p>
          <a:p>
            <a:r>
              <a:rPr lang="ja-JP" dirty="0"/>
              <a:t>今やっている医療の中で、基準に該当しているのに記録に反映されていないものを拾い上げていきましょう。</a:t>
            </a:r>
          </a:p>
          <a:p>
            <a:endParaRPr lang="ja-JP" dirty="0"/>
          </a:p>
          <a:p>
            <a:r>
              <a:rPr lang="ja-JP" dirty="0"/>
              <a:t>具体的には…</a:t>
            </a:r>
          </a:p>
          <a:p>
            <a:r>
              <a:rPr lang="ja-JP" dirty="0"/>
              <a:t>・注射薬剤の種類が3種類以上なのにA3がついていないケース</a:t>
            </a:r>
          </a:p>
          <a:p>
            <a:r>
              <a:rPr lang="ja-JP" dirty="0"/>
              <a:t>・C項目に該当する検査・処置があるのにコードが取れていないケース</a:t>
            </a:r>
          </a:p>
          <a:p>
            <a:r>
              <a:rPr lang="ja-JP" dirty="0"/>
              <a:t>・ペイン科の薬剤がA6に該当するのに記録が残っていないケース</a:t>
            </a:r>
          </a:p>
          <a:p>
            <a:r>
              <a:rPr lang="ja-JP" dirty="0"/>
              <a:t>こうした拾い漏れを1つずつ潰していくことが、分子を増やす最短の方法です。</a:t>
            </a:r>
          </a:p>
          <a:p>
            <a:endParaRPr lang="ja-JP" dirty="0"/>
          </a:p>
          <a:p>
            <a:r>
              <a:rPr lang="ja-JP" dirty="0"/>
              <a:t>【聴衆に残したい行動】</a:t>
            </a:r>
          </a:p>
          <a:p>
            <a:r>
              <a:rPr lang="ja-JP" dirty="0"/>
              <a:t>「入院を減らすのではなく、拾い漏れを減らす」という戦略を理解する。</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dirty="0"/>
              <a:t>【6Fの入院ボリューム】</a:t>
            </a:r>
          </a:p>
          <a:p>
            <a:r>
              <a:rPr lang="ja-JP" dirty="0"/>
              <a:t>6Fは月75〜80件の入院を維持する病棟です。</a:t>
            </a:r>
          </a:p>
          <a:p>
            <a:r>
              <a:rPr lang="ja-JP" dirty="0"/>
              <a:t>過去1年の実績: 入院930件/年、平均77.5件/月、レンジは70〜85件/月。</a:t>
            </a:r>
          </a:p>
          <a:p>
            <a:endParaRPr lang="ja-JP" dirty="0"/>
          </a:p>
          <a:p>
            <a:r>
              <a:rPr lang="ja-JP" dirty="0"/>
              <a:t>この入院ボリュームを維持したまま、100患者日/月を取り戻すのが目標です。</a:t>
            </a:r>
          </a:p>
          <a:p>
            <a:r>
              <a:rPr lang="ja-JP" dirty="0"/>
              <a:t>新しい入院を増やすのではなく、今の入院の中で拾い漏れている該当患者日を回収する。</a:t>
            </a:r>
          </a:p>
          <a:p>
            <a:endParaRPr lang="ja-JP" dirty="0"/>
          </a:p>
          <a:p>
            <a:r>
              <a:rPr lang="ja-JP" dirty="0"/>
              <a:t>930件/年 = 1日あたり平均2.5件の入院。この2.5件の中から該当日を最大化するのがポイントです。</a:t>
            </a:r>
          </a:p>
          <a:p>
            <a:r>
              <a:rPr lang="ja-JP" dirty="0"/>
              <a:t>1件あたりの入院で何日間A2点以上またはC1点以上を維持できるか、が鍵になります。</a:t>
            </a:r>
          </a:p>
          <a:p>
            <a:endParaRPr lang="ja-JP" dirty="0"/>
          </a:p>
          <a:p>
            <a:r>
              <a:rPr lang="ja-JP" dirty="0"/>
              <a:t>【聴衆に残したい行動】</a:t>
            </a:r>
          </a:p>
          <a:p>
            <a:r>
              <a:rPr lang="ja-JP" dirty="0"/>
              <a:t>入院数は十分ある。問題は「入院あたりの該当日数」だと認識する。</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dirty="0"/>
              <a:t>【肺炎・心不全・COPD増悪 — 内科コモンディジーズの攻略】</a:t>
            </a:r>
          </a:p>
          <a:p>
            <a:r>
              <a:rPr lang="ja-JP" dirty="0"/>
              <a:t>内科の入院で最も多い肺炎・心不全・COPD増悪は、A項目の組み合わせで確実に該当日を稼げます。</a:t>
            </a:r>
          </a:p>
          <a:p>
            <a:endParaRPr lang="ja-JP" dirty="0"/>
          </a:p>
          <a:p>
            <a:r>
              <a:rPr lang="ja-JP" dirty="0"/>
              <a:t>典型的なパターン:</a:t>
            </a:r>
          </a:p>
          <a:p>
            <a:r>
              <a:rPr lang="ja-JP" dirty="0"/>
              <a:t>・酸素療法 = A2（1点）</a:t>
            </a:r>
          </a:p>
          <a:p>
            <a:r>
              <a:rPr lang="ja-JP" dirty="0"/>
              <a:t>・注射薬剤3種類以上 = A3（1点）</a:t>
            </a:r>
          </a:p>
          <a:p>
            <a:r>
              <a:rPr lang="ja-JP" dirty="0"/>
              <a:t>・A合計2点 → 該当!</a:t>
            </a:r>
          </a:p>
          <a:p>
            <a:endParaRPr lang="ja-JP" dirty="0"/>
          </a:p>
          <a:p>
            <a:r>
              <a:rPr lang="ja-JP" dirty="0"/>
              <a:t>入院Day1〜Day2は救急搬入の加算でA7（2点）がつきます。</a:t>
            </a:r>
          </a:p>
          <a:p>
            <a:r>
              <a:rPr lang="ja-JP" dirty="0"/>
              <a:t>Day3以降はA7が落ちるので、A2+A3の2点で該当を維持するのがポイントです。</a:t>
            </a:r>
          </a:p>
          <a:p>
            <a:endParaRPr lang="ja-JP" dirty="0"/>
          </a:p>
          <a:p>
            <a:r>
              <a:rPr lang="ja-JP" dirty="0"/>
              <a:t>たとえば肺炎の場合:</a:t>
            </a:r>
          </a:p>
          <a:p>
            <a:r>
              <a:rPr lang="ja-JP" dirty="0"/>
              <a:t>・酸素カヌラ2L = A2</a:t>
            </a:r>
          </a:p>
          <a:p>
            <a:r>
              <a:rPr lang="ja-JP" dirty="0"/>
              <a:t>・抗菌薬A + 抗菌薬B + アセトアミノフェン注 = A3</a:t>
            </a:r>
          </a:p>
          <a:p>
            <a:r>
              <a:rPr lang="ja-JP" dirty="0"/>
              <a:t>・これでA合計2点を毎日維持できます</a:t>
            </a:r>
          </a:p>
          <a:p>
            <a:endParaRPr lang="ja-JP" dirty="0"/>
          </a:p>
          <a:p>
            <a:r>
              <a:rPr lang="ja-JP" dirty="0"/>
              <a:t>心不全なら利尿薬注射 + 降圧薬 + カリウム製剤で3種類になることも。</a:t>
            </a:r>
          </a:p>
          <a:p>
            <a:r>
              <a:rPr lang="ja-JP" dirty="0"/>
              <a:t>医師の処方時に「注射薬剤が今何種類あるか」を意識するだけで、拾い漏れが減ります。</a:t>
            </a:r>
          </a:p>
          <a:p>
            <a:endParaRPr lang="ja-JP" dirty="0"/>
          </a:p>
          <a:p>
            <a:r>
              <a:rPr lang="ja-JP" dirty="0"/>
              <a:t>【聴衆に残したい行動】</a:t>
            </a:r>
          </a:p>
          <a:p>
            <a:r>
              <a:rPr lang="ja-JP" dirty="0"/>
              <a:t>内科コモンディジーズでA2+A3の組み合わせを意識する。Day3以降のA維持を計画する。</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dirty="0"/>
              <a:t>【敗血症・ショック — A6の3点項目】</a:t>
            </a:r>
          </a:p>
          <a:p>
            <a:r>
              <a:rPr lang="ja-JP" dirty="0"/>
              <a:t>敗血症やショック状態の患者は、A6「専門的な治療・処置」で一気に3点がつきます。</a:t>
            </a:r>
          </a:p>
          <a:p>
            <a:r>
              <a:rPr lang="ja-JP" dirty="0"/>
              <a:t>A6だけで判定基準のA2点以上を楽に超えるので、漏れなく記録することが重要です。</a:t>
            </a:r>
          </a:p>
          <a:p>
            <a:endParaRPr lang="ja-JP" dirty="0"/>
          </a:p>
          <a:p>
            <a:r>
              <a:rPr lang="ja-JP" dirty="0"/>
              <a:t>A6に該当する薬剤・処置:</a:t>
            </a:r>
          </a:p>
          <a:p>
            <a:r>
              <a:rPr lang="ja-JP" dirty="0"/>
              <a:t>・昇圧薬の持続点滴（ノルアドレナリン、ドパミンなど）</a:t>
            </a:r>
          </a:p>
          <a:p>
            <a:r>
              <a:rPr lang="ja-JP" dirty="0"/>
              <a:t>・麻薬の注射（フェンタニル、モルヒネ注射剤）</a:t>
            </a:r>
          </a:p>
          <a:p>
            <a:r>
              <a:rPr lang="ja-JP" dirty="0"/>
              <a:t>・抗不整脈薬の持続点滴（アミオダロン、リドカインなど）</a:t>
            </a:r>
          </a:p>
          <a:p>
            <a:r>
              <a:rPr lang="ja-JP" dirty="0"/>
              <a:t>・抗血栓薬の持続点滴（ヘパリン持続静注など）</a:t>
            </a:r>
          </a:p>
          <a:p>
            <a:endParaRPr lang="ja-JP" dirty="0"/>
          </a:p>
          <a:p>
            <a:r>
              <a:rPr lang="ja-JP" dirty="0"/>
              <a:t>注意点が2つ:</a:t>
            </a:r>
          </a:p>
          <a:p>
            <a:r>
              <a:rPr lang="ja-JP" dirty="0"/>
              <a:t>① 注射剤のみ。内服薬は対象外です。フェンタニルパッチは該当しません。</a:t>
            </a:r>
          </a:p>
          <a:p>
            <a:r>
              <a:rPr lang="ja-JP" dirty="0"/>
              <a:t>② 持続点滴が必須。単回静注やボーラス投与は該当しません。</a:t>
            </a:r>
          </a:p>
          <a:p>
            <a:endParaRPr lang="ja-JP" dirty="0"/>
          </a:p>
          <a:p>
            <a:r>
              <a:rPr lang="ja-JP" dirty="0"/>
              <a:t>敗血症の患者にノルアドレナリンを持続点滴していれば、それだけでA6の3点。</a:t>
            </a:r>
          </a:p>
          <a:p>
            <a:r>
              <a:rPr lang="ja-JP" dirty="0"/>
              <a:t>同時に抗菌薬等があればA3も加算され、非常に高い点数になります。</a:t>
            </a:r>
          </a:p>
          <a:p>
            <a:endParaRPr lang="ja-JP" dirty="0"/>
          </a:p>
          <a:p>
            <a:r>
              <a:rPr lang="ja-JP" dirty="0"/>
              <a:t>【聴衆に残したい行動】</a:t>
            </a:r>
          </a:p>
          <a:p>
            <a:r>
              <a:rPr lang="ja-JP" dirty="0"/>
              <a:t>A6は3点項目。昇圧薬・麻薬注射・抗不整脈薬・抗血栓薬の持続点滴を確実に記録する。</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dirty="0"/>
              <a:t>【C項目 — 内科処置・検査で該当日を稼ぐ】</a:t>
            </a:r>
          </a:p>
          <a:p>
            <a:r>
              <a:rPr lang="ja-JP" dirty="0"/>
              <a:t>C項目は手術や特定の処置・検査に紐づく項目で、1点以上あれば即「該当」です。</a:t>
            </a:r>
          </a:p>
          <a:p>
            <a:r>
              <a:rPr lang="ja-JP" dirty="0"/>
              <a:t>A項目と違って2点も3点も必要なく、C1点だけで判定基準を満たします。</a:t>
            </a:r>
          </a:p>
          <a:p>
            <a:endParaRPr lang="ja-JP" dirty="0"/>
          </a:p>
          <a:p>
            <a:r>
              <a:rPr lang="ja-JP" dirty="0"/>
              <a:t>内科に関連する主なC項目と有効日数:</a:t>
            </a:r>
          </a:p>
          <a:p>
            <a:r>
              <a:rPr lang="ja-JP" dirty="0"/>
              <a:t>・C22（救命等に係る内科的治療）= 手術日を含めて2日間</a:t>
            </a:r>
          </a:p>
          <a:p>
            <a:r>
              <a:rPr lang="ja-JP" dirty="0"/>
              <a:t>  例: 経皮的冠動脈インターベンション（PCI）、t-PA静注療法</a:t>
            </a:r>
          </a:p>
          <a:p>
            <a:r>
              <a:rPr lang="ja-JP" dirty="0"/>
              <a:t>・C21（別に定める検査）= 検査日を含めて4日間</a:t>
            </a:r>
          </a:p>
          <a:p>
            <a:r>
              <a:rPr lang="ja-JP" dirty="0"/>
              <a:t>  例: 心臓カテーテル検査、内視鏡下手術用ロボット支援手術</a:t>
            </a:r>
          </a:p>
          <a:p>
            <a:r>
              <a:rPr lang="ja-JP" dirty="0"/>
              <a:t>・C23（別に定める手術）= 手術日を含めて5日間</a:t>
            </a:r>
          </a:p>
          <a:p>
            <a:r>
              <a:rPr lang="ja-JP" dirty="0"/>
              <a:t>  例: 内視鏡的消化管止血術、胸腔鏡下手術</a:t>
            </a:r>
          </a:p>
          <a:p>
            <a:endParaRPr lang="ja-JP" dirty="0"/>
          </a:p>
          <a:p>
            <a:r>
              <a:rPr lang="ja-JP" dirty="0"/>
              <a:t>ポイント: C項目は医事コードとの紐づけで自動判定される部分が大きいため、コーディング漏れが直接的な損失につながります。</a:t>
            </a:r>
          </a:p>
          <a:p>
            <a:r>
              <a:rPr lang="ja-JP" dirty="0"/>
              <a:t>医師側で「この処置はC項目に該当する」と意識していれば、医事課への情報連携がスムーズになります。</a:t>
            </a:r>
          </a:p>
          <a:p>
            <a:endParaRPr lang="ja-JP" dirty="0"/>
          </a:p>
          <a:p>
            <a:r>
              <a:rPr lang="ja-JP" dirty="0"/>
              <a:t>【聴衆に残したい行動】</a:t>
            </a:r>
          </a:p>
          <a:p>
            <a:r>
              <a:rPr lang="ja-JP" dirty="0"/>
              <a:t>C項目は1点で該当。対象となる検査・処置を把握し、コーディング漏れを防ぐ。</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dirty="0"/>
              <a:t>【ペイン科 — 記録を残すだけで改善余地あり】</a:t>
            </a:r>
          </a:p>
          <a:p>
            <a:r>
              <a:rPr lang="ja-JP" dirty="0"/>
              <a:t>ペイン科の患者さんは在院日数が長い傾向にあり、稼働率を支える重要な存在です。</a:t>
            </a:r>
          </a:p>
          <a:p>
            <a:r>
              <a:rPr lang="ja-JP" dirty="0"/>
              <a:t>しかし、必要度の観点では「非該当日」が多く、分母を膨らませる要因にもなっています。</a:t>
            </a:r>
          </a:p>
          <a:p>
            <a:endParaRPr lang="ja-JP" dirty="0"/>
          </a:p>
          <a:p>
            <a:r>
              <a:rPr lang="ja-JP" dirty="0"/>
              <a:t>ここでの改善ポイントはシンプルです。</a:t>
            </a:r>
          </a:p>
          <a:p>
            <a:r>
              <a:rPr lang="ja-JP" dirty="0"/>
              <a:t>ペイン科で使用される薬剤の中に、A6に該当するものがないか照合するだけです。</a:t>
            </a:r>
          </a:p>
          <a:p>
            <a:endParaRPr lang="ja-JP" dirty="0"/>
          </a:p>
          <a:p>
            <a:r>
              <a:rPr lang="ja-JP" dirty="0"/>
              <a:t>具体的には:</a:t>
            </a:r>
          </a:p>
          <a:p>
            <a:r>
              <a:rPr lang="ja-JP" dirty="0"/>
              <a:t>・麻薬の注射（フェンタニル注、モルヒネ注など）= A6候補</a:t>
            </a:r>
          </a:p>
          <a:p>
            <a:r>
              <a:rPr lang="ja-JP" dirty="0"/>
              <a:t>・神経ブロックに使う薬剤も、注射剤であれば種類数に加算</a:t>
            </a:r>
          </a:p>
          <a:p>
            <a:endParaRPr lang="ja-JP" dirty="0"/>
          </a:p>
          <a:p>
            <a:r>
              <a:rPr lang="ja-JP" dirty="0"/>
              <a:t>必要なのは3つの情報を記録に残すこと:</a:t>
            </a:r>
          </a:p>
          <a:p>
            <a:r>
              <a:rPr lang="ja-JP" dirty="0"/>
              <a:t>① 薬剤名</a:t>
            </a:r>
          </a:p>
          <a:p>
            <a:r>
              <a:rPr lang="ja-JP" dirty="0"/>
              <a:t>② 使用目的</a:t>
            </a:r>
          </a:p>
          <a:p>
            <a:r>
              <a:rPr lang="ja-JP" dirty="0"/>
              <a:t>③ 投与日</a:t>
            </a:r>
          </a:p>
          <a:p>
            <a:endParaRPr lang="ja-JP" dirty="0"/>
          </a:p>
          <a:p>
            <a:r>
              <a:rPr lang="ja-JP" dirty="0"/>
              <a:t>これだけでA6の3点がつく可能性があります。</a:t>
            </a:r>
          </a:p>
          <a:p>
            <a:r>
              <a:rPr lang="ja-JP" dirty="0"/>
              <a:t>在院日数が長い患者さんほど、1日でも該当日を増やすインパクトが大きい。</a:t>
            </a:r>
          </a:p>
          <a:p>
            <a:r>
              <a:rPr lang="ja-JP" dirty="0"/>
              <a:t>ペイン科の先生方と連携し、使用薬剤リストを定期的に照合しましょう。</a:t>
            </a:r>
          </a:p>
          <a:p>
            <a:endParaRPr lang="ja-JP" dirty="0"/>
          </a:p>
          <a:p>
            <a:r>
              <a:rPr lang="ja-JP" dirty="0"/>
              <a:t>【聴衆に残したい行動】</a:t>
            </a:r>
          </a:p>
          <a:p>
            <a:r>
              <a:rPr lang="ja-JP" dirty="0"/>
              <a:t>ペイン科の薬剤名・目的・投与日を記録に残す。A6候補として照合する仕組みをつくる。</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dirty="0"/>
              <a:t>【A7は入院初期2日間だけ — 3日目からの戦略】</a:t>
            </a:r>
          </a:p>
          <a:p>
            <a:r>
              <a:rPr lang="ja-JP" dirty="0"/>
              <a:t>A7「救急搬送後の入院」は2点がつきますが、入院日と翌日の2日間限定です。</a:t>
            </a:r>
          </a:p>
          <a:p>
            <a:r>
              <a:rPr lang="ja-JP" dirty="0"/>
              <a:t>3日目からはA7が落ちるため、この2日間に安心していると該当日がゼロになります。</a:t>
            </a:r>
          </a:p>
          <a:p>
            <a:endParaRPr lang="ja-JP" dirty="0"/>
          </a:p>
          <a:p>
            <a:r>
              <a:rPr lang="ja-JP" dirty="0"/>
              <a:t>Day1-2: A7（2点）で自動的に該当</a:t>
            </a:r>
          </a:p>
          <a:p>
            <a:r>
              <a:rPr lang="ja-JP" dirty="0"/>
              <a:t>Day3以降: A7消失。ここからA2+A3やA6、またはC項目で該当を維持する必要があります。</a:t>
            </a:r>
          </a:p>
          <a:p>
            <a:endParaRPr lang="ja-JP" dirty="0"/>
          </a:p>
          <a:p>
            <a:r>
              <a:rPr lang="ja-JP" dirty="0"/>
              <a:t>つまり、入院時から「Day3以降に何で該当を維持するか」を計画しておくことが重要です。</a:t>
            </a:r>
          </a:p>
          <a:p>
            <a:endParaRPr lang="ja-JP" dirty="0"/>
          </a:p>
          <a:p>
            <a:r>
              <a:rPr lang="ja-JP" dirty="0"/>
              <a:t>具体的なアクション:</a:t>
            </a:r>
          </a:p>
          <a:p>
            <a:r>
              <a:rPr lang="ja-JP" dirty="0"/>
              <a:t>・入院時に「この患者はDay3以降A/Cのどれで維持できるか」を確認</a:t>
            </a:r>
          </a:p>
          <a:p>
            <a:r>
              <a:rPr lang="ja-JP" dirty="0"/>
              <a:t>・注射薬剤3種類以上が続くなら、A3で維持</a:t>
            </a:r>
          </a:p>
          <a:p>
            <a:r>
              <a:rPr lang="ja-JP" dirty="0"/>
              <a:t>・処置・検査が予定されているなら、C項目の有効日数を確認</a:t>
            </a:r>
          </a:p>
          <a:p>
            <a:r>
              <a:rPr lang="ja-JP" dirty="0"/>
              <a:t>・どちらもない場合は、拾える項目がないか再チェック</a:t>
            </a:r>
          </a:p>
          <a:p>
            <a:endParaRPr lang="ja-JP" dirty="0"/>
          </a:p>
          <a:p>
            <a:r>
              <a:rPr lang="ja-JP" dirty="0"/>
              <a:t>A7の2日間は「ボーナス期間」。本当の勝負はDay3からです。</a:t>
            </a:r>
          </a:p>
          <a:p>
            <a:endParaRPr lang="ja-JP" dirty="0"/>
          </a:p>
          <a:p>
            <a:r>
              <a:rPr lang="ja-JP" dirty="0"/>
              <a:t>【聴衆に残したい行動】</a:t>
            </a:r>
          </a:p>
          <a:p>
            <a:r>
              <a:rPr lang="ja-JP" dirty="0"/>
              <a:t>入院時に「Day3以降のA/C維持プラン」を意識する。A7が切れる前に次の手を打つ。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dirty="0"/>
              <a:t>【明日から変えるのは3つだけ】</a:t>
            </a:r>
          </a:p>
          <a:p>
            <a:r>
              <a:rPr lang="ja-JP" dirty="0"/>
              <a:t>ここまで多くの項目を説明しましたが、現場で明日から変えていただきたいことは3つだけです。</a:t>
            </a:r>
          </a:p>
          <a:p>
            <a:endParaRPr lang="ja-JP" dirty="0"/>
          </a:p>
          <a:p>
            <a:r>
              <a:rPr lang="ja-JP" dirty="0"/>
              <a:t>① 入院時30秒チェック</a:t>
            </a:r>
          </a:p>
          <a:p>
            <a:r>
              <a:rPr lang="ja-JP" dirty="0"/>
              <a:t>入院時に「この患者は必要度のどの項目に該当しそうか」を30秒で確認する習慣をつけましょう。</a:t>
            </a:r>
          </a:p>
          <a:p>
            <a:r>
              <a:rPr lang="ja-JP" dirty="0"/>
              <a:t>A項目（注射薬剤の種類、酸素療法、専門治療）とC項目（対象検査・手術）をざっと見るだけです。</a:t>
            </a:r>
          </a:p>
          <a:p>
            <a:r>
              <a:rPr lang="ja-JP" dirty="0"/>
              <a:t>入院時に意識するだけで、その後の記録精度が格段に上がります。</a:t>
            </a:r>
          </a:p>
          <a:p>
            <a:endParaRPr lang="ja-JP" dirty="0"/>
          </a:p>
          <a:p>
            <a:r>
              <a:rPr lang="ja-JP" dirty="0"/>
              <a:t>② 朝ラウンドで即答できる準備</a:t>
            </a:r>
          </a:p>
          <a:p>
            <a:r>
              <a:rPr lang="ja-JP" dirty="0"/>
              <a:t>朝のラウンドで「この患者は今日何点か」と聞かれたとき、即答できる状態を目指しましょう。</a:t>
            </a:r>
          </a:p>
          <a:p>
            <a:r>
              <a:rPr lang="ja-JP" dirty="0"/>
              <a:t>前日の注射薬剤の種類、酸素の有無、C項目の残日数を把握しておく。</a:t>
            </a:r>
          </a:p>
          <a:p>
            <a:r>
              <a:rPr lang="ja-JP" dirty="0"/>
              <a:t>看護師さんは朝の情報収集に30秒追加するだけで十分です。</a:t>
            </a:r>
          </a:p>
          <a:p>
            <a:endParaRPr lang="ja-JP" dirty="0"/>
          </a:p>
          <a:p>
            <a:r>
              <a:rPr lang="ja-JP" dirty="0"/>
              <a:t>③ 木曜6Fハドル（5〜10分）</a:t>
            </a:r>
          </a:p>
          <a:p>
            <a:r>
              <a:rPr lang="ja-JP" dirty="0"/>
              <a:t>毎週木曜日に6Fで短いハドル（立ちミーティング）を行います。</a:t>
            </a:r>
          </a:p>
          <a:p>
            <a:r>
              <a:rPr lang="ja-JP" dirty="0"/>
              <a:t>その週の拾い漏れ候補、翌週の入退院予定、注意すべき患者を共有します。</a:t>
            </a:r>
          </a:p>
          <a:p>
            <a:r>
              <a:rPr lang="ja-JP" dirty="0"/>
              <a:t>5〜10分で終わる短い打ち合わせです。</a:t>
            </a:r>
          </a:p>
          <a:p>
            <a:endParaRPr lang="ja-JP" dirty="0"/>
          </a:p>
          <a:p>
            <a:r>
              <a:rPr lang="ja-JP" dirty="0"/>
              <a:t>この3つだけで、月100患者日の改善の大部分をカバーできます。</a:t>
            </a:r>
          </a:p>
          <a:p>
            <a:endParaRPr lang="ja-JP" dirty="0"/>
          </a:p>
          <a:p>
            <a:r>
              <a:rPr lang="ja-JP" dirty="0"/>
              <a:t>【聴衆に残したい行動】</a:t>
            </a:r>
          </a:p>
          <a:p>
            <a:r>
              <a:rPr lang="ja-JP" dirty="0"/>
              <a:t>3つのアクションを覚えて帰る。入院時30秒、朝ラウンド即答、木曜ハドル。</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dirty="0"/>
              <a:t>【まとめ — 月100患者日は現実的】</a:t>
            </a:r>
          </a:p>
          <a:p>
            <a:r>
              <a:rPr lang="ja-JP" dirty="0"/>
              <a:t>最後に、今日お話しした内容を数字でまとめます。</a:t>
            </a:r>
          </a:p>
          <a:p>
            <a:endParaRPr lang="ja-JP" dirty="0"/>
          </a:p>
          <a:p>
            <a:r>
              <a:rPr lang="ja-JP" dirty="0"/>
              <a:t>月100患者日の内訳:</a:t>
            </a:r>
          </a:p>
          <a:p>
            <a:r>
              <a:rPr lang="ja-JP" dirty="0"/>
              <a:t>・記録精度の改善: +11患者日/月</a:t>
            </a:r>
          </a:p>
          <a:p>
            <a:r>
              <a:rPr lang="ja-JP" dirty="0"/>
              <a:t>  → A項目の拾い漏れを記録運用で回収</a:t>
            </a:r>
          </a:p>
          <a:p>
            <a:r>
              <a:rPr lang="ja-JP" dirty="0"/>
              <a:t>・内科コモンディジーズの適正評価: +40患者日/月</a:t>
            </a:r>
          </a:p>
          <a:p>
            <a:r>
              <a:rPr lang="ja-JP" dirty="0"/>
              <a:t>  → 肺炎・心不全・COPD増悪でA2+A3を確実に維持</a:t>
            </a:r>
          </a:p>
          <a:p>
            <a:r>
              <a:rPr lang="ja-JP" dirty="0"/>
              <a:t>・ペイン科薬剤の照合: +9患者日/月</a:t>
            </a:r>
          </a:p>
          <a:p>
            <a:r>
              <a:rPr lang="ja-JP" dirty="0"/>
              <a:t>  → A6候補の薬剤を記録に反映</a:t>
            </a:r>
          </a:p>
          <a:p>
            <a:r>
              <a:rPr lang="ja-JP" dirty="0"/>
              <a:t>・C項目のコーディング改善: +40患者日/月</a:t>
            </a:r>
          </a:p>
          <a:p>
            <a:r>
              <a:rPr lang="ja-JP" dirty="0"/>
              <a:t>  → 対象検査・処置のコード漏れを防止</a:t>
            </a:r>
          </a:p>
          <a:p>
            <a:r>
              <a:rPr lang="ja-JP" dirty="0"/>
              <a:t>合計: 11 + 40 + 9 + 40 = 100患者日/月</a:t>
            </a:r>
          </a:p>
          <a:p>
            <a:endParaRPr lang="ja-JP" dirty="0"/>
          </a:p>
          <a:p>
            <a:r>
              <a:rPr lang="ja-JP" dirty="0"/>
              <a:t>これは追加の医療行為ではなく、今やっていることを正しく記録に残すだけです。</a:t>
            </a:r>
          </a:p>
          <a:p>
            <a:r>
              <a:rPr lang="ja-JP" dirty="0"/>
              <a:t>医師と看護師が協力すれば、月100患者日の改善は十分に達成可能です。</a:t>
            </a:r>
          </a:p>
          <a:p>
            <a:endParaRPr lang="ja-JP" dirty="0"/>
          </a:p>
          <a:p>
            <a:r>
              <a:rPr lang="ja-JP" dirty="0"/>
              <a:t>KPIは「残不足患者日/月」です。</a:t>
            </a:r>
          </a:p>
          <a:p>
            <a:r>
              <a:rPr lang="ja-JP" dirty="0"/>
              <a:t>毎月この数字を追いかけ、改善の進捗を全員で確認していきましょう。</a:t>
            </a:r>
          </a:p>
          <a:p>
            <a:endParaRPr lang="ja-JP" dirty="0"/>
          </a:p>
          <a:p>
            <a:r>
              <a:rPr lang="ja-JP" dirty="0"/>
              <a:t>本日はお忙しい中ありがとうございました。</a:t>
            </a:r>
          </a:p>
          <a:p>
            <a:r>
              <a:rPr lang="ja-JP" dirty="0"/>
              <a:t>ご質問があればいつでもお声がけください。</a:t>
            </a:r>
          </a:p>
          <a:p>
            <a:endParaRPr lang="ja-JP" dirty="0"/>
          </a:p>
          <a:p>
            <a:r>
              <a:rPr lang="ja-JP" dirty="0"/>
              <a:t>【聴衆に残したい行動】</a:t>
            </a:r>
          </a:p>
          <a:p>
            <a:r>
              <a:rPr lang="ja-JP" dirty="0"/>
              <a:t>月100患者日は実現可能だと納得する。明日から3つのアクションを実践する。</a:t>
            </a:r>
          </a:p>
          <a:p>
            <a:r>
              <a:rPr lang="ja-JP" dirty="0"/>
              <a:t>残不足患者日/月をチームのKPIとして意識する。</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4400550"/>
            <a:ext cx="5486400" cy="3600450"/>
          </a:xfrm>
          <a:prstGeom prst="rect">
            <a:avLst/>
          </a:prstGeom>
        </p:spPr>
        <p:txBody>
          <a:bodyPr/>
          <a:lstStyle/>
          <a:p>
            <a:r>
              <a:rPr lang="ja-JP" altLang="en-US" dirty="0"/>
              <a:t>【スライド14:まとめ ― 全体の締めくくり】</a:t>
            </a:r>
          </a:p>
          <a:p>
            <a:endParaRPr lang="ja-JP" altLang="en-US" dirty="0"/>
          </a:p>
          <a:p>
            <a:r>
              <a:rPr lang="ja-JP" altLang="en-US" dirty="0"/>
              <a:t>■ このスライドの位置づけ</a:t>
            </a:r>
          </a:p>
          <a:p>
            <a:r>
              <a:rPr lang="ja-JP" altLang="en-US" dirty="0"/>
              <a:t>ここまで13枚で「制度の仕組み」「6F の現状(必要度II 9.17% / 目標18%、月99患者日不足)」「A項目・C項目の具体的な拾い方」「明日からの3アクション」「100患者日の内訳」を順に共有してきました。最後のスライド14は、それら全体を1段抽象化した「考え方の転換」を提示するまとめです。</a:t>
            </a:r>
          </a:p>
          <a:p>
            <a:endParaRPr lang="ja-JP" altLang="en-US" dirty="0"/>
          </a:p>
          <a:p>
            <a:r>
              <a:rPr lang="ja-JP" altLang="en-US" dirty="0"/>
              <a:t>■ 伝えたいコアメッセージ</a:t>
            </a:r>
          </a:p>
          <a:p>
            <a:r>
              <a:rPr lang="ja-JP" altLang="en-US" dirty="0"/>
              <a:t>これまでのスライドは「すでにやっている医療を、漏らさず記録する」という拾い漏れ対策が中心でした。スライド14ではそこから一歩進めて、「医学的適応の範囲内で複数の選択肢があるとき、A6 や C項目に貢献する選択肢を取る」という、一段上の工夫を提案します。</a:t>
            </a:r>
          </a:p>
          <a:p>
            <a:endParaRPr lang="ja-JP" altLang="en-US" dirty="0"/>
          </a:p>
          <a:p>
            <a:r>
              <a:rPr lang="ja-JP" altLang="en-US" dirty="0"/>
              <a:t>メッセージは2層構造です: (1)記録運用での回収(S4-5, S13の「記録11」)、(2)選択肢の取り方の工夫(このスライド14) ― 内科型地域包括医療病棟として求められる医療の形に、6F の医療提供を構造的に添わせる。</a:t>
            </a:r>
          </a:p>
          <a:p>
            <a:endParaRPr lang="ja-JP" altLang="en-US" dirty="0"/>
          </a:p>
          <a:p>
            <a:r>
              <a:rPr lang="ja-JP" altLang="en-US" dirty="0"/>
              <a:t>■ 絶対に外せない前提(スライド冒頭の3点)</a:t>
            </a:r>
          </a:p>
          <a:p>
            <a:r>
              <a:rPr lang="ja-JP" altLang="en-US" dirty="0"/>
              <a:t>発表時に必ず明言してください。誤解を招くと現場の信頼を失います: ・適応外の処置は絶対に行わない ・医学的判断そのものは変えない ・「複数の医学的に妥当な選択肢」がある場面に限った「選び方」の話。点数稼ぎではなく、6F が「内科型の地域包括医療病棟」として国・地域から求められている医療の形に、自分たちの医療提供を構造的に合わせていく取り組みです。</a:t>
            </a:r>
          </a:p>
          <a:p>
            <a:endParaRPr lang="ja-JP" altLang="en-US" dirty="0"/>
          </a:p>
          <a:p>
            <a:r>
              <a:rPr lang="ja-JP" altLang="en-US" dirty="0"/>
              <a:t>■ 表(7例)の解説ポイント</a:t>
            </a:r>
          </a:p>
          <a:p>
            <a:r>
              <a:rPr lang="ja-JP" altLang="en-US" dirty="0"/>
              <a:t>表は「現状の医療提供」→「工夫の方向(緑字)」→「A/C 項目寄与」の3列で代表例を示しています。</a:t>
            </a:r>
          </a:p>
          <a:p>
            <a:r>
              <a:rPr lang="ja-JP" altLang="en-US" dirty="0"/>
              <a:t>1. A6③ 麻薬注射 ― がん性疼痛で経口移行を急ぐのが現状。適応継続中は持続点滴を維持し疼痛コントロール優先(A 3点 / 3-5日)</a:t>
            </a:r>
          </a:p>
          <a:p>
            <a:r>
              <a:rPr lang="ja-JP" altLang="en-US" dirty="0"/>
              <a:t>2. A6⑦ 昇圧剤 ― 敗血症で早期離脱が現状。必要十分な期間まで維持(早すぎる中止を避ける / A 3点 / 1-3日)</a:t>
            </a:r>
          </a:p>
          <a:p>
            <a:r>
              <a:rPr lang="ja-JP" altLang="en-US" dirty="0"/>
              <a:t>3. A6⑧ 抗不整脈剤 ― Af で経口管理優先が現状。急性期は IV アミオダロン、ペイン科 PHN は IV リドカイン(A 3点 / 1-7日)</a:t>
            </a:r>
          </a:p>
          <a:p>
            <a:r>
              <a:rPr lang="ja-JP" altLang="en-US" dirty="0"/>
              <a:t>4. A6⑨ 抗血栓持続 ― PE で DOAC 移行を急ぐのが現状。高リスク・腎不全例は UFH 持続を維持(A 3点 / 3-7日)</a:t>
            </a:r>
          </a:p>
          <a:p>
            <a:r>
              <a:rPr lang="ja-JP" altLang="en-US" dirty="0"/>
              <a:t>5. A4 + A3 ペア(重症感染症) ― β-ラクタム間欠投与が現状。基礎疾患あり・血液培養採取症例では PIPC/TAZ・MEPM 持続点滴を選択(A 2点 / 5-7日)</a:t>
            </a:r>
          </a:p>
          <a:p>
            <a:r>
              <a:rPr lang="ja-JP" altLang="en-US" dirty="0"/>
              <a:t>6. C21③ 内視鏡治療 ― 適応症例で見送り傾向。ESD・ERCP・内視鏡止血を積極化(C項目 / 各4日)</a:t>
            </a:r>
          </a:p>
          <a:p>
            <a:r>
              <a:rPr lang="ja-JP" altLang="en-US" dirty="0"/>
              <a:t>7. C23 PEG・CV 挿入 ― 末梢困難でも見送りがち。適応症例で閾値を下げる(C項目 / PEG 5日・CV 4日)</a:t>
            </a:r>
          </a:p>
          <a:p>
            <a:endParaRPr lang="ja-JP" altLang="en-US" dirty="0"/>
          </a:p>
          <a:p>
            <a:r>
              <a:rPr lang="ja-JP" altLang="en-US" dirty="0"/>
              <a:t>■ 締めの一文(フッター)</a:t>
            </a:r>
          </a:p>
          <a:p>
            <a:r>
              <a:rPr lang="ja-JP" altLang="en-US" dirty="0"/>
              <a:t>「達成は『漏れを拾う』ではなく『選択肢の取り方を変える』」 ― これがブリーフィング全体の最終メッセージです。S2 で示した月99患者日の不足に対し、S13 の100患者日内訳(記録11 + 内科40 + ペイン9 + C項目40)を実現するには、記録運用(S4-5)だけでは届きません。医師の処方判断・処置判断のレベルで、医学的適応の範囲内で構造に添う選択をしていくことが必要です。</a:t>
            </a:r>
          </a:p>
          <a:p>
            <a:endParaRPr lang="ja-JP" altLang="en-US" dirty="0"/>
          </a:p>
          <a:p>
            <a:r>
              <a:rPr lang="ja-JP" altLang="en-US" dirty="0"/>
              <a:t>■ 想定される質疑への備え</a:t>
            </a:r>
          </a:p>
          <a:p>
            <a:r>
              <a:rPr lang="ja-JP" altLang="en-US" dirty="0"/>
              <a:t>Q.「点数のために治療を変えるのか?」→ 違います。冒頭3前提を再確認。複数の医学的に妥当な選択肢がある場面に限った話。</a:t>
            </a:r>
          </a:p>
          <a:p>
            <a:r>
              <a:rPr lang="ja-JP" altLang="en-US" dirty="0"/>
              <a:t>Q.「現場の負担が増えるのでは?」→ 多くは判断の方向性の問題で新しい処置の追加ではない。記録運用(S4-5)と組み合わせれば月99患者日は届く射程(S13)。</a:t>
            </a:r>
          </a:p>
          <a:p>
            <a:r>
              <a:rPr lang="ja-JP" altLang="en-US" dirty="0"/>
              <a:t>Q.「具体例の中に異論があるものは?」→ 表は代表例。個別症例の判断は主治医に帰属。週1回のカンファレンス(S10)で症例ごとに振り返る運用を提案。</a:t>
            </a:r>
          </a:p>
          <a:p>
            <a:endParaRPr lang="ja-JP" altLang="en-US" dirty="0"/>
          </a:p>
          <a:p>
            <a:r>
              <a:rPr lang="ja-JP" altLang="en-US" dirty="0"/>
              <a:t>■ 話す順序の目安(約3分)</a:t>
            </a:r>
          </a:p>
          <a:p>
            <a:r>
              <a:rPr lang="ja-JP" altLang="en-US" dirty="0"/>
              <a:t>①タイトル+サブタイトル提示(30秒) → ②3前提を強調(30秒・ここを飛ばさない) → ③表の代表例を3つほどピックアップして解説(90秒) → ④フッターの締めメッセージ(30秒・「選択肢の取り方を変える」で終わる)</a:t>
            </a:r>
          </a:p>
        </p:txBody>
      </p:sp>
    </p:spTree>
    <p:extLst>
      <p:ext uri="{BB962C8B-B14F-4D97-AF65-F5344CB8AC3E}">
        <p14:creationId xmlns:p14="http://schemas.microsoft.com/office/powerpoint/2010/main" val="2993538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11247120" cy="523220"/>
          </a:xfrm>
          <a:prstGeom prst="rect">
            <a:avLst/>
          </a:prstGeom>
          <a:noFill/>
        </p:spPr>
        <p:txBody>
          <a:bodyPr wrap="square">
            <a:spAutoFit/>
          </a:bodyPr>
          <a:lstStyle/>
          <a:p>
            <a:pPr algn="l"/>
            <a:r>
              <a:rPr lang="ja-JP" sz="2800" b="1" dirty="0">
                <a:solidFill>
                  <a:srgbClr val="374151"/>
                </a:solidFill>
                <a:latin typeface="Hiragino Kaku Gothic ProN"/>
              </a:rPr>
              <a:t>2026新基準 医師・看護師向けブリーフィング</a:t>
            </a:r>
          </a:p>
        </p:txBody>
      </p:sp>
      <p:sp>
        <p:nvSpPr>
          <p:cNvPr id="3" name="TextBox 2"/>
          <p:cNvSpPr txBox="1"/>
          <p:nvPr/>
        </p:nvSpPr>
        <p:spPr>
          <a:xfrm>
            <a:off x="457200" y="2011680"/>
            <a:ext cx="11247120" cy="1323439"/>
          </a:xfrm>
          <a:prstGeom prst="rect">
            <a:avLst/>
          </a:prstGeom>
          <a:noFill/>
        </p:spPr>
        <p:txBody>
          <a:bodyPr wrap="square">
            <a:spAutoFit/>
          </a:bodyPr>
          <a:lstStyle/>
          <a:p>
            <a:pPr algn="ctr"/>
            <a:r>
              <a:rPr lang="ja-JP" sz="4000" b="1" dirty="0">
                <a:solidFill>
                  <a:srgbClr val="1D4ED8"/>
                </a:solidFill>
                <a:latin typeface="Hiragino Kaku Gothic ProN"/>
              </a:rPr>
              <a:t>制度を知り、私たちの医療を</a:t>
            </a:r>
          </a:p>
          <a:p>
            <a:pPr algn="ctr"/>
            <a:r>
              <a:rPr lang="ja-JP" sz="4000" b="1" dirty="0">
                <a:solidFill>
                  <a:srgbClr val="1D4ED8"/>
                </a:solidFill>
                <a:latin typeface="Hiragino Kaku Gothic ProN"/>
              </a:rPr>
              <a:t>正当に評価につなげる</a:t>
            </a:r>
          </a:p>
        </p:txBody>
      </p:sp>
      <p:sp>
        <p:nvSpPr>
          <p:cNvPr id="4" name="TextBox 3"/>
          <p:cNvSpPr txBox="1"/>
          <p:nvPr/>
        </p:nvSpPr>
        <p:spPr>
          <a:xfrm>
            <a:off x="457200" y="4389120"/>
            <a:ext cx="11247120" cy="707886"/>
          </a:xfrm>
          <a:prstGeom prst="rect">
            <a:avLst/>
          </a:prstGeom>
          <a:noFill/>
        </p:spPr>
        <p:txBody>
          <a:bodyPr wrap="square">
            <a:spAutoFit/>
          </a:bodyPr>
          <a:lstStyle/>
          <a:p>
            <a:pPr algn="l"/>
            <a:r>
              <a:rPr lang="ja-JP" sz="2000" b="0" dirty="0">
                <a:solidFill>
                  <a:srgbClr val="1F2937"/>
                </a:solidFill>
                <a:latin typeface="Hiragino Kaku Gothic ProN"/>
              </a:rPr>
              <a:t>・ 新しい基準の仕組みを理解し、日常の医療行為を正しく記録に残す</a:t>
            </a:r>
          </a:p>
          <a:p>
            <a:pPr algn="l"/>
            <a:r>
              <a:rPr lang="ja-JP" sz="2000" b="0" dirty="0">
                <a:solidFill>
                  <a:srgbClr val="1F2937"/>
                </a:solidFill>
                <a:latin typeface="Hiragino Kaku Gothic ProN"/>
              </a:rPr>
              <a:t>・ 正当な医療行為が、適切に重症度として評価される状態をつくる</a:t>
            </a:r>
          </a:p>
        </p:txBody>
      </p:sp>
      <p:sp>
        <p:nvSpPr>
          <p:cNvPr id="5" name="TextBox 4"/>
          <p:cNvSpPr txBox="1"/>
          <p:nvPr/>
        </p:nvSpPr>
        <p:spPr>
          <a:xfrm>
            <a:off x="457200" y="6309360"/>
            <a:ext cx="11247120" cy="307777"/>
          </a:xfrm>
          <a:prstGeom prst="rect">
            <a:avLst/>
          </a:prstGeom>
          <a:noFill/>
        </p:spPr>
        <p:txBody>
          <a:bodyPr wrap="square">
            <a:spAutoFit/>
          </a:bodyPr>
          <a:lstStyle/>
          <a:p>
            <a:pPr algn="l"/>
            <a:r>
              <a:rPr lang="ja-JP" sz="1400" b="0" dirty="0">
                <a:solidFill>
                  <a:srgbClr val="6B7280"/>
                </a:solidFill>
                <a:latin typeface="Hiragino Kaku Gothic ProN"/>
              </a:rPr>
              <a:t>📌 ゴール: 私たちが行っている医療を、制度上も正しく認めてもらうための知識を共有する</a:t>
            </a:r>
          </a:p>
        </p:txBody>
      </p:sp>
    </p:spTree>
    <p:extLst>
      <p:ext uri="{BB962C8B-B14F-4D97-AF65-F5344CB8AC3E}">
        <p14:creationId xmlns:p14="http://schemas.microsoft.com/office/powerpoint/2010/main" val="184639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11247120" cy="707886"/>
          </a:xfrm>
          <a:prstGeom prst="rect">
            <a:avLst/>
          </a:prstGeom>
          <a:noFill/>
        </p:spPr>
        <p:txBody>
          <a:bodyPr wrap="square">
            <a:spAutoFit/>
          </a:bodyPr>
          <a:lstStyle/>
          <a:p>
            <a:pPr algn="l"/>
            <a:r>
              <a:rPr lang="ja-JP" sz="2800" b="1" dirty="0">
                <a:solidFill>
                  <a:srgbClr val="374151"/>
                </a:solidFill>
                <a:latin typeface="Hiragino Kaku Gothic ProN"/>
              </a:rPr>
              <a:t>まず知ってほしい単位 ―「患者日」とは？</a:t>
            </a:r>
          </a:p>
          <a:p>
            <a:pPr algn="l"/>
            <a:r>
              <a:rPr lang="ja-JP" sz="1200" b="0" dirty="0">
                <a:solidFill>
                  <a:srgbClr val="6B7280"/>
                </a:solidFill>
                <a:latin typeface="Hiragino Kaku Gothic ProN"/>
              </a:rPr>
              <a:t>スライド 1</a:t>
            </a:r>
          </a:p>
        </p:txBody>
      </p:sp>
      <p:sp>
        <p:nvSpPr>
          <p:cNvPr id="3" name="TextBox 2"/>
          <p:cNvSpPr txBox="1"/>
          <p:nvPr/>
        </p:nvSpPr>
        <p:spPr>
          <a:xfrm>
            <a:off x="472440" y="1422778"/>
            <a:ext cx="11247120" cy="1661993"/>
          </a:xfrm>
          <a:prstGeom prst="rect">
            <a:avLst/>
          </a:prstGeom>
          <a:noFill/>
        </p:spPr>
        <p:txBody>
          <a:bodyPr wrap="square">
            <a:spAutoFit/>
          </a:bodyPr>
          <a:lstStyle/>
          <a:p>
            <a:pPr algn="ctr"/>
            <a:r>
              <a:rPr lang="ja-JP" sz="3200" b="1" dirty="0">
                <a:solidFill>
                  <a:srgbClr val="1D4ED8"/>
                </a:solidFill>
                <a:latin typeface="Hiragino Kaku Gothic ProN"/>
              </a:rPr>
              <a:t>1人の患者さんの 1日分の入院 ＝ 1患者日</a:t>
            </a:r>
          </a:p>
          <a:p>
            <a:pPr algn="ctr">
              <a:spcBef>
                <a:spcPts val="600"/>
              </a:spcBef>
            </a:pPr>
            <a:r>
              <a:rPr lang="ja-JP" sz="2000" b="0" dirty="0">
                <a:solidFill>
                  <a:srgbClr val="4B5563"/>
                </a:solidFill>
                <a:latin typeface="Hiragino Kaku Gothic ProN"/>
              </a:rPr>
              <a:t>この患者日のうち、一定の基準に該当するものの割合が</a:t>
            </a:r>
          </a:p>
          <a:p>
            <a:pPr algn="ctr"/>
            <a:r>
              <a:rPr lang="ja-JP" sz="2000" b="0" dirty="0">
                <a:solidFill>
                  <a:srgbClr val="4B5563"/>
                </a:solidFill>
                <a:latin typeface="Hiragino Kaku Gothic ProN"/>
              </a:rPr>
              <a:t>足りないと、地域包括医療病棟入院料1が維持できなくなります</a:t>
            </a:r>
          </a:p>
          <a:p>
            <a:pPr algn="ctr">
              <a:spcBef>
                <a:spcPts val="600"/>
              </a:spcBef>
            </a:pPr>
            <a:r>
              <a:rPr lang="ja-JP" sz="2000" b="1" dirty="0">
                <a:solidFill>
                  <a:srgbClr val="1D4ED8"/>
                </a:solidFill>
                <a:latin typeface="Hiragino Kaku Gothic ProN"/>
              </a:rPr>
              <a:t>→ では、その「基準」とは？（次スライド）</a:t>
            </a:r>
          </a:p>
        </p:txBody>
      </p:sp>
      <p:sp>
        <p:nvSpPr>
          <p:cNvPr id="4" name="TextBox 3"/>
          <p:cNvSpPr txBox="1"/>
          <p:nvPr/>
        </p:nvSpPr>
        <p:spPr>
          <a:xfrm>
            <a:off x="472440" y="3632577"/>
            <a:ext cx="11247120" cy="2185214"/>
          </a:xfrm>
          <a:prstGeom prst="rect">
            <a:avLst/>
          </a:prstGeom>
          <a:noFill/>
        </p:spPr>
        <p:txBody>
          <a:bodyPr wrap="square">
            <a:spAutoFit/>
          </a:bodyPr>
          <a:lstStyle/>
          <a:p>
            <a:pPr algn="l"/>
            <a:r>
              <a:rPr lang="ja-JP" sz="1800" b="1" dirty="0">
                <a:solidFill>
                  <a:srgbClr val="1F2937"/>
                </a:solidFill>
                <a:latin typeface="Hiragino Kaku Gothic ProN"/>
              </a:rPr>
              <a:t>6F の現状（2026年6月 新基準適用）</a:t>
            </a:r>
          </a:p>
          <a:p>
            <a:pPr algn="l">
              <a:spcBef>
                <a:spcPts val="400"/>
              </a:spcBef>
            </a:pPr>
            <a:r>
              <a:rPr lang="ja-JP" sz="1800" b="0" dirty="0">
                <a:solidFill>
                  <a:srgbClr val="1F2937"/>
                </a:solidFill>
                <a:latin typeface="Hiragino Kaku Gothic ProN"/>
              </a:rPr>
              <a:t>・ 必要度IIの目標: 全患者日の 18% 以上 → 現状 9.17%</a:t>
            </a:r>
          </a:p>
          <a:p>
            <a:pPr algn="l"/>
            <a:r>
              <a:rPr lang="ja-JP" sz="1800" b="0" dirty="0">
                <a:solidFill>
                  <a:srgbClr val="1F2937"/>
                </a:solidFill>
                <a:latin typeface="Hiragino Kaku Gothic ProN"/>
              </a:rPr>
              <a:t>・ あと月 約99患者日分、基準を満たす記録が必要です</a:t>
            </a:r>
          </a:p>
          <a:p>
            <a:pPr algn="l">
              <a:spcBef>
                <a:spcPts val="400"/>
              </a:spcBef>
            </a:pPr>
            <a:r>
              <a:rPr lang="ja-JP" sz="1800" b="0" dirty="0">
                <a:solidFill>
                  <a:srgbClr val="1F2937"/>
                </a:solidFill>
                <a:latin typeface="Hiragino Kaku Gothic ProN"/>
              </a:rPr>
              <a:t>・ 記録の残し方の工夫も必要ですが、それだけでなく、</a:t>
            </a:r>
          </a:p>
          <a:p>
            <a:pPr algn="l"/>
            <a:r>
              <a:rPr lang="ja-JP" sz="1800" b="0" dirty="0">
                <a:solidFill>
                  <a:srgbClr val="1F2937"/>
                </a:solidFill>
                <a:latin typeface="Hiragino Kaku Gothic ProN"/>
              </a:rPr>
              <a:t>　 これまでと同様の医療の中で基準に該当する形で記録を残す工夫が求められます</a:t>
            </a:r>
          </a:p>
          <a:p>
            <a:pPr algn="l">
              <a:spcBef>
                <a:spcPts val="400"/>
              </a:spcBef>
            </a:pPr>
            <a:r>
              <a:rPr lang="ja-JP" sz="1800" b="1" dirty="0">
                <a:solidFill>
                  <a:srgbClr val="4B5563"/>
                </a:solidFill>
                <a:latin typeface="Hiragino Kaku Gothic ProN"/>
              </a:rPr>
              <a:t>→ 国や地域が求める「地域包括医療病棟」という医療の形に、</a:t>
            </a:r>
          </a:p>
          <a:p>
            <a:pPr algn="l"/>
            <a:r>
              <a:rPr lang="ja-JP" sz="1800" b="1" dirty="0">
                <a:solidFill>
                  <a:srgbClr val="4B5563"/>
                </a:solidFill>
                <a:latin typeface="Hiragino Kaku Gothic ProN"/>
              </a:rPr>
              <a:t>　 私たちが合わせていく必要があります</a:t>
            </a:r>
          </a:p>
        </p:txBody>
      </p:sp>
      <p:sp>
        <p:nvSpPr>
          <p:cNvPr id="5" name="TextBox 4"/>
          <p:cNvSpPr txBox="1"/>
          <p:nvPr/>
        </p:nvSpPr>
        <p:spPr>
          <a:xfrm>
            <a:off x="472440" y="6365598"/>
            <a:ext cx="11247120" cy="307777"/>
          </a:xfrm>
          <a:prstGeom prst="rect">
            <a:avLst/>
          </a:prstGeom>
          <a:noFill/>
        </p:spPr>
        <p:txBody>
          <a:bodyPr wrap="square">
            <a:spAutoFit/>
          </a:bodyPr>
          <a:lstStyle/>
          <a:p>
            <a:pPr algn="l"/>
            <a:r>
              <a:rPr lang="ja-JP" sz="1400" b="0" dirty="0">
                <a:solidFill>
                  <a:srgbClr val="6B7280"/>
                </a:solidFill>
                <a:latin typeface="Hiragino Kaku Gothic ProN"/>
              </a:rPr>
              <a:t>📌 ポイント: 皆さんが既にやっている医療を「患者日」として正しくカウントすることが大切</a:t>
            </a:r>
          </a:p>
        </p:txBody>
      </p:sp>
    </p:spTree>
    <p:extLst>
      <p:ext uri="{BB962C8B-B14F-4D97-AF65-F5344CB8AC3E}">
        <p14:creationId xmlns:p14="http://schemas.microsoft.com/office/powerpoint/2010/main" val="2441959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CA0DFE-EF11-03F0-E909-8181B6ACABBA}"/>
              </a:ext>
            </a:extLst>
          </p:cNvPr>
          <p:cNvSpPr>
            <a:spLocks noGrp="1"/>
          </p:cNvSpPr>
          <p:nvPr>
            <p:ph type="title"/>
          </p:nvPr>
        </p:nvSpPr>
        <p:spPr>
          <a:xfrm>
            <a:off x="457200" y="101600"/>
            <a:ext cx="11252200" cy="635000"/>
          </a:xfrm>
        </p:spPr>
        <p:txBody>
          <a:bodyPr/>
          <a:lstStyle/>
          <a:p>
            <a:pPr algn="l"/>
            <a:r>
              <a:rPr lang="ja-JP" sz="2400" b="1" dirty="0">
                <a:solidFill>
                  <a:srgbClr val="374151"/>
                </a:solidFill>
                <a:latin typeface="Hiragino Kaku Gothic ProN"/>
              </a:rPr>
              <a:t>重症度、医療・看護必要度 ― 評価票（地域包括医療病棟）</a:t>
            </a:r>
          </a:p>
        </p:txBody>
      </p:sp>
      <p:pic>
        <p:nvPicPr>
          <p:cNvPr id="15" name="図 14">
            <a:extLst>
              <a:ext uri="{FF2B5EF4-FFF2-40B4-BE49-F238E27FC236}">
                <a16:creationId xmlns:a16="http://schemas.microsoft.com/office/drawing/2014/main" id="{0FDE014E-8165-519C-7D06-CD667F201716}"/>
              </a:ext>
            </a:extLst>
          </p:cNvPr>
          <p:cNvPicPr>
            <a:picLocks noChangeAspect="1"/>
          </p:cNvPicPr>
          <p:nvPr/>
        </p:nvPicPr>
        <p:blipFill>
          <a:blip r:embed="rId3"/>
          <a:stretch>
            <a:fillRect/>
          </a:stretch>
        </p:blipFill>
        <p:spPr>
          <a:xfrm>
            <a:off x="2413000" y="762000"/>
            <a:ext cx="7366000" cy="5041900"/>
          </a:xfrm>
          <a:prstGeom prst="rect">
            <a:avLst/>
          </a:prstGeom>
        </p:spPr>
      </p:pic>
      <p:sp>
        <p:nvSpPr>
          <p:cNvPr id="16" name="テキスト ボックス 15">
            <a:extLst>
              <a:ext uri="{FF2B5EF4-FFF2-40B4-BE49-F238E27FC236}">
                <a16:creationId xmlns:a16="http://schemas.microsoft.com/office/drawing/2014/main" id="{F3756DD6-7D5A-2549-B447-2B9E008ED9BD}"/>
              </a:ext>
            </a:extLst>
          </p:cNvPr>
          <p:cNvSpPr txBox="1"/>
          <p:nvPr/>
        </p:nvSpPr>
        <p:spPr>
          <a:xfrm>
            <a:off x="457200" y="5778500"/>
            <a:ext cx="11277600" cy="764312"/>
          </a:xfrm>
          <a:prstGeom prst="rect">
            <a:avLst/>
          </a:prstGeom>
          <a:noFill/>
        </p:spPr>
        <p:txBody>
          <a:bodyPr vertOverflow="overflow" vert="horz" wrap="square" rtlCol="0" anchor="t">
            <a:spAutoFit/>
          </a:bodyPr>
          <a:lstStyle/>
          <a:p>
            <a:pPr algn="l">
              <a:spcAft>
                <a:spcPts val="200"/>
              </a:spcAft>
            </a:pPr>
            <a:r>
              <a:rPr lang="ja-JP" sz="1400" dirty="0">
                <a:solidFill>
                  <a:srgbClr val="374151"/>
                </a:solidFill>
                <a:latin typeface="Hiragino Kaku Gothic ProN"/>
                <a:ea typeface="Hiragino Kaku Gothic ProN"/>
              </a:rPr>
              <a:t>※「重症患者」の判定 ＝ </a:t>
            </a:r>
            <a:r>
              <a:rPr lang="ja-JP" sz="1400" b="1" dirty="0">
                <a:solidFill>
                  <a:srgbClr val="E67E22"/>
                </a:solidFill>
                <a:latin typeface="Hiragino Kaku Gothic ProN"/>
                <a:ea typeface="Hiragino Kaku Gothic ProN"/>
              </a:rPr>
              <a:t>A項目2点以上</a:t>
            </a:r>
            <a:r>
              <a:rPr lang="ja-JP" sz="1400" b="1" dirty="0">
                <a:solidFill>
                  <a:srgbClr val="374151"/>
                </a:solidFill>
                <a:latin typeface="Hiragino Kaku Gothic ProN"/>
                <a:ea typeface="Hiragino Kaku Gothic ProN"/>
              </a:rPr>
              <a:t> or </a:t>
            </a:r>
            <a:r>
              <a:rPr lang="ja-JP" sz="1400" b="1" dirty="0">
                <a:solidFill>
                  <a:srgbClr val="16A34A"/>
                </a:solidFill>
                <a:latin typeface="Hiragino Kaku Gothic ProN"/>
                <a:ea typeface="Hiragino Kaku Gothic ProN"/>
              </a:rPr>
              <a:t>C項目1点以上</a:t>
            </a:r>
            <a:r>
              <a:rPr lang="ja-JP" sz="1400" dirty="0">
                <a:solidFill>
                  <a:srgbClr val="374151"/>
                </a:solidFill>
                <a:latin typeface="Hiragino Kaku Gothic ProN"/>
                <a:ea typeface="Hiragino Kaku Gothic ProN"/>
              </a:rPr>
              <a:t> ― 日々の処置・ケアが該当するかがポイント</a:t>
            </a:r>
          </a:p>
          <a:p>
            <a:pPr algn="l"/>
            <a:r>
              <a:rPr lang="ja-JP" sz="1400" dirty="0">
                <a:solidFill>
                  <a:srgbClr val="374151"/>
                </a:solidFill>
                <a:latin typeface="Hiragino Kaku Gothic ProN"/>
                <a:ea typeface="Hiragino Kaku Gothic ProN"/>
              </a:rPr>
              <a:t>※</a:t>
            </a:r>
            <a:r>
              <a:rPr lang="ja-JP" sz="1400" b="1" dirty="0">
                <a:solidFill>
                  <a:srgbClr val="2563EB"/>
                </a:solidFill>
                <a:latin typeface="Hiragino Kaku Gothic ProN"/>
                <a:ea typeface="Hiragino Kaku Gothic ProN"/>
              </a:rPr>
              <a:t>B項目（ADL）</a:t>
            </a:r>
            <a:r>
              <a:rPr lang="ja-JP" sz="1400" dirty="0">
                <a:solidFill>
                  <a:srgbClr val="374151"/>
                </a:solidFill>
                <a:latin typeface="Hiragino Kaku Gothic ProN"/>
                <a:ea typeface="Hiragino Kaku Gothic ProN"/>
              </a:rPr>
              <a:t>は毎日の評価義務はあるが、</a:t>
            </a:r>
            <a:r>
              <a:rPr lang="ja-JP" sz="1400" b="1" dirty="0">
                <a:solidFill>
                  <a:srgbClr val="DC2626"/>
                </a:solidFill>
                <a:latin typeface="Hiragino Kaku Gothic ProN"/>
                <a:ea typeface="Hiragino Kaku Gothic ProN"/>
              </a:rPr>
              <a:t>重症患者の判定基準には使われない</a:t>
            </a:r>
            <a:r>
              <a:rPr lang="ja-JP" sz="1400" dirty="0">
                <a:solidFill>
                  <a:srgbClr val="374151"/>
                </a:solidFill>
                <a:latin typeface="Hiragino Kaku Gothic ProN"/>
                <a:ea typeface="Hiragino Kaku Gothic ProN"/>
              </a:rPr>
              <a:t>（7:1は2024年度改定〜、地域包括医療病棟は2026年度改定〜）</a:t>
            </a:r>
          </a:p>
        </p:txBody>
      </p:sp>
    </p:spTree>
    <p:extLst>
      <p:ext uri="{BB962C8B-B14F-4D97-AF65-F5344CB8AC3E}">
        <p14:creationId xmlns:p14="http://schemas.microsoft.com/office/powerpoint/2010/main" val="3523375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11247120" cy="1280160"/>
          </a:xfrm>
          <a:prstGeom prst="rect">
            <a:avLst/>
          </a:prstGeom>
          <a:noFill/>
        </p:spPr>
        <p:txBody>
          <a:bodyPr wrap="square">
            <a:spAutoFit/>
          </a:bodyPr>
          <a:lstStyle/>
          <a:p>
            <a:pPr algn="l"/>
            <a:r>
              <a:rPr sz="2800" b="1">
                <a:solidFill>
                  <a:srgbClr val="374151"/>
                </a:solidFill>
                <a:latin typeface="Hiragino Kaku Gothic ProN"/>
              </a:rPr>
              <a:t>看護必要度は「重い患者を診ていること」を数字で証明する指標です</a:t>
            </a:r>
          </a:p>
          <a:p>
            <a:pPr algn="l"/>
            <a:r>
              <a:rPr sz="1200" b="0">
                <a:solidFill>
                  <a:srgbClr val="6B7280"/>
                </a:solidFill>
                <a:latin typeface="Hiragino Kaku Gothic ProN"/>
              </a:rPr>
              <a:t>スライド 2</a:t>
            </a:r>
          </a:p>
        </p:txBody>
      </p:sp>
      <p:sp>
        <p:nvSpPr>
          <p:cNvPr id="3" name="TextBox 2"/>
          <p:cNvSpPr txBox="1"/>
          <p:nvPr/>
        </p:nvSpPr>
        <p:spPr>
          <a:xfrm>
            <a:off x="457200" y="2011680"/>
            <a:ext cx="11247120" cy="2194560"/>
          </a:xfrm>
          <a:prstGeom prst="rect">
            <a:avLst/>
          </a:prstGeom>
          <a:noFill/>
        </p:spPr>
        <p:txBody>
          <a:bodyPr wrap="square">
            <a:spAutoFit/>
          </a:bodyPr>
          <a:lstStyle/>
          <a:p>
            <a:pPr algn="ctr"/>
            <a:r>
              <a:rPr sz="4400" b="1">
                <a:solidFill>
                  <a:srgbClr val="1F2937"/>
                </a:solidFill>
                <a:latin typeface="Hiragino Kaku Gothic ProN"/>
              </a:rPr>
              <a:t>やった医療は、記録とコードにつながって初めて数字になります</a:t>
            </a:r>
          </a:p>
        </p:txBody>
      </p:sp>
      <p:sp>
        <p:nvSpPr>
          <p:cNvPr id="4" name="TextBox 3"/>
          <p:cNvSpPr txBox="1"/>
          <p:nvPr/>
        </p:nvSpPr>
        <p:spPr>
          <a:xfrm>
            <a:off x="457200" y="4389120"/>
            <a:ext cx="11247120" cy="1828800"/>
          </a:xfrm>
          <a:prstGeom prst="rect">
            <a:avLst/>
          </a:prstGeom>
          <a:noFill/>
        </p:spPr>
        <p:txBody>
          <a:bodyPr wrap="square">
            <a:spAutoFit/>
          </a:bodyPr>
          <a:lstStyle/>
          <a:p>
            <a:pPr algn="l"/>
            <a:r>
              <a:rPr sz="2000" b="0">
                <a:solidFill>
                  <a:srgbClr val="1F2937"/>
                </a:solidFill>
                <a:latin typeface="Hiragino Kaku Gothic ProN"/>
              </a:rPr>
              <a:t>・ 患者 → 医師指示 → 看護記録 → 医事コード → 必要度 の流れで数字に残る。</a:t>
            </a:r>
          </a:p>
          <a:p>
            <a:pPr algn="l"/>
            <a:r>
              <a:rPr sz="2000" b="0">
                <a:solidFill>
                  <a:srgbClr val="1F2937"/>
                </a:solidFill>
                <a:latin typeface="Hiragino Kaku Gothic ProN"/>
              </a:rPr>
              <a:t>・ 忙しい病棟だから自動的に上がる、わけではない。</a:t>
            </a:r>
          </a:p>
        </p:txBody>
      </p:sp>
      <p:sp>
        <p:nvSpPr>
          <p:cNvPr id="5" name="TextBox 4"/>
          <p:cNvSpPr txBox="1"/>
          <p:nvPr/>
        </p:nvSpPr>
        <p:spPr>
          <a:xfrm>
            <a:off x="457200" y="6309360"/>
            <a:ext cx="11247120" cy="457200"/>
          </a:xfrm>
          <a:prstGeom prst="rect">
            <a:avLst/>
          </a:prstGeom>
          <a:noFill/>
        </p:spPr>
        <p:txBody>
          <a:bodyPr wrap="square">
            <a:spAutoFit/>
          </a:bodyPr>
          <a:lstStyle/>
          <a:p>
            <a:pPr algn="l"/>
            <a:r>
              <a:rPr sz="1400" b="0">
                <a:solidFill>
                  <a:srgbClr val="6B7280"/>
                </a:solidFill>
                <a:latin typeface="Hiragino Kaku Gothic ProN"/>
              </a:rPr>
              <a:t>📌 残したい行動: 医師が「自分の指示・記録が必要度に影響する」と理解する</a:t>
            </a:r>
          </a:p>
        </p:txBody>
      </p:sp>
    </p:spTree>
    <p:extLst>
      <p:ext uri="{BB962C8B-B14F-4D97-AF65-F5344CB8AC3E}">
        <p14:creationId xmlns:p14="http://schemas.microsoft.com/office/powerpoint/2010/main" val="3453468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11247120" cy="1280160"/>
          </a:xfrm>
          <a:prstGeom prst="rect">
            <a:avLst/>
          </a:prstGeom>
          <a:noFill/>
        </p:spPr>
        <p:txBody>
          <a:bodyPr wrap="square">
            <a:spAutoFit/>
          </a:bodyPr>
          <a:lstStyle/>
          <a:p>
            <a:pPr algn="l"/>
            <a:r>
              <a:rPr sz="2800" b="1">
                <a:solidFill>
                  <a:srgbClr val="374151"/>
                </a:solidFill>
                <a:latin typeface="Hiragino Kaku Gothic ProN"/>
              </a:rPr>
              <a:t>6F は入院数を減らさず、分子の該当患者日を増やします</a:t>
            </a:r>
          </a:p>
          <a:p>
            <a:pPr algn="l"/>
            <a:r>
              <a:rPr sz="1200" b="0">
                <a:solidFill>
                  <a:srgbClr val="6B7280"/>
                </a:solidFill>
                <a:latin typeface="Hiragino Kaku Gothic ProN"/>
              </a:rPr>
              <a:t>スライド 3</a:t>
            </a:r>
          </a:p>
        </p:txBody>
      </p:sp>
      <p:sp>
        <p:nvSpPr>
          <p:cNvPr id="3" name="TextBox 2"/>
          <p:cNvSpPr txBox="1"/>
          <p:nvPr/>
        </p:nvSpPr>
        <p:spPr>
          <a:xfrm>
            <a:off x="457200" y="2011680"/>
            <a:ext cx="11247120" cy="2194560"/>
          </a:xfrm>
          <a:prstGeom prst="rect">
            <a:avLst/>
          </a:prstGeom>
          <a:noFill/>
        </p:spPr>
        <p:txBody>
          <a:bodyPr wrap="square">
            <a:spAutoFit/>
          </a:bodyPr>
          <a:lstStyle/>
          <a:p>
            <a:pPr algn="ctr"/>
            <a:r>
              <a:rPr sz="4400" b="1">
                <a:solidFill>
                  <a:srgbClr val="1F2937"/>
                </a:solidFill>
                <a:latin typeface="Hiragino Kaku Gothic ProN"/>
              </a:rPr>
              <a:t>分母は維持。増やすのは、適応のある該当日です</a:t>
            </a:r>
          </a:p>
        </p:txBody>
      </p:sp>
      <p:sp>
        <p:nvSpPr>
          <p:cNvPr id="4" name="TextBox 3"/>
          <p:cNvSpPr txBox="1"/>
          <p:nvPr/>
        </p:nvSpPr>
        <p:spPr>
          <a:xfrm>
            <a:off x="457200" y="4389120"/>
            <a:ext cx="11247120" cy="1828800"/>
          </a:xfrm>
          <a:prstGeom prst="rect">
            <a:avLst/>
          </a:prstGeom>
          <a:noFill/>
        </p:spPr>
        <p:txBody>
          <a:bodyPr wrap="square">
            <a:spAutoFit/>
          </a:bodyPr>
          <a:lstStyle/>
          <a:p>
            <a:pPr algn="l"/>
            <a:r>
              <a:rPr sz="2000" b="0">
                <a:solidFill>
                  <a:srgbClr val="1F2937"/>
                </a:solidFill>
                <a:latin typeface="Hiragino Kaku Gothic ProN"/>
              </a:rPr>
              <a:t>・ 稼働率維持のため、非該当日を持つ長期入院患者で病床を支える現実があります。</a:t>
            </a:r>
          </a:p>
          <a:p>
            <a:pPr algn="l"/>
            <a:r>
              <a:rPr sz="2000" b="0">
                <a:solidFill>
                  <a:srgbClr val="1F2937"/>
                </a:solidFill>
                <a:latin typeface="Hiragino Kaku Gothic ProN"/>
              </a:rPr>
              <a:t>・ 分母を減らす提案ではありません。拾い漏れを減らす運用改善です。</a:t>
            </a:r>
          </a:p>
        </p:txBody>
      </p:sp>
      <p:sp>
        <p:nvSpPr>
          <p:cNvPr id="5" name="TextBox 4"/>
          <p:cNvSpPr txBox="1"/>
          <p:nvPr/>
        </p:nvSpPr>
        <p:spPr>
          <a:xfrm>
            <a:off x="457200" y="6309360"/>
            <a:ext cx="11247120" cy="457200"/>
          </a:xfrm>
          <a:prstGeom prst="rect">
            <a:avLst/>
          </a:prstGeom>
          <a:noFill/>
        </p:spPr>
        <p:txBody>
          <a:bodyPr wrap="square">
            <a:spAutoFit/>
          </a:bodyPr>
          <a:lstStyle/>
          <a:p>
            <a:pPr algn="l"/>
            <a:r>
              <a:rPr sz="1400" b="0">
                <a:solidFill>
                  <a:srgbClr val="6B7280"/>
                </a:solidFill>
                <a:latin typeface="Hiragino Kaku Gothic ProN"/>
              </a:rPr>
              <a:t>📌 残したい行動: 「入院を絞る」ではなく「拾い漏れを減らす」に合意する</a:t>
            </a:r>
          </a:p>
        </p:txBody>
      </p:sp>
    </p:spTree>
    <p:extLst>
      <p:ext uri="{BB962C8B-B14F-4D97-AF65-F5344CB8AC3E}">
        <p14:creationId xmlns:p14="http://schemas.microsoft.com/office/powerpoint/2010/main" val="1608934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11247120" cy="1280160"/>
          </a:xfrm>
          <a:prstGeom prst="rect">
            <a:avLst/>
          </a:prstGeom>
          <a:noFill/>
        </p:spPr>
        <p:txBody>
          <a:bodyPr wrap="square">
            <a:spAutoFit/>
          </a:bodyPr>
          <a:lstStyle/>
          <a:p>
            <a:pPr algn="l"/>
            <a:r>
              <a:rPr sz="2800" b="1">
                <a:solidFill>
                  <a:srgbClr val="374151"/>
                </a:solidFill>
                <a:latin typeface="Hiragino Kaku Gothic ProN"/>
              </a:rPr>
              <a:t>6F は月 75〜80 件の入院を維持する病棟です</a:t>
            </a:r>
          </a:p>
          <a:p>
            <a:pPr algn="l"/>
            <a:r>
              <a:rPr sz="1200" b="0">
                <a:solidFill>
                  <a:srgbClr val="6B7280"/>
                </a:solidFill>
                <a:latin typeface="Hiragino Kaku Gothic ProN"/>
              </a:rPr>
              <a:t>スライド 4</a:t>
            </a:r>
          </a:p>
        </p:txBody>
      </p:sp>
      <p:sp>
        <p:nvSpPr>
          <p:cNvPr id="3" name="TextBox 2"/>
          <p:cNvSpPr txBox="1"/>
          <p:nvPr/>
        </p:nvSpPr>
        <p:spPr>
          <a:xfrm>
            <a:off x="457200" y="2011680"/>
            <a:ext cx="11247120" cy="2194560"/>
          </a:xfrm>
          <a:prstGeom prst="rect">
            <a:avLst/>
          </a:prstGeom>
          <a:noFill/>
        </p:spPr>
        <p:txBody>
          <a:bodyPr wrap="square">
            <a:spAutoFit/>
          </a:bodyPr>
          <a:lstStyle/>
          <a:p>
            <a:pPr algn="ctr"/>
            <a:r>
              <a:rPr sz="4400" b="1">
                <a:solidFill>
                  <a:srgbClr val="1F2937"/>
                </a:solidFill>
                <a:latin typeface="Hiragino Kaku Gothic ProN"/>
              </a:rPr>
              <a:t>入院数を減らさず、100 患者日/月を取り戻す</a:t>
            </a:r>
          </a:p>
        </p:txBody>
      </p:sp>
      <p:sp>
        <p:nvSpPr>
          <p:cNvPr id="4" name="TextBox 3"/>
          <p:cNvSpPr txBox="1"/>
          <p:nvPr/>
        </p:nvSpPr>
        <p:spPr>
          <a:xfrm>
            <a:off x="457200" y="4389120"/>
            <a:ext cx="11247120" cy="1828800"/>
          </a:xfrm>
          <a:prstGeom prst="rect">
            <a:avLst/>
          </a:prstGeom>
          <a:noFill/>
        </p:spPr>
        <p:txBody>
          <a:bodyPr wrap="square">
            <a:spAutoFit/>
          </a:bodyPr>
          <a:lstStyle/>
          <a:p>
            <a:pPr algn="l"/>
            <a:r>
              <a:rPr sz="2000" b="0">
                <a:solidFill>
                  <a:srgbClr val="1F2937"/>
                </a:solidFill>
                <a:latin typeface="Hiragino Kaku Gothic ProN"/>
              </a:rPr>
              <a:t>・ 6F 過去 1 年: 入院 930 件/年、平均 77.5 件/月、範囲 70〜85 件/月。</a:t>
            </a:r>
          </a:p>
          <a:p>
            <a:pPr algn="l"/>
            <a:r>
              <a:rPr sz="2000" b="0">
                <a:solidFill>
                  <a:srgbClr val="1F2937"/>
                </a:solidFill>
                <a:latin typeface="Hiragino Kaku Gothic ProN"/>
              </a:rPr>
              <a:t>・ この入院ボリュームを維持したまま、分子を積み増します。</a:t>
            </a:r>
          </a:p>
        </p:txBody>
      </p:sp>
      <p:sp>
        <p:nvSpPr>
          <p:cNvPr id="5" name="TextBox 4"/>
          <p:cNvSpPr txBox="1"/>
          <p:nvPr/>
        </p:nvSpPr>
        <p:spPr>
          <a:xfrm>
            <a:off x="457200" y="6309360"/>
            <a:ext cx="11247120" cy="457200"/>
          </a:xfrm>
          <a:prstGeom prst="rect">
            <a:avLst/>
          </a:prstGeom>
          <a:noFill/>
        </p:spPr>
        <p:txBody>
          <a:bodyPr wrap="square">
            <a:spAutoFit/>
          </a:bodyPr>
          <a:lstStyle/>
          <a:p>
            <a:pPr algn="l"/>
            <a:r>
              <a:rPr sz="1400" b="0">
                <a:solidFill>
                  <a:srgbClr val="6B7280"/>
                </a:solidFill>
                <a:latin typeface="Hiragino Kaku Gothic ProN"/>
              </a:rPr>
              <a:t>📌 残したい行動: 月 75〜80 件の入院を維持したまま改善する前提を共有する</a:t>
            </a:r>
          </a:p>
        </p:txBody>
      </p:sp>
    </p:spTree>
    <p:extLst>
      <p:ext uri="{BB962C8B-B14F-4D97-AF65-F5344CB8AC3E}">
        <p14:creationId xmlns:p14="http://schemas.microsoft.com/office/powerpoint/2010/main" val="1779789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11247120" cy="1280160"/>
          </a:xfrm>
          <a:prstGeom prst="rect">
            <a:avLst/>
          </a:prstGeom>
          <a:noFill/>
        </p:spPr>
        <p:txBody>
          <a:bodyPr wrap="square">
            <a:spAutoFit/>
          </a:bodyPr>
          <a:lstStyle/>
          <a:p>
            <a:pPr algn="l"/>
            <a:r>
              <a:rPr sz="2800" b="1">
                <a:solidFill>
                  <a:srgbClr val="374151"/>
                </a:solidFill>
                <a:latin typeface="Hiragino Kaku Gothic ProN"/>
              </a:rPr>
              <a:t>肺炎・心不全・COPD 増悪は、</a:t>
            </a:r>
            <a:r>
              <a:rPr sz="2800" b="1">
                <a:solidFill>
                  <a:srgbClr val="E67E22"/>
                </a:solidFill>
                <a:latin typeface="Hiragino Kaku Gothic ProN"/>
              </a:rPr>
              <a:t>A2（呼吸ケア）/A3（注射薬剤3種類）</a:t>
            </a:r>
            <a:r>
              <a:rPr sz="2800" b="1">
                <a:solidFill>
                  <a:srgbClr val="374151"/>
                </a:solidFill>
                <a:latin typeface="Hiragino Kaku Gothic ProN"/>
              </a:rPr>
              <a:t>の組み合わせで拾います</a:t>
            </a:r>
          </a:p>
          <a:p>
            <a:pPr algn="l"/>
            <a:r>
              <a:rPr sz="1200" b="0">
                <a:solidFill>
                  <a:srgbClr val="6B7280"/>
                </a:solidFill>
                <a:latin typeface="Hiragino Kaku Gothic ProN"/>
              </a:rPr>
              <a:t>スライド 7</a:t>
            </a:r>
          </a:p>
        </p:txBody>
      </p:sp>
      <p:sp>
        <p:nvSpPr>
          <p:cNvPr id="3" name="TextBox 2"/>
          <p:cNvSpPr txBox="1"/>
          <p:nvPr/>
        </p:nvSpPr>
        <p:spPr>
          <a:xfrm>
            <a:off x="457200" y="2011680"/>
            <a:ext cx="11247120" cy="2194560"/>
          </a:xfrm>
          <a:prstGeom prst="rect">
            <a:avLst/>
          </a:prstGeom>
          <a:noFill/>
        </p:spPr>
        <p:txBody>
          <a:bodyPr wrap="square">
            <a:spAutoFit/>
          </a:bodyPr>
          <a:lstStyle/>
          <a:p>
            <a:pPr algn="ctr"/>
            <a:r>
              <a:rPr sz="4400" b="1" dirty="0">
                <a:solidFill>
                  <a:srgbClr val="E67E22"/>
                </a:solidFill>
                <a:latin typeface="Hiragino Kaku Gothic ProN"/>
              </a:rPr>
              <a:t>酸素（A2）+ 注射薬 3 種類（A3）</a:t>
            </a:r>
          </a:p>
          <a:p>
            <a:pPr algn="ctr"/>
            <a:r>
              <a:rPr sz="4400" b="1" dirty="0">
                <a:solidFill>
                  <a:srgbClr val="1F2937"/>
                </a:solidFill>
                <a:latin typeface="Hiragino Kaku Gothic ProN"/>
              </a:rPr>
              <a:t>= </a:t>
            </a:r>
            <a:r>
              <a:rPr sz="4400" b="1" dirty="0">
                <a:solidFill>
                  <a:srgbClr val="E67E22"/>
                </a:solidFill>
                <a:latin typeface="Hiragino Kaku Gothic ProN"/>
              </a:rPr>
              <a:t>A 合計 2 点</a:t>
            </a:r>
            <a:r>
              <a:rPr sz="4400" b="1" dirty="0">
                <a:solidFill>
                  <a:srgbClr val="1F2937"/>
                </a:solidFill>
                <a:latin typeface="Hiragino Kaku Gothic ProN"/>
              </a:rPr>
              <a:t>の入口</a:t>
            </a:r>
          </a:p>
        </p:txBody>
      </p:sp>
      <p:sp>
        <p:nvSpPr>
          <p:cNvPr id="4" name="TextBox 3"/>
          <p:cNvSpPr txBox="1"/>
          <p:nvPr/>
        </p:nvSpPr>
        <p:spPr>
          <a:xfrm>
            <a:off x="457200" y="4389120"/>
            <a:ext cx="11247120" cy="1828800"/>
          </a:xfrm>
          <a:prstGeom prst="rect">
            <a:avLst/>
          </a:prstGeom>
          <a:noFill/>
        </p:spPr>
        <p:txBody>
          <a:bodyPr wrap="square">
            <a:spAutoFit/>
          </a:bodyPr>
          <a:lstStyle/>
          <a:p>
            <a:pPr algn="l"/>
            <a:r>
              <a:rPr sz="2000" b="0">
                <a:solidFill>
                  <a:srgbClr val="1F2937"/>
                </a:solidFill>
                <a:latin typeface="Hiragino Kaku Gothic ProN"/>
              </a:rPr>
              <a:t>・ Day1-2 は </a:t>
            </a:r>
            <a:r>
              <a:rPr sz="2000" b="1">
                <a:solidFill>
                  <a:srgbClr val="E67E22"/>
                </a:solidFill>
                <a:latin typeface="Hiragino Kaku Gothic ProN"/>
              </a:rPr>
              <a:t>A7（救急搬送後の入院／2 点）</a:t>
            </a:r>
            <a:r>
              <a:rPr sz="2000" b="0">
                <a:solidFill>
                  <a:srgbClr val="1F2937"/>
                </a:solidFill>
                <a:latin typeface="Hiragino Kaku Gothic ProN"/>
              </a:rPr>
              <a:t>でカバー、Day3 以降は </a:t>
            </a:r>
            <a:r>
              <a:rPr sz="2000" b="1">
                <a:solidFill>
                  <a:srgbClr val="E67E22"/>
                </a:solidFill>
                <a:latin typeface="Hiragino Kaku Gothic ProN"/>
              </a:rPr>
              <a:t>A2（呼吸ケア）/A3（注射薬剤3種類）</a:t>
            </a:r>
            <a:r>
              <a:rPr sz="2000" b="0">
                <a:solidFill>
                  <a:srgbClr val="1F2937"/>
                </a:solidFill>
                <a:latin typeface="Hiragino Kaku Gothic ProN"/>
              </a:rPr>
              <a:t>で維持。</a:t>
            </a:r>
          </a:p>
          <a:p>
            <a:pPr algn="l"/>
            <a:r>
              <a:rPr sz="2000" b="0">
                <a:solidFill>
                  <a:srgbClr val="1F2937"/>
                </a:solidFill>
                <a:latin typeface="Hiragino Kaku Gothic ProN"/>
              </a:rPr>
              <a:t>・ </a:t>
            </a:r>
            <a:r>
              <a:rPr sz="2000" b="1">
                <a:solidFill>
                  <a:srgbClr val="E67E22"/>
                </a:solidFill>
                <a:latin typeface="Hiragino Kaku Gothic ProN"/>
              </a:rPr>
              <a:t>A2（呼吸ケア）</a:t>
            </a:r>
            <a:r>
              <a:rPr sz="2000" b="0">
                <a:solidFill>
                  <a:srgbClr val="1F2937"/>
                </a:solidFill>
                <a:latin typeface="Hiragino Kaku Gothic ProN"/>
              </a:rPr>
              <a:t>は喀痰吸引のみ除外。コード一覧該当行為が必要。</a:t>
            </a:r>
          </a:p>
        </p:txBody>
      </p:sp>
      <p:sp>
        <p:nvSpPr>
          <p:cNvPr id="5" name="TextBox 4"/>
          <p:cNvSpPr txBox="1"/>
          <p:nvPr/>
        </p:nvSpPr>
        <p:spPr>
          <a:xfrm>
            <a:off x="457200" y="6309360"/>
            <a:ext cx="11247120" cy="457200"/>
          </a:xfrm>
          <a:prstGeom prst="rect">
            <a:avLst/>
          </a:prstGeom>
          <a:noFill/>
        </p:spPr>
        <p:txBody>
          <a:bodyPr wrap="square">
            <a:spAutoFit/>
          </a:bodyPr>
          <a:lstStyle/>
          <a:p>
            <a:pPr algn="l"/>
            <a:r>
              <a:rPr sz="1400" b="0">
                <a:solidFill>
                  <a:srgbClr val="6B7280"/>
                </a:solidFill>
                <a:latin typeface="Hiragino Kaku Gothic ProN"/>
              </a:rPr>
              <a:t>📌 残したい行動: 入院時 30 秒で「この肺炎は </a:t>
            </a:r>
            <a:r>
              <a:rPr sz="1400" b="1">
                <a:solidFill>
                  <a:srgbClr val="E67E22"/>
                </a:solidFill>
                <a:latin typeface="Hiragino Kaku Gothic ProN"/>
              </a:rPr>
              <a:t>A2/A3</a:t>
            </a:r>
            <a:r>
              <a:rPr sz="1400" b="0">
                <a:solidFill>
                  <a:srgbClr val="6B7280"/>
                </a:solidFill>
                <a:latin typeface="Hiragino Kaku Gothic ProN"/>
              </a:rPr>
              <a:t> になるか」を考える</a:t>
            </a:r>
          </a:p>
        </p:txBody>
      </p:sp>
    </p:spTree>
    <p:extLst>
      <p:ext uri="{BB962C8B-B14F-4D97-AF65-F5344CB8AC3E}">
        <p14:creationId xmlns:p14="http://schemas.microsoft.com/office/powerpoint/2010/main" val="1594066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11247120" cy="1280160"/>
          </a:xfrm>
          <a:prstGeom prst="rect">
            <a:avLst/>
          </a:prstGeom>
          <a:noFill/>
        </p:spPr>
        <p:txBody>
          <a:bodyPr wrap="square">
            <a:spAutoFit/>
          </a:bodyPr>
          <a:lstStyle/>
          <a:p>
            <a:pPr algn="l"/>
            <a:r>
              <a:rPr sz="2800" b="1">
                <a:solidFill>
                  <a:srgbClr val="374151"/>
                </a:solidFill>
                <a:latin typeface="Hiragino Kaku Gothic ProN"/>
              </a:rPr>
              <a:t>敗血症・ショックでは </a:t>
            </a:r>
            <a:r>
              <a:rPr sz="2800" b="1">
                <a:solidFill>
                  <a:srgbClr val="E67E22"/>
                </a:solidFill>
                <a:latin typeface="Hiragino Kaku Gothic ProN"/>
              </a:rPr>
              <a:t>A6（専門的な治療・処置）</a:t>
            </a:r>
            <a:r>
              <a:rPr sz="2800" b="1">
                <a:solidFill>
                  <a:srgbClr val="374151"/>
                </a:solidFill>
                <a:latin typeface="Hiragino Kaku Gothic ProN"/>
              </a:rPr>
              <a:t>の 3 点項目を見落としません</a:t>
            </a:r>
          </a:p>
          <a:p>
            <a:pPr algn="l"/>
            <a:r>
              <a:rPr sz="1200" b="0">
                <a:solidFill>
                  <a:srgbClr val="6B7280"/>
                </a:solidFill>
                <a:latin typeface="Hiragino Kaku Gothic ProN"/>
              </a:rPr>
              <a:t>スライド 8</a:t>
            </a:r>
          </a:p>
        </p:txBody>
      </p:sp>
      <p:sp>
        <p:nvSpPr>
          <p:cNvPr id="3" name="TextBox 2"/>
          <p:cNvSpPr txBox="1"/>
          <p:nvPr/>
        </p:nvSpPr>
        <p:spPr>
          <a:xfrm>
            <a:off x="457200" y="2011680"/>
            <a:ext cx="11247120" cy="2194560"/>
          </a:xfrm>
          <a:prstGeom prst="rect">
            <a:avLst/>
          </a:prstGeom>
          <a:noFill/>
        </p:spPr>
        <p:txBody>
          <a:bodyPr wrap="square">
            <a:spAutoFit/>
          </a:bodyPr>
          <a:lstStyle/>
          <a:p>
            <a:pPr algn="ctr"/>
            <a:r>
              <a:rPr sz="4400" b="1" dirty="0">
                <a:solidFill>
                  <a:srgbClr val="1F2937"/>
                </a:solidFill>
                <a:latin typeface="Hiragino Kaku Gothic ProN"/>
              </a:rPr>
              <a:t>昇圧薬・麻薬注射・抗不整脈薬・抗血栓薬持続点滴</a:t>
            </a:r>
          </a:p>
          <a:p>
            <a:pPr algn="ctr"/>
            <a:r>
              <a:rPr sz="4400" b="1" dirty="0">
                <a:solidFill>
                  <a:srgbClr val="1F2937"/>
                </a:solidFill>
                <a:latin typeface="Hiragino Kaku Gothic ProN"/>
              </a:rPr>
              <a:t>→ </a:t>
            </a:r>
            <a:r>
              <a:rPr sz="4400" b="1" dirty="0">
                <a:solidFill>
                  <a:srgbClr val="E67E22"/>
                </a:solidFill>
                <a:latin typeface="Hiragino Kaku Gothic ProN"/>
              </a:rPr>
              <a:t>A6（3点）</a:t>
            </a:r>
          </a:p>
        </p:txBody>
      </p:sp>
      <p:sp>
        <p:nvSpPr>
          <p:cNvPr id="4" name="TextBox 3"/>
          <p:cNvSpPr txBox="1"/>
          <p:nvPr/>
        </p:nvSpPr>
        <p:spPr>
          <a:xfrm>
            <a:off x="457200" y="4389120"/>
            <a:ext cx="11247120" cy="1828800"/>
          </a:xfrm>
          <a:prstGeom prst="rect">
            <a:avLst/>
          </a:prstGeom>
          <a:noFill/>
        </p:spPr>
        <p:txBody>
          <a:bodyPr wrap="square">
            <a:spAutoFit/>
          </a:bodyPr>
          <a:lstStyle/>
          <a:p>
            <a:pPr algn="l"/>
            <a:r>
              <a:rPr sz="2000" b="0">
                <a:solidFill>
                  <a:srgbClr val="1F2937"/>
                </a:solidFill>
                <a:latin typeface="Hiragino Kaku Gothic ProN"/>
              </a:rPr>
              <a:t>・ 条件: いずれも「注射剤のみ」かつ「持続点滴」が必須。</a:t>
            </a:r>
          </a:p>
          <a:p>
            <a:pPr algn="l"/>
            <a:r>
              <a:rPr sz="2000" b="0">
                <a:solidFill>
                  <a:srgbClr val="1F2937"/>
                </a:solidFill>
                <a:latin typeface="Hiragino Kaku Gothic ProN"/>
              </a:rPr>
              <a:t>・ 内服・貼付・坐剤の麻薬は </a:t>
            </a:r>
            <a:r>
              <a:rPr sz="2000" b="1">
                <a:solidFill>
                  <a:srgbClr val="E67E22"/>
                </a:solidFill>
                <a:latin typeface="Hiragino Kaku Gothic ProN"/>
              </a:rPr>
              <a:t>A6（専門的な治療・処置）</a:t>
            </a:r>
            <a:r>
              <a:rPr sz="2000" b="0">
                <a:solidFill>
                  <a:srgbClr val="1F2937"/>
                </a:solidFill>
                <a:latin typeface="Hiragino Kaku Gothic ProN"/>
              </a:rPr>
              <a:t>の 3 点項目に該当しない。</a:t>
            </a:r>
          </a:p>
          <a:p>
            <a:pPr algn="l"/>
            <a:r>
              <a:rPr sz="2000" b="0">
                <a:solidFill>
                  <a:srgbClr val="1F2937"/>
                </a:solidFill>
                <a:latin typeface="Hiragino Kaku Gothic ProN"/>
              </a:rPr>
              <a:t>・ 複数 </a:t>
            </a:r>
            <a:r>
              <a:rPr sz="2000" b="1">
                <a:solidFill>
                  <a:srgbClr val="E67E22"/>
                </a:solidFill>
                <a:latin typeface="Hiragino Kaku Gothic ProN"/>
              </a:rPr>
              <a:t>A6</a:t>
            </a:r>
            <a:r>
              <a:rPr sz="2000" b="0">
                <a:solidFill>
                  <a:srgbClr val="1F2937"/>
                </a:solidFill>
                <a:latin typeface="Hiragino Kaku Gothic ProN"/>
              </a:rPr>
              <a:t> 該当でも合算しない（最高得点を採用）。</a:t>
            </a:r>
          </a:p>
        </p:txBody>
      </p:sp>
      <p:sp>
        <p:nvSpPr>
          <p:cNvPr id="5" name="TextBox 4"/>
          <p:cNvSpPr txBox="1"/>
          <p:nvPr/>
        </p:nvSpPr>
        <p:spPr>
          <a:xfrm>
            <a:off x="457200" y="6309360"/>
            <a:ext cx="11247120" cy="457200"/>
          </a:xfrm>
          <a:prstGeom prst="rect">
            <a:avLst/>
          </a:prstGeom>
          <a:noFill/>
        </p:spPr>
        <p:txBody>
          <a:bodyPr wrap="square">
            <a:spAutoFit/>
          </a:bodyPr>
          <a:lstStyle/>
          <a:p>
            <a:pPr algn="l"/>
            <a:r>
              <a:rPr sz="1400" b="0">
                <a:solidFill>
                  <a:srgbClr val="6B7280"/>
                </a:solidFill>
                <a:latin typeface="Hiragino Kaku Gothic ProN"/>
              </a:rPr>
              <a:t>📌 残したい行動: 薬剤名、投与経路、投与日、目的を当日記録する</a:t>
            </a:r>
          </a:p>
        </p:txBody>
      </p:sp>
    </p:spTree>
    <p:extLst>
      <p:ext uri="{BB962C8B-B14F-4D97-AF65-F5344CB8AC3E}">
        <p14:creationId xmlns:p14="http://schemas.microsoft.com/office/powerpoint/2010/main" val="747990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11247120" cy="1280160"/>
          </a:xfrm>
          <a:prstGeom prst="rect">
            <a:avLst/>
          </a:prstGeom>
          <a:noFill/>
        </p:spPr>
        <p:txBody>
          <a:bodyPr wrap="square">
            <a:spAutoFit/>
          </a:bodyPr>
          <a:lstStyle/>
          <a:p>
            <a:pPr algn="l"/>
            <a:r>
              <a:rPr sz="2800" b="1">
                <a:solidFill>
                  <a:srgbClr val="374151"/>
                </a:solidFill>
                <a:latin typeface="Hiragino Kaku Gothic ProN"/>
              </a:rPr>
              <a:t>内科処置・検査は </a:t>
            </a:r>
            <a:r>
              <a:rPr sz="2800" b="1">
                <a:solidFill>
                  <a:srgbClr val="16A34A"/>
                </a:solidFill>
                <a:latin typeface="Hiragino Kaku Gothic ProN"/>
              </a:rPr>
              <a:t>C 項目（C21〜C23）</a:t>
            </a:r>
            <a:r>
              <a:rPr sz="2800" b="1">
                <a:solidFill>
                  <a:srgbClr val="374151"/>
                </a:solidFill>
                <a:latin typeface="Hiragino Kaku Gothic ProN"/>
              </a:rPr>
              <a:t>ごとに有効日数が異なります</a:t>
            </a:r>
          </a:p>
          <a:p>
            <a:pPr algn="l"/>
            <a:r>
              <a:rPr sz="1200" b="0">
                <a:solidFill>
                  <a:srgbClr val="6B7280"/>
                </a:solidFill>
                <a:latin typeface="Hiragino Kaku Gothic ProN"/>
              </a:rPr>
              <a:t>スライド 9</a:t>
            </a:r>
          </a:p>
        </p:txBody>
      </p:sp>
      <p:sp>
        <p:nvSpPr>
          <p:cNvPr id="3" name="TextBox 2"/>
          <p:cNvSpPr txBox="1"/>
          <p:nvPr/>
        </p:nvSpPr>
        <p:spPr>
          <a:xfrm>
            <a:off x="457200" y="2011680"/>
            <a:ext cx="11247120" cy="2194560"/>
          </a:xfrm>
          <a:prstGeom prst="rect">
            <a:avLst/>
          </a:prstGeom>
          <a:noFill/>
        </p:spPr>
        <p:txBody>
          <a:bodyPr wrap="square">
            <a:spAutoFit/>
          </a:bodyPr>
          <a:lstStyle/>
          <a:p>
            <a:pPr algn="ctr"/>
            <a:r>
              <a:rPr sz="4400" b="1" dirty="0">
                <a:solidFill>
                  <a:srgbClr val="16A34A"/>
                </a:solidFill>
                <a:latin typeface="Hiragino Kaku Gothic ProN"/>
              </a:rPr>
              <a:t>C22（救命等に係る内科的治療）</a:t>
            </a:r>
            <a:r>
              <a:rPr sz="4400" b="1" dirty="0">
                <a:solidFill>
                  <a:srgbClr val="1F2937"/>
                </a:solidFill>
                <a:latin typeface="Hiragino Kaku Gothic ProN"/>
              </a:rPr>
              <a:t>= 2日</a:t>
            </a:r>
          </a:p>
          <a:p>
            <a:pPr algn="ctr"/>
            <a:r>
              <a:rPr sz="4400" b="1" dirty="0">
                <a:solidFill>
                  <a:srgbClr val="16A34A"/>
                </a:solidFill>
                <a:latin typeface="Hiragino Kaku Gothic ProN"/>
              </a:rPr>
              <a:t>C21（別に定める検査）</a:t>
            </a:r>
            <a:r>
              <a:rPr sz="4400" b="1" dirty="0">
                <a:solidFill>
                  <a:srgbClr val="1F2937"/>
                </a:solidFill>
                <a:latin typeface="Hiragino Kaku Gothic ProN"/>
              </a:rPr>
              <a:t>= 4日</a:t>
            </a:r>
          </a:p>
          <a:p>
            <a:pPr algn="ctr"/>
            <a:r>
              <a:rPr sz="4400" b="1" dirty="0">
                <a:solidFill>
                  <a:srgbClr val="16A34A"/>
                </a:solidFill>
                <a:latin typeface="Hiragino Kaku Gothic ProN"/>
              </a:rPr>
              <a:t>C23（別に定める手術）</a:t>
            </a:r>
            <a:r>
              <a:rPr sz="4400" b="1" dirty="0">
                <a:solidFill>
                  <a:srgbClr val="1F2937"/>
                </a:solidFill>
                <a:latin typeface="Hiragino Kaku Gothic ProN"/>
              </a:rPr>
              <a:t>= 5日</a:t>
            </a:r>
          </a:p>
        </p:txBody>
      </p:sp>
      <p:sp>
        <p:nvSpPr>
          <p:cNvPr id="4" name="TextBox 3"/>
          <p:cNvSpPr txBox="1"/>
          <p:nvPr/>
        </p:nvSpPr>
        <p:spPr>
          <a:xfrm>
            <a:off x="457200" y="4389120"/>
            <a:ext cx="11247120" cy="1828800"/>
          </a:xfrm>
          <a:prstGeom prst="rect">
            <a:avLst/>
          </a:prstGeom>
          <a:noFill/>
        </p:spPr>
        <p:txBody>
          <a:bodyPr wrap="square">
            <a:spAutoFit/>
          </a:bodyPr>
          <a:lstStyle/>
          <a:p>
            <a:pPr algn="l"/>
            <a:r>
              <a:rPr sz="2000" b="0">
                <a:solidFill>
                  <a:srgbClr val="1F2937"/>
                </a:solidFill>
                <a:latin typeface="Hiragino Kaku Gothic ProN"/>
              </a:rPr>
              <a:t>・ </a:t>
            </a:r>
            <a:r>
              <a:rPr sz="2000" b="1">
                <a:solidFill>
                  <a:srgbClr val="16A34A"/>
                </a:solidFill>
                <a:latin typeface="Hiragino Kaku Gothic ProN"/>
              </a:rPr>
              <a:t>C22（救命等に係る内科的治療／2日）</a:t>
            </a:r>
            <a:r>
              <a:rPr sz="2000" b="0">
                <a:solidFill>
                  <a:srgbClr val="1F2937"/>
                </a:solidFill>
                <a:latin typeface="Hiragino Kaku Gothic ProN"/>
              </a:rPr>
              <a:t>: 経食道心エコー、気管支鏡 等</a:t>
            </a:r>
          </a:p>
          <a:p>
            <a:pPr algn="l"/>
            <a:r>
              <a:rPr sz="2000" b="0">
                <a:solidFill>
                  <a:srgbClr val="1F2937"/>
                </a:solidFill>
                <a:latin typeface="Hiragino Kaku Gothic ProN"/>
              </a:rPr>
              <a:t>・ </a:t>
            </a:r>
            <a:r>
              <a:rPr sz="2000" b="1">
                <a:solidFill>
                  <a:srgbClr val="16A34A"/>
                </a:solidFill>
                <a:latin typeface="Hiragino Kaku Gothic ProN"/>
              </a:rPr>
              <a:t>C21（別に定める検査／4日）</a:t>
            </a:r>
            <a:r>
              <a:rPr sz="2000" b="0">
                <a:solidFill>
                  <a:srgbClr val="1F2937"/>
                </a:solidFill>
                <a:latin typeface="Hiragino Kaku Gothic ProN"/>
              </a:rPr>
              <a:t>: CV 挿入、腰椎穿刺、CHDF、ERCP、内視鏡止血 等</a:t>
            </a:r>
          </a:p>
          <a:p>
            <a:pPr algn="l"/>
            <a:r>
              <a:rPr sz="2000" b="0">
                <a:solidFill>
                  <a:srgbClr val="1F2937"/>
                </a:solidFill>
                <a:latin typeface="Hiragino Kaku Gothic ProN"/>
              </a:rPr>
              <a:t>・ </a:t>
            </a:r>
            <a:r>
              <a:rPr sz="2000" b="1">
                <a:solidFill>
                  <a:srgbClr val="16A34A"/>
                </a:solidFill>
                <a:latin typeface="Hiragino Kaku Gothic ProN"/>
              </a:rPr>
              <a:t>C23（別に定める手術／5日）</a:t>
            </a:r>
            <a:r>
              <a:rPr sz="2000" b="0">
                <a:solidFill>
                  <a:srgbClr val="1F2937"/>
                </a:solidFill>
                <a:latin typeface="Hiragino Kaku Gothic ProN"/>
              </a:rPr>
              <a:t>: PEG、CART、PTCD、消化管ステント 等</a:t>
            </a:r>
          </a:p>
        </p:txBody>
      </p:sp>
      <p:sp>
        <p:nvSpPr>
          <p:cNvPr id="5" name="TextBox 4"/>
          <p:cNvSpPr txBox="1"/>
          <p:nvPr/>
        </p:nvSpPr>
        <p:spPr>
          <a:xfrm>
            <a:off x="457200" y="6309360"/>
            <a:ext cx="11247120" cy="457200"/>
          </a:xfrm>
          <a:prstGeom prst="rect">
            <a:avLst/>
          </a:prstGeom>
          <a:noFill/>
        </p:spPr>
        <p:txBody>
          <a:bodyPr wrap="square">
            <a:spAutoFit/>
          </a:bodyPr>
          <a:lstStyle/>
          <a:p>
            <a:pPr algn="l"/>
            <a:r>
              <a:rPr sz="1400" b="0">
                <a:solidFill>
                  <a:srgbClr val="6B7280"/>
                </a:solidFill>
                <a:latin typeface="Hiragino Kaku Gothic ProN"/>
              </a:rPr>
              <a:t>📌 残したい行動: 処置をした日に「C 項目候補」と医事へつなぐ</a:t>
            </a:r>
          </a:p>
        </p:txBody>
      </p:sp>
    </p:spTree>
    <p:extLst>
      <p:ext uri="{BB962C8B-B14F-4D97-AF65-F5344CB8AC3E}">
        <p14:creationId xmlns:p14="http://schemas.microsoft.com/office/powerpoint/2010/main" val="2235778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11247120" cy="1280160"/>
          </a:xfrm>
          <a:prstGeom prst="rect">
            <a:avLst/>
          </a:prstGeom>
          <a:noFill/>
        </p:spPr>
        <p:txBody>
          <a:bodyPr wrap="square">
            <a:spAutoFit/>
          </a:bodyPr>
          <a:lstStyle/>
          <a:p>
            <a:pPr algn="l"/>
            <a:r>
              <a:rPr sz="2800" b="1">
                <a:solidFill>
                  <a:srgbClr val="374151"/>
                </a:solidFill>
                <a:latin typeface="Hiragino Kaku Gothic ProN"/>
              </a:rPr>
              <a:t>ペイン科は「薬剤名・目的・投与日」を残すだけで </a:t>
            </a:r>
            <a:r>
              <a:rPr sz="2800" b="1">
                <a:solidFill>
                  <a:srgbClr val="E67E22"/>
                </a:solidFill>
                <a:latin typeface="Hiragino Kaku Gothic ProN"/>
              </a:rPr>
              <a:t>A6（専門的な治療・処置）</a:t>
            </a:r>
            <a:r>
              <a:rPr sz="2800" b="1">
                <a:solidFill>
                  <a:srgbClr val="374151"/>
                </a:solidFill>
                <a:latin typeface="Hiragino Kaku Gothic ProN"/>
              </a:rPr>
              <a:t>の改善余地があります</a:t>
            </a:r>
          </a:p>
          <a:p>
            <a:pPr algn="l"/>
            <a:r>
              <a:rPr sz="1200" b="0">
                <a:solidFill>
                  <a:srgbClr val="6B7280"/>
                </a:solidFill>
                <a:latin typeface="Hiragino Kaku Gothic ProN"/>
              </a:rPr>
              <a:t>スライド 10</a:t>
            </a:r>
          </a:p>
        </p:txBody>
      </p:sp>
      <p:sp>
        <p:nvSpPr>
          <p:cNvPr id="3" name="TextBox 2"/>
          <p:cNvSpPr txBox="1"/>
          <p:nvPr/>
        </p:nvSpPr>
        <p:spPr>
          <a:xfrm>
            <a:off x="457200" y="2011680"/>
            <a:ext cx="11247120" cy="2194560"/>
          </a:xfrm>
          <a:prstGeom prst="rect">
            <a:avLst/>
          </a:prstGeom>
          <a:noFill/>
        </p:spPr>
        <p:txBody>
          <a:bodyPr wrap="square">
            <a:spAutoFit/>
          </a:bodyPr>
          <a:lstStyle/>
          <a:p>
            <a:pPr algn="ctr"/>
            <a:r>
              <a:rPr sz="4400" b="1" dirty="0">
                <a:solidFill>
                  <a:srgbClr val="1F2937"/>
                </a:solidFill>
                <a:latin typeface="Hiragino Kaku Gothic ProN"/>
              </a:rPr>
              <a:t>治療実態を </a:t>
            </a:r>
            <a:r>
              <a:rPr sz="4400" b="1" dirty="0">
                <a:solidFill>
                  <a:srgbClr val="E67E22"/>
                </a:solidFill>
                <a:latin typeface="Hiragino Kaku Gothic ProN"/>
              </a:rPr>
              <a:t>A6（専門的な治療・処置）</a:t>
            </a:r>
            <a:r>
              <a:rPr sz="4400" b="1" dirty="0">
                <a:solidFill>
                  <a:srgbClr val="1F2937"/>
                </a:solidFill>
                <a:latin typeface="Hiragino Kaku Gothic ProN"/>
              </a:rPr>
              <a:t>候補として照合する</a:t>
            </a:r>
          </a:p>
        </p:txBody>
      </p:sp>
      <p:sp>
        <p:nvSpPr>
          <p:cNvPr id="4" name="TextBox 3"/>
          <p:cNvSpPr txBox="1"/>
          <p:nvPr/>
        </p:nvSpPr>
        <p:spPr>
          <a:xfrm>
            <a:off x="457200" y="4389120"/>
            <a:ext cx="11247120" cy="1828800"/>
          </a:xfrm>
          <a:prstGeom prst="rect">
            <a:avLst/>
          </a:prstGeom>
          <a:noFill/>
        </p:spPr>
        <p:txBody>
          <a:bodyPr wrap="square">
            <a:spAutoFit/>
          </a:bodyPr>
          <a:lstStyle/>
          <a:p>
            <a:pPr algn="l"/>
            <a:r>
              <a:rPr sz="2000" b="0">
                <a:solidFill>
                  <a:srgbClr val="1F2937"/>
                </a:solidFill>
                <a:latin typeface="Hiragino Kaku Gothic ProN"/>
              </a:rPr>
              <a:t>・ 薬剤名 → コード照合 → 投与日記録 → 該当日 のフローを徹底。</a:t>
            </a:r>
          </a:p>
          <a:p>
            <a:pPr algn="l"/>
            <a:r>
              <a:rPr sz="2000" b="0">
                <a:solidFill>
                  <a:srgbClr val="1F2937"/>
                </a:solidFill>
                <a:latin typeface="Hiragino Kaku Gothic ProN"/>
              </a:rPr>
              <a:t>・ ペイン科は在院日数が長く、6F の稼働率を支えています。</a:t>
            </a:r>
          </a:p>
          <a:p>
            <a:pPr algn="l"/>
            <a:r>
              <a:rPr sz="2000" b="0">
                <a:solidFill>
                  <a:srgbClr val="1F2937"/>
                </a:solidFill>
                <a:latin typeface="Hiragino Kaku Gothic ProN"/>
              </a:rPr>
              <a:t>・ 点数目的ではなく、適応ある治療の可視化です。</a:t>
            </a:r>
          </a:p>
        </p:txBody>
      </p:sp>
      <p:sp>
        <p:nvSpPr>
          <p:cNvPr id="5" name="TextBox 4"/>
          <p:cNvSpPr txBox="1"/>
          <p:nvPr/>
        </p:nvSpPr>
        <p:spPr>
          <a:xfrm>
            <a:off x="457200" y="6309360"/>
            <a:ext cx="11247120" cy="457200"/>
          </a:xfrm>
          <a:prstGeom prst="rect">
            <a:avLst/>
          </a:prstGeom>
          <a:noFill/>
        </p:spPr>
        <p:txBody>
          <a:bodyPr wrap="square">
            <a:spAutoFit/>
          </a:bodyPr>
          <a:lstStyle/>
          <a:p>
            <a:pPr algn="l"/>
            <a:r>
              <a:rPr sz="1400" b="0">
                <a:solidFill>
                  <a:srgbClr val="6B7280"/>
                </a:solidFill>
                <a:latin typeface="Hiragino Kaku Gothic ProN"/>
              </a:rPr>
              <a:t>📌 残したい行動: ペイン科症例は週 1 回、A6 候補を医師・看護師・医事で照合する</a:t>
            </a:r>
          </a:p>
        </p:txBody>
      </p:sp>
    </p:spTree>
    <p:extLst>
      <p:ext uri="{BB962C8B-B14F-4D97-AF65-F5344CB8AC3E}">
        <p14:creationId xmlns:p14="http://schemas.microsoft.com/office/powerpoint/2010/main" val="2003340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11247120" cy="1280160"/>
          </a:xfrm>
          <a:prstGeom prst="rect">
            <a:avLst/>
          </a:prstGeom>
          <a:noFill/>
        </p:spPr>
        <p:txBody>
          <a:bodyPr wrap="square">
            <a:spAutoFit/>
          </a:bodyPr>
          <a:lstStyle/>
          <a:p>
            <a:pPr algn="l"/>
            <a:r>
              <a:rPr sz="2800" b="1">
                <a:solidFill>
                  <a:srgbClr val="E67E22"/>
                </a:solidFill>
                <a:latin typeface="Hiragino Kaku Gothic ProN"/>
              </a:rPr>
              <a:t>A7（救急搬送後の入院）</a:t>
            </a:r>
            <a:r>
              <a:rPr sz="2800" b="1">
                <a:solidFill>
                  <a:srgbClr val="374151"/>
                </a:solidFill>
                <a:latin typeface="Hiragino Kaku Gothic ProN"/>
              </a:rPr>
              <a:t>は入院初期 2 日間だけです</a:t>
            </a:r>
          </a:p>
          <a:p>
            <a:pPr algn="l"/>
            <a:r>
              <a:rPr sz="1200" b="0">
                <a:solidFill>
                  <a:srgbClr val="6B7280"/>
                </a:solidFill>
                <a:latin typeface="Hiragino Kaku Gothic ProN"/>
              </a:rPr>
              <a:t>スライド 11</a:t>
            </a:r>
          </a:p>
        </p:txBody>
      </p:sp>
      <p:sp>
        <p:nvSpPr>
          <p:cNvPr id="3" name="TextBox 2"/>
          <p:cNvSpPr txBox="1"/>
          <p:nvPr/>
        </p:nvSpPr>
        <p:spPr>
          <a:xfrm>
            <a:off x="457200" y="2011680"/>
            <a:ext cx="11247120" cy="2194560"/>
          </a:xfrm>
          <a:prstGeom prst="rect">
            <a:avLst/>
          </a:prstGeom>
          <a:noFill/>
        </p:spPr>
        <p:txBody>
          <a:bodyPr wrap="square">
            <a:spAutoFit/>
          </a:bodyPr>
          <a:lstStyle/>
          <a:p>
            <a:pPr algn="ctr"/>
            <a:r>
              <a:rPr sz="4400" b="1" dirty="0">
                <a:solidFill>
                  <a:srgbClr val="1F2937"/>
                </a:solidFill>
                <a:latin typeface="Hiragino Kaku Gothic ProN"/>
              </a:rPr>
              <a:t>3 日目から </a:t>
            </a:r>
            <a:r>
              <a:rPr sz="4400" b="1" dirty="0">
                <a:solidFill>
                  <a:srgbClr val="E67E22"/>
                </a:solidFill>
                <a:latin typeface="Hiragino Kaku Gothic ProN"/>
              </a:rPr>
              <a:t>A7</a:t>
            </a:r>
            <a:r>
              <a:rPr sz="4400" b="1" dirty="0">
                <a:solidFill>
                  <a:srgbClr val="1F2937"/>
                </a:solidFill>
                <a:latin typeface="Hiragino Kaku Gothic ProN"/>
              </a:rPr>
              <a:t> が落ちる前提で、次の </a:t>
            </a:r>
            <a:r>
              <a:rPr sz="4400" b="1" dirty="0">
                <a:solidFill>
                  <a:srgbClr val="E67E22"/>
                </a:solidFill>
                <a:latin typeface="Hiragino Kaku Gothic ProN"/>
              </a:rPr>
              <a:t>A</a:t>
            </a:r>
            <a:r>
              <a:rPr sz="4400" b="1" dirty="0">
                <a:solidFill>
                  <a:srgbClr val="1F2937"/>
                </a:solidFill>
                <a:latin typeface="Hiragino Kaku Gothic ProN"/>
              </a:rPr>
              <a:t>/</a:t>
            </a:r>
            <a:r>
              <a:rPr sz="4400" b="1" dirty="0">
                <a:solidFill>
                  <a:srgbClr val="16A34A"/>
                </a:solidFill>
                <a:latin typeface="Hiragino Kaku Gothic ProN"/>
              </a:rPr>
              <a:t>C</a:t>
            </a:r>
            <a:r>
              <a:rPr sz="4400" b="1" dirty="0">
                <a:solidFill>
                  <a:srgbClr val="1F2937"/>
                </a:solidFill>
                <a:latin typeface="Hiragino Kaku Gothic ProN"/>
              </a:rPr>
              <a:t> を探す</a:t>
            </a:r>
          </a:p>
        </p:txBody>
      </p:sp>
      <p:sp>
        <p:nvSpPr>
          <p:cNvPr id="4" name="TextBox 3"/>
          <p:cNvSpPr txBox="1"/>
          <p:nvPr/>
        </p:nvSpPr>
        <p:spPr>
          <a:xfrm>
            <a:off x="457200" y="4389120"/>
            <a:ext cx="11247120" cy="1828800"/>
          </a:xfrm>
          <a:prstGeom prst="rect">
            <a:avLst/>
          </a:prstGeom>
          <a:noFill/>
        </p:spPr>
        <p:txBody>
          <a:bodyPr wrap="square">
            <a:spAutoFit/>
          </a:bodyPr>
          <a:lstStyle/>
          <a:p>
            <a:pPr algn="l"/>
            <a:r>
              <a:rPr sz="2000" b="0">
                <a:solidFill>
                  <a:srgbClr val="1F2937"/>
                </a:solidFill>
                <a:latin typeface="Hiragino Kaku Gothic ProN"/>
              </a:rPr>
              <a:t>・ Day1-2: </a:t>
            </a:r>
            <a:r>
              <a:rPr sz="2000" b="1">
                <a:solidFill>
                  <a:srgbClr val="E67E22"/>
                </a:solidFill>
                <a:latin typeface="Hiragino Kaku Gothic ProN"/>
              </a:rPr>
              <a:t>A7（救急搬送後の入院／2 点）</a:t>
            </a:r>
            <a:r>
              <a:rPr sz="2000" b="0">
                <a:solidFill>
                  <a:srgbClr val="1F2937"/>
                </a:solidFill>
                <a:latin typeface="Hiragino Kaku Gothic ProN"/>
              </a:rPr>
              <a:t>でカバー。</a:t>
            </a:r>
          </a:p>
          <a:p>
            <a:pPr algn="l"/>
            <a:r>
              <a:rPr sz="2000" b="0">
                <a:solidFill>
                  <a:srgbClr val="1F2937"/>
                </a:solidFill>
                <a:latin typeface="Hiragino Kaku Gothic ProN"/>
              </a:rPr>
              <a:t>・ Day3 以降: </a:t>
            </a:r>
            <a:r>
              <a:rPr sz="2000" b="1">
                <a:solidFill>
                  <a:srgbClr val="E67E22"/>
                </a:solidFill>
                <a:latin typeface="Hiragino Kaku Gothic ProN"/>
              </a:rPr>
              <a:t>A2（呼吸ケア）/A3（注射薬剤3種類）/A6（専門的な治療・処置）</a:t>
            </a:r>
            <a:r>
              <a:rPr sz="2000" b="0">
                <a:solidFill>
                  <a:srgbClr val="1F2937"/>
                </a:solidFill>
                <a:latin typeface="Hiragino Kaku Gothic ProN"/>
              </a:rPr>
              <a:t>または </a:t>
            </a:r>
            <a:r>
              <a:rPr sz="2000" b="1">
                <a:solidFill>
                  <a:srgbClr val="16A34A"/>
                </a:solidFill>
                <a:latin typeface="Hiragino Kaku Gothic ProN"/>
              </a:rPr>
              <a:t>C 項目</a:t>
            </a:r>
            <a:r>
              <a:rPr sz="2000" b="0">
                <a:solidFill>
                  <a:srgbClr val="1F2937"/>
                </a:solidFill>
                <a:latin typeface="Hiragino Kaku Gothic ProN"/>
              </a:rPr>
              <a:t>で維持。</a:t>
            </a:r>
          </a:p>
        </p:txBody>
      </p:sp>
      <p:sp>
        <p:nvSpPr>
          <p:cNvPr id="5" name="TextBox 4"/>
          <p:cNvSpPr txBox="1"/>
          <p:nvPr/>
        </p:nvSpPr>
        <p:spPr>
          <a:xfrm>
            <a:off x="457200" y="6309360"/>
            <a:ext cx="11247120" cy="457200"/>
          </a:xfrm>
          <a:prstGeom prst="rect">
            <a:avLst/>
          </a:prstGeom>
          <a:noFill/>
        </p:spPr>
        <p:txBody>
          <a:bodyPr wrap="square">
            <a:spAutoFit/>
          </a:bodyPr>
          <a:lstStyle/>
          <a:p>
            <a:pPr algn="l"/>
            <a:r>
              <a:rPr sz="1400" b="0">
                <a:solidFill>
                  <a:srgbClr val="6B7280"/>
                </a:solidFill>
                <a:latin typeface="Hiragino Kaku Gothic ProN"/>
              </a:rPr>
              <a:t>📌 残したい行動: 入院 3 日目の朝に、A7 後の受け皿を確認する</a:t>
            </a:r>
          </a:p>
        </p:txBody>
      </p:sp>
    </p:spTree>
    <p:extLst>
      <p:ext uri="{BB962C8B-B14F-4D97-AF65-F5344CB8AC3E}">
        <p14:creationId xmlns:p14="http://schemas.microsoft.com/office/powerpoint/2010/main" val="869520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11247120" cy="1280160"/>
          </a:xfrm>
          <a:prstGeom prst="rect">
            <a:avLst/>
          </a:prstGeom>
          <a:noFill/>
        </p:spPr>
        <p:txBody>
          <a:bodyPr wrap="square">
            <a:spAutoFit/>
          </a:bodyPr>
          <a:lstStyle/>
          <a:p>
            <a:pPr algn="l"/>
            <a:r>
              <a:rPr sz="2800" b="1">
                <a:solidFill>
                  <a:srgbClr val="374151"/>
                </a:solidFill>
                <a:latin typeface="Hiragino Kaku Gothic ProN"/>
              </a:rPr>
              <a:t>明日から変えるのは、3 つだけです</a:t>
            </a:r>
          </a:p>
          <a:p>
            <a:pPr algn="l"/>
            <a:r>
              <a:rPr sz="1200" b="0">
                <a:solidFill>
                  <a:srgbClr val="6B7280"/>
                </a:solidFill>
                <a:latin typeface="Hiragino Kaku Gothic ProN"/>
              </a:rPr>
              <a:t>スライド 14</a:t>
            </a:r>
          </a:p>
        </p:txBody>
      </p:sp>
      <p:sp>
        <p:nvSpPr>
          <p:cNvPr id="3" name="TextBox 2"/>
          <p:cNvSpPr txBox="1"/>
          <p:nvPr/>
        </p:nvSpPr>
        <p:spPr>
          <a:xfrm>
            <a:off x="457200" y="2011680"/>
            <a:ext cx="11247120" cy="1446550"/>
          </a:xfrm>
          <a:prstGeom prst="rect">
            <a:avLst/>
          </a:prstGeom>
          <a:noFill/>
        </p:spPr>
        <p:txBody>
          <a:bodyPr wrap="square">
            <a:spAutoFit/>
          </a:bodyPr>
          <a:lstStyle/>
          <a:p>
            <a:pPr algn="ctr"/>
            <a:r>
              <a:rPr sz="4400" b="1" dirty="0" err="1">
                <a:solidFill>
                  <a:srgbClr val="1F2937"/>
                </a:solidFill>
                <a:latin typeface="Hiragino Kaku Gothic ProN"/>
              </a:rPr>
              <a:t>入院時</a:t>
            </a:r>
            <a:r>
              <a:rPr sz="4400" b="1" dirty="0">
                <a:solidFill>
                  <a:srgbClr val="1F2937"/>
                </a:solidFill>
                <a:latin typeface="Hiragino Kaku Gothic ProN"/>
              </a:rPr>
              <a:t> 30 </a:t>
            </a:r>
            <a:r>
              <a:rPr sz="4400" b="1" dirty="0" err="1">
                <a:solidFill>
                  <a:srgbClr val="1F2937"/>
                </a:solidFill>
                <a:latin typeface="Hiragino Kaku Gothic ProN"/>
              </a:rPr>
              <a:t>秒、朝ラウンド即答</a:t>
            </a:r>
            <a:r>
              <a:rPr sz="4400" b="1" dirty="0">
                <a:solidFill>
                  <a:srgbClr val="1F2937"/>
                </a:solidFill>
                <a:latin typeface="Hiragino Kaku Gothic ProN"/>
              </a:rPr>
              <a:t>、</a:t>
            </a:r>
            <a:r>
              <a:rPr lang="ja-JP" altLang="en-US" sz="4400" b="1">
                <a:solidFill>
                  <a:srgbClr val="1F2937"/>
                </a:solidFill>
                <a:latin typeface="Hiragino Kaku Gothic ProN"/>
              </a:rPr>
              <a:t>週一回の不足分把握で協力依頼発信</a:t>
            </a:r>
            <a:endParaRPr sz="4400" b="1" dirty="0">
              <a:solidFill>
                <a:srgbClr val="1F2937"/>
              </a:solidFill>
              <a:latin typeface="Hiragino Kaku Gothic ProN"/>
            </a:endParaRPr>
          </a:p>
        </p:txBody>
      </p:sp>
      <p:sp>
        <p:nvSpPr>
          <p:cNvPr id="4" name="TextBox 3"/>
          <p:cNvSpPr txBox="1"/>
          <p:nvPr/>
        </p:nvSpPr>
        <p:spPr>
          <a:xfrm>
            <a:off x="457200" y="4389120"/>
            <a:ext cx="11247120" cy="1828800"/>
          </a:xfrm>
          <a:prstGeom prst="rect">
            <a:avLst/>
          </a:prstGeom>
          <a:noFill/>
        </p:spPr>
        <p:txBody>
          <a:bodyPr wrap="square">
            <a:spAutoFit/>
          </a:bodyPr>
          <a:lstStyle/>
          <a:p>
            <a:pPr algn="l"/>
            <a:r>
              <a:rPr sz="2000" b="0">
                <a:solidFill>
                  <a:srgbClr val="1F2937"/>
                </a:solidFill>
                <a:latin typeface="Hiragino Kaku Gothic ProN"/>
              </a:rPr>
              <a:t>・ 医師: 入院時 30 秒で </a:t>
            </a:r>
            <a:r>
              <a:rPr sz="2000" b="1">
                <a:solidFill>
                  <a:srgbClr val="E67E22"/>
                </a:solidFill>
                <a:latin typeface="Hiragino Kaku Gothic ProN"/>
              </a:rPr>
              <a:t>A2（呼吸ケア）</a:t>
            </a:r>
            <a:r>
              <a:rPr sz="2000" b="0">
                <a:solidFill>
                  <a:srgbClr val="1F2937"/>
                </a:solidFill>
                <a:latin typeface="Hiragino Kaku Gothic ProN"/>
              </a:rPr>
              <a:t>以上 / </a:t>
            </a:r>
            <a:r>
              <a:rPr sz="2000" b="1">
                <a:solidFill>
                  <a:srgbClr val="16A34A"/>
                </a:solidFill>
                <a:latin typeface="Hiragino Kaku Gothic ProN"/>
              </a:rPr>
              <a:t>C1 以上</a:t>
            </a:r>
            <a:r>
              <a:rPr sz="2000" b="0">
                <a:solidFill>
                  <a:srgbClr val="1F2937"/>
                </a:solidFill>
                <a:latin typeface="Hiragino Kaku Gothic ProN"/>
              </a:rPr>
              <a:t> / </a:t>
            </a:r>
            <a:r>
              <a:rPr sz="2000" b="1">
                <a:solidFill>
                  <a:srgbClr val="E67E22"/>
                </a:solidFill>
                <a:latin typeface="Hiragino Kaku Gothic ProN"/>
              </a:rPr>
              <a:t>A7（救急搬送後の入院）</a:t>
            </a:r>
            <a:r>
              <a:rPr sz="2000" b="0">
                <a:solidFill>
                  <a:srgbClr val="1F2937"/>
                </a:solidFill>
                <a:latin typeface="Hiragino Kaku Gothic ProN"/>
              </a:rPr>
              <a:t>該当を考える。</a:t>
            </a:r>
          </a:p>
          <a:p>
            <a:pPr algn="l"/>
            <a:r>
              <a:rPr sz="2000" b="0">
                <a:solidFill>
                  <a:srgbClr val="1F2937"/>
                </a:solidFill>
                <a:latin typeface="Hiragino Kaku Gothic ProN"/>
              </a:rPr>
              <a:t>・ 看護師: 朝の </a:t>
            </a:r>
            <a:r>
              <a:rPr sz="2000" b="1">
                <a:solidFill>
                  <a:srgbClr val="E67E22"/>
                </a:solidFill>
                <a:latin typeface="Hiragino Kaku Gothic ProN"/>
              </a:rPr>
              <a:t>A 項目</a:t>
            </a:r>
            <a:r>
              <a:rPr sz="2000" b="0">
                <a:solidFill>
                  <a:srgbClr val="1F2937"/>
                </a:solidFill>
                <a:latin typeface="Hiragino Kaku Gothic ProN"/>
              </a:rPr>
              <a:t>評価で疑問あれば医師に当日確認、翌日に持ち越さない。</a:t>
            </a:r>
          </a:p>
          <a:p>
            <a:pPr algn="l"/>
            <a:r>
              <a:rPr sz="2000" b="0">
                <a:solidFill>
                  <a:srgbClr val="1F2937"/>
                </a:solidFill>
                <a:latin typeface="Hiragino Kaku Gothic ProN"/>
              </a:rPr>
              <a:t>・ 管理者: 週 1 回、残不足患者日を共有する。</a:t>
            </a:r>
          </a:p>
        </p:txBody>
      </p:sp>
      <p:sp>
        <p:nvSpPr>
          <p:cNvPr id="5" name="TextBox 4"/>
          <p:cNvSpPr txBox="1"/>
          <p:nvPr/>
        </p:nvSpPr>
        <p:spPr>
          <a:xfrm>
            <a:off x="457200" y="6309360"/>
            <a:ext cx="11247120" cy="457200"/>
          </a:xfrm>
          <a:prstGeom prst="rect">
            <a:avLst/>
          </a:prstGeom>
          <a:noFill/>
        </p:spPr>
        <p:txBody>
          <a:bodyPr wrap="square">
            <a:spAutoFit/>
          </a:bodyPr>
          <a:lstStyle/>
          <a:p>
            <a:pPr algn="l"/>
            <a:r>
              <a:rPr sz="1400" b="0">
                <a:solidFill>
                  <a:srgbClr val="6B7280"/>
                </a:solidFill>
                <a:latin typeface="Hiragino Kaku Gothic ProN"/>
              </a:rPr>
              <a:t>📌 残したい行動: 医師: 入院時 30 秒確認。看護師: A 項目同日確認。管理者: 週 1 回、残不足患者日を共有する</a:t>
            </a:r>
          </a:p>
        </p:txBody>
      </p:sp>
    </p:spTree>
    <p:extLst>
      <p:ext uri="{BB962C8B-B14F-4D97-AF65-F5344CB8AC3E}">
        <p14:creationId xmlns:p14="http://schemas.microsoft.com/office/powerpoint/2010/main" val="2902674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11247120" cy="1280160"/>
          </a:xfrm>
          <a:prstGeom prst="rect">
            <a:avLst/>
          </a:prstGeom>
          <a:noFill/>
        </p:spPr>
        <p:txBody>
          <a:bodyPr wrap="square">
            <a:spAutoFit/>
          </a:bodyPr>
          <a:lstStyle/>
          <a:p>
            <a:pPr algn="l"/>
            <a:r>
              <a:rPr sz="2800" b="1">
                <a:solidFill>
                  <a:srgbClr val="374151"/>
                </a:solidFill>
                <a:latin typeface="Hiragino Kaku Gothic ProN"/>
              </a:rPr>
              <a:t>医師と看護師の協力で、月 100 患者日は現実的に届きます</a:t>
            </a:r>
          </a:p>
          <a:p>
            <a:pPr algn="l"/>
            <a:r>
              <a:rPr sz="1200" b="0">
                <a:solidFill>
                  <a:srgbClr val="6B7280"/>
                </a:solidFill>
                <a:latin typeface="Hiragino Kaku Gothic ProN"/>
              </a:rPr>
              <a:t>スライド 15</a:t>
            </a:r>
          </a:p>
        </p:txBody>
      </p:sp>
      <p:sp>
        <p:nvSpPr>
          <p:cNvPr id="3" name="TextBox 2"/>
          <p:cNvSpPr txBox="1"/>
          <p:nvPr/>
        </p:nvSpPr>
        <p:spPr>
          <a:xfrm>
            <a:off x="457200" y="2011680"/>
            <a:ext cx="11247120" cy="2194560"/>
          </a:xfrm>
          <a:prstGeom prst="rect">
            <a:avLst/>
          </a:prstGeom>
          <a:noFill/>
        </p:spPr>
        <p:txBody>
          <a:bodyPr wrap="square">
            <a:spAutoFit/>
          </a:bodyPr>
          <a:lstStyle/>
          <a:p>
            <a:pPr algn="ctr"/>
            <a:r>
              <a:rPr sz="4400" b="1">
                <a:solidFill>
                  <a:srgbClr val="1F2937"/>
                </a:solidFill>
                <a:latin typeface="Hiragino Kaku Gothic ProN"/>
              </a:rPr>
              <a:t>記録 11 + </a:t>
            </a:r>
            <a:r>
              <a:rPr sz="4400" b="1">
                <a:solidFill>
                  <a:srgbClr val="E67E22"/>
                </a:solidFill>
                <a:latin typeface="Hiragino Kaku Gothic ProN"/>
              </a:rPr>
              <a:t>内科 40</a:t>
            </a:r>
            <a:r>
              <a:rPr sz="4400" b="1">
                <a:solidFill>
                  <a:srgbClr val="1F2937"/>
                </a:solidFill>
                <a:latin typeface="Hiragino Kaku Gothic ProN"/>
              </a:rPr>
              <a:t> + </a:t>
            </a:r>
            <a:r>
              <a:rPr sz="4400" b="1">
                <a:solidFill>
                  <a:srgbClr val="E67E22"/>
                </a:solidFill>
                <a:latin typeface="Hiragino Kaku Gothic ProN"/>
              </a:rPr>
              <a:t>ペイン 9</a:t>
            </a:r>
            <a:r>
              <a:rPr sz="4400" b="1">
                <a:solidFill>
                  <a:srgbClr val="1F2937"/>
                </a:solidFill>
                <a:latin typeface="Hiragino Kaku Gothic ProN"/>
              </a:rPr>
              <a:t> + </a:t>
            </a:r>
            <a:r>
              <a:rPr sz="4400" b="1">
                <a:solidFill>
                  <a:srgbClr val="16A34A"/>
                </a:solidFill>
                <a:latin typeface="Hiragino Kaku Gothic ProN"/>
              </a:rPr>
              <a:t>C 項目 40</a:t>
            </a:r>
            <a:r>
              <a:rPr sz="4400" b="1">
                <a:solidFill>
                  <a:srgbClr val="1F2937"/>
                </a:solidFill>
                <a:latin typeface="Hiragino Kaku Gothic ProN"/>
              </a:rPr>
              <a:t> = 100 患者日/月</a:t>
            </a:r>
          </a:p>
        </p:txBody>
      </p:sp>
      <p:sp>
        <p:nvSpPr>
          <p:cNvPr id="4" name="TextBox 3"/>
          <p:cNvSpPr txBox="1"/>
          <p:nvPr/>
        </p:nvSpPr>
        <p:spPr>
          <a:xfrm>
            <a:off x="457200" y="4389120"/>
            <a:ext cx="11247120" cy="1828800"/>
          </a:xfrm>
          <a:prstGeom prst="rect">
            <a:avLst/>
          </a:prstGeom>
          <a:noFill/>
        </p:spPr>
        <p:txBody>
          <a:bodyPr wrap="square">
            <a:spAutoFit/>
          </a:bodyPr>
          <a:lstStyle/>
          <a:p>
            <a:pPr algn="l">
              <a:spcAft>
                <a:spcPts val="200"/>
              </a:spcAft>
            </a:pPr>
            <a:r>
              <a:rPr sz="1800" b="1">
                <a:solidFill>
                  <a:srgbClr val="1F2937"/>
                </a:solidFill>
                <a:latin typeface="Hiragino Kaku Gothic ProN"/>
              </a:rPr>
              <a:t>記録 11</a:t>
            </a:r>
            <a:r>
              <a:rPr sz="1800" b="0">
                <a:solidFill>
                  <a:srgbClr val="6B7280"/>
                </a:solidFill>
                <a:latin typeface="Hiragino Kaku Gothic ProN"/>
              </a:rPr>
              <a:t> ← S4-5: A項目の拾い漏れを記録運用で回収（現状の未記録分）</a:t>
            </a:r>
          </a:p>
          <a:p>
            <a:pPr algn="l">
              <a:spcAft>
                <a:spcPts val="200"/>
              </a:spcAft>
            </a:pPr>
            <a:r>
              <a:rPr sz="1800" b="1">
                <a:solidFill>
                  <a:srgbClr val="E67E22"/>
                </a:solidFill>
                <a:latin typeface="Hiragino Kaku Gothic ProN"/>
              </a:rPr>
              <a:t>内科 A項目 40</a:t>
            </a:r>
            <a:r>
              <a:rPr sz="1800" b="0">
                <a:solidFill>
                  <a:srgbClr val="6B7280"/>
                </a:solidFill>
                <a:latin typeface="Hiragino Kaku Gothic ProN"/>
              </a:rPr>
              <a:t> ← S7-8: 肺炎等 A2/A3 維持＋敗血症 A6 の適正評価</a:t>
            </a:r>
          </a:p>
          <a:p>
            <a:pPr algn="l">
              <a:spcAft>
                <a:spcPts val="200"/>
              </a:spcAft>
            </a:pPr>
            <a:r>
              <a:rPr sz="1800" b="1">
                <a:solidFill>
                  <a:srgbClr val="E67E22"/>
                </a:solidFill>
                <a:latin typeface="Hiragino Kaku Gothic ProN"/>
              </a:rPr>
              <a:t>ペイン A6  9</a:t>
            </a:r>
            <a:r>
              <a:rPr sz="1800" b="0">
                <a:solidFill>
                  <a:srgbClr val="6B7280"/>
                </a:solidFill>
                <a:latin typeface="Hiragino Kaku Gothic ProN"/>
              </a:rPr>
              <a:t> ← S10: 薬剤名・目的・投与日の記録で A6 候補を照合</a:t>
            </a:r>
          </a:p>
          <a:p>
            <a:pPr algn="l">
              <a:spcAft>
                <a:spcPts val="200"/>
              </a:spcAft>
            </a:pPr>
            <a:r>
              <a:rPr sz="1800" b="1">
                <a:solidFill>
                  <a:srgbClr val="16A34A"/>
                </a:solidFill>
                <a:latin typeface="Hiragino Kaku Gothic ProN"/>
              </a:rPr>
              <a:t>C項目 40</a:t>
            </a:r>
            <a:r>
              <a:rPr sz="1800" b="0">
                <a:solidFill>
                  <a:srgbClr val="6B7280"/>
                </a:solidFill>
                <a:latin typeface="Hiragino Kaku Gothic ProN"/>
              </a:rPr>
              <a:t> ← S9: C21/C22/C23 のコード漏れ防止（検査16＋内科治療4＋手術20）</a:t>
            </a:r>
          </a:p>
        </p:txBody>
      </p:sp>
      <p:sp>
        <p:nvSpPr>
          <p:cNvPr id="5" name="TextBox 4"/>
          <p:cNvSpPr txBox="1"/>
          <p:nvPr/>
        </p:nvSpPr>
        <p:spPr>
          <a:xfrm>
            <a:off x="457200" y="6309360"/>
            <a:ext cx="11247120" cy="457200"/>
          </a:xfrm>
          <a:prstGeom prst="rect">
            <a:avLst/>
          </a:prstGeom>
          <a:noFill/>
        </p:spPr>
        <p:txBody>
          <a:bodyPr wrap="square">
            <a:spAutoFit/>
          </a:bodyPr>
          <a:lstStyle/>
          <a:p>
            <a:pPr algn="l"/>
            <a:r>
              <a:rPr sz="1400" b="0">
                <a:solidFill>
                  <a:srgbClr val="6B7280"/>
                </a:solidFill>
                <a:latin typeface="Hiragino Kaku Gothic ProN"/>
              </a:rPr>
              <a:t>📌 残したい行動: 次週から 6F で「残不足患者日/月」を運用 KPI にする</a:t>
            </a:r>
          </a:p>
        </p:txBody>
      </p:sp>
    </p:spTree>
    <p:extLst>
      <p:ext uri="{BB962C8B-B14F-4D97-AF65-F5344CB8AC3E}">
        <p14:creationId xmlns:p14="http://schemas.microsoft.com/office/powerpoint/2010/main" val="690679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28600"/>
            <a:ext cx="11430000" cy="822960"/>
          </a:xfrm>
          <a:prstGeom prst="rect">
            <a:avLst/>
          </a:prstGeom>
          <a:noFill/>
        </p:spPr>
        <p:txBody>
          <a:bodyPr wrap="square">
            <a:spAutoFit/>
          </a:bodyPr>
          <a:lstStyle/>
          <a:p>
            <a:pPr algn="l"/>
            <a:r>
              <a:rPr sz="2200" b="1">
                <a:solidFill>
                  <a:srgbClr val="374151"/>
                </a:solidFill>
                <a:latin typeface="Hiragino Kaku Gothic ProN"/>
              </a:rPr>
              <a:t>新基準が求める内科型の地域包括医療病棟である 6 階病棟の医療提供の工夫</a:t>
            </a:r>
          </a:p>
        </p:txBody>
      </p:sp>
      <p:sp>
        <p:nvSpPr>
          <p:cNvPr id="3" name="TextBox 2"/>
          <p:cNvSpPr txBox="1"/>
          <p:nvPr/>
        </p:nvSpPr>
        <p:spPr>
          <a:xfrm>
            <a:off x="365760" y="1051560"/>
            <a:ext cx="11430000" cy="640080"/>
          </a:xfrm>
          <a:prstGeom prst="rect">
            <a:avLst/>
          </a:prstGeom>
          <a:noFill/>
        </p:spPr>
        <p:txBody>
          <a:bodyPr wrap="square">
            <a:spAutoFit/>
          </a:bodyPr>
          <a:lstStyle/>
          <a:p>
            <a:pPr algn="ctr"/>
            <a:r>
              <a:rPr sz="2000" b="1">
                <a:solidFill>
                  <a:srgbClr val="10B981"/>
                </a:solidFill>
                <a:latin typeface="Hiragino Kaku Gothic ProN"/>
              </a:rPr>
              <a:t>「記録する」だけでなく「選ぶ」 ― 医学的適応の中で A6 / C 項目に貢献する選択肢を取る</a:t>
            </a:r>
          </a:p>
        </p:txBody>
      </p:sp>
      <p:sp>
        <p:nvSpPr>
          <p:cNvPr id="4" name="TextBox 3"/>
          <p:cNvSpPr txBox="1"/>
          <p:nvPr/>
        </p:nvSpPr>
        <p:spPr>
          <a:xfrm>
            <a:off x="365760" y="1691640"/>
            <a:ext cx="11430000" cy="365760"/>
          </a:xfrm>
          <a:prstGeom prst="rect">
            <a:avLst/>
          </a:prstGeom>
          <a:noFill/>
        </p:spPr>
        <p:txBody>
          <a:bodyPr wrap="square">
            <a:spAutoFit/>
          </a:bodyPr>
          <a:lstStyle/>
          <a:p>
            <a:pPr algn="ctr"/>
            <a:r>
              <a:rPr sz="1100" b="0">
                <a:solidFill>
                  <a:srgbClr val="6B7280"/>
                </a:solidFill>
                <a:latin typeface="Hiragino Kaku Gothic ProN"/>
              </a:rPr>
              <a:t>前提: 適応外の処置は絶対に行わない / 医学的判断は変わらない / 複数の選択肢がある中での「選び方」の問題として捉える</a:t>
            </a:r>
          </a:p>
        </p:txBody>
      </p:sp>
      <p:graphicFrame>
        <p:nvGraphicFramePr>
          <p:cNvPr id="5" name="Table 4"/>
          <p:cNvGraphicFramePr>
            <a:graphicFrameLocks noGrp="1"/>
          </p:cNvGraphicFramePr>
          <p:nvPr/>
        </p:nvGraphicFramePr>
        <p:xfrm>
          <a:off x="365760" y="2148840"/>
          <a:ext cx="11430000" cy="39319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491490">
                <a:tc>
                  <a:txBody>
                    <a:bodyPr/>
                    <a:lstStyle/>
                    <a:p>
                      <a:pPr algn="ctr"/>
                      <a:r>
                        <a:rPr sz="1300" b="1">
                          <a:solidFill>
                            <a:srgbClr val="374151"/>
                          </a:solidFill>
                          <a:latin typeface="Hiragino Kaku Gothic ProN"/>
                        </a:rPr>
                        <a:t>項目</a:t>
                      </a:r>
                    </a:p>
                  </a:txBody>
                  <a:tcPr>
                    <a:solidFill>
                      <a:srgbClr val="F3F4F6"/>
                    </a:solidFill>
                  </a:tcPr>
                </a:tc>
                <a:tc>
                  <a:txBody>
                    <a:bodyPr/>
                    <a:lstStyle/>
                    <a:p>
                      <a:pPr algn="ctr"/>
                      <a:r>
                        <a:rPr sz="1300" b="1">
                          <a:solidFill>
                            <a:srgbClr val="374151"/>
                          </a:solidFill>
                          <a:latin typeface="Hiragino Kaku Gothic ProN"/>
                        </a:rPr>
                        <a:t>現状の医療提供</a:t>
                      </a:r>
                    </a:p>
                  </a:txBody>
                  <a:tcPr>
                    <a:solidFill>
                      <a:srgbClr val="F3F4F6"/>
                    </a:solidFill>
                  </a:tcPr>
                </a:tc>
                <a:tc>
                  <a:txBody>
                    <a:bodyPr/>
                    <a:lstStyle/>
                    <a:p>
                      <a:pPr algn="ctr"/>
                      <a:r>
                        <a:rPr sz="1300" b="1">
                          <a:solidFill>
                            <a:srgbClr val="374151"/>
                          </a:solidFill>
                          <a:latin typeface="Hiragino Kaku Gothic ProN"/>
                        </a:rPr>
                        <a:t>工夫の方向（適応の範囲内）</a:t>
                      </a:r>
                    </a:p>
                  </a:txBody>
                  <a:tcPr>
                    <a:solidFill>
                      <a:srgbClr val="F3F4F6"/>
                    </a:solidFill>
                  </a:tcPr>
                </a:tc>
                <a:tc>
                  <a:txBody>
                    <a:bodyPr/>
                    <a:lstStyle/>
                    <a:p>
                      <a:pPr algn="ctr"/>
                      <a:r>
                        <a:rPr sz="1300" b="1">
                          <a:solidFill>
                            <a:srgbClr val="374151"/>
                          </a:solidFill>
                          <a:latin typeface="Hiragino Kaku Gothic ProN"/>
                        </a:rPr>
                        <a:t>A / C 項目寄与</a:t>
                      </a:r>
                    </a:p>
                  </a:txBody>
                  <a:tcPr>
                    <a:solidFill>
                      <a:srgbClr val="F3F4F6"/>
                    </a:solidFill>
                  </a:tcPr>
                </a:tc>
                <a:extLst>
                  <a:ext uri="{0D108BD9-81ED-4DB2-BD59-A6C34878D82A}">
                    <a16:rowId xmlns:a16="http://schemas.microsoft.com/office/drawing/2014/main" val="10000"/>
                  </a:ext>
                </a:extLst>
              </a:tr>
              <a:tr h="491490">
                <a:tc>
                  <a:txBody>
                    <a:bodyPr/>
                    <a:lstStyle/>
                    <a:p>
                      <a:pPr algn="ctr"/>
                      <a:r>
                        <a:rPr sz="1100">
                          <a:solidFill>
                            <a:srgbClr val="1F2937"/>
                          </a:solidFill>
                          <a:latin typeface="Hiragino Kaku Gothic ProN"/>
                        </a:rPr>
                        <a:t>A6③ 麻薬注射</a:t>
                      </a:r>
                    </a:p>
                  </a:txBody>
                  <a:tcPr/>
                </a:tc>
                <a:tc>
                  <a:txBody>
                    <a:bodyPr/>
                    <a:lstStyle/>
                    <a:p>
                      <a:pPr algn="l"/>
                      <a:r>
                        <a:rPr sz="1100">
                          <a:solidFill>
                            <a:srgbClr val="1F2937"/>
                          </a:solidFill>
                          <a:latin typeface="Hiragino Kaku Gothic ProN"/>
                        </a:rPr>
                        <a:t>がん性疼痛で経口移行を急ぐ</a:t>
                      </a:r>
                    </a:p>
                  </a:txBody>
                  <a:tcPr/>
                </a:tc>
                <a:tc>
                  <a:txBody>
                    <a:bodyPr/>
                    <a:lstStyle/>
                    <a:p>
                      <a:pPr algn="l"/>
                      <a:r>
                        <a:rPr sz="1100">
                          <a:solidFill>
                            <a:srgbClr val="10B981"/>
                          </a:solidFill>
                          <a:latin typeface="Hiragino Kaku Gothic ProN"/>
                        </a:rPr>
                        <a:t>適応継続中は持続点滴を維持(疼痛コントロール優先)</a:t>
                      </a:r>
                    </a:p>
                  </a:txBody>
                  <a:tcPr/>
                </a:tc>
                <a:tc>
                  <a:txBody>
                    <a:bodyPr/>
                    <a:lstStyle/>
                    <a:p>
                      <a:pPr algn="ctr"/>
                      <a:r>
                        <a:rPr sz="1100" b="1">
                          <a:solidFill>
                            <a:srgbClr val="374151"/>
                          </a:solidFill>
                          <a:latin typeface="Hiragino Kaku Gothic ProN"/>
                        </a:rPr>
                        <a:t>A 3 点 / 3-5 日</a:t>
                      </a:r>
                    </a:p>
                  </a:txBody>
                  <a:tcPr/>
                </a:tc>
                <a:extLst>
                  <a:ext uri="{0D108BD9-81ED-4DB2-BD59-A6C34878D82A}">
                    <a16:rowId xmlns:a16="http://schemas.microsoft.com/office/drawing/2014/main" val="10001"/>
                  </a:ext>
                </a:extLst>
              </a:tr>
              <a:tr h="491490">
                <a:tc>
                  <a:txBody>
                    <a:bodyPr/>
                    <a:lstStyle/>
                    <a:p>
                      <a:pPr algn="ctr"/>
                      <a:r>
                        <a:rPr sz="1100">
                          <a:solidFill>
                            <a:srgbClr val="1F2937"/>
                          </a:solidFill>
                          <a:latin typeface="Hiragino Kaku Gothic ProN"/>
                        </a:rPr>
                        <a:t>A6⑦ 昇圧剤</a:t>
                      </a:r>
                    </a:p>
                  </a:txBody>
                  <a:tcPr/>
                </a:tc>
                <a:tc>
                  <a:txBody>
                    <a:bodyPr/>
                    <a:lstStyle/>
                    <a:p>
                      <a:pPr algn="l"/>
                      <a:r>
                        <a:rPr sz="1100">
                          <a:solidFill>
                            <a:srgbClr val="1F2937"/>
                          </a:solidFill>
                          <a:latin typeface="Hiragino Kaku Gothic ProN"/>
                        </a:rPr>
                        <a:t>敗血症で短時間使用、早期離脱</a:t>
                      </a:r>
                    </a:p>
                  </a:txBody>
                  <a:tcPr/>
                </a:tc>
                <a:tc>
                  <a:txBody>
                    <a:bodyPr/>
                    <a:lstStyle/>
                    <a:p>
                      <a:pPr algn="l"/>
                      <a:r>
                        <a:rPr sz="1100">
                          <a:solidFill>
                            <a:srgbClr val="10B981"/>
                          </a:solidFill>
                          <a:latin typeface="Hiragino Kaku Gothic ProN"/>
                        </a:rPr>
                        <a:t>必要十分な期間まで維持(早すぎる中止を避ける)</a:t>
                      </a:r>
                    </a:p>
                  </a:txBody>
                  <a:tcPr/>
                </a:tc>
                <a:tc>
                  <a:txBody>
                    <a:bodyPr/>
                    <a:lstStyle/>
                    <a:p>
                      <a:pPr algn="ctr"/>
                      <a:r>
                        <a:rPr sz="1100" b="1">
                          <a:solidFill>
                            <a:srgbClr val="374151"/>
                          </a:solidFill>
                          <a:latin typeface="Hiragino Kaku Gothic ProN"/>
                        </a:rPr>
                        <a:t>A 3 点 / 1-3 日</a:t>
                      </a:r>
                    </a:p>
                  </a:txBody>
                  <a:tcPr/>
                </a:tc>
                <a:extLst>
                  <a:ext uri="{0D108BD9-81ED-4DB2-BD59-A6C34878D82A}">
                    <a16:rowId xmlns:a16="http://schemas.microsoft.com/office/drawing/2014/main" val="10002"/>
                  </a:ext>
                </a:extLst>
              </a:tr>
              <a:tr h="491490">
                <a:tc>
                  <a:txBody>
                    <a:bodyPr/>
                    <a:lstStyle/>
                    <a:p>
                      <a:pPr algn="ctr"/>
                      <a:r>
                        <a:rPr sz="1100">
                          <a:solidFill>
                            <a:srgbClr val="1F2937"/>
                          </a:solidFill>
                          <a:latin typeface="Hiragino Kaku Gothic ProN"/>
                        </a:rPr>
                        <a:t>A6⑧ 抗不整脈剤</a:t>
                      </a:r>
                    </a:p>
                  </a:txBody>
                  <a:tcPr/>
                </a:tc>
                <a:tc>
                  <a:txBody>
                    <a:bodyPr/>
                    <a:lstStyle/>
                    <a:p>
                      <a:pPr algn="l"/>
                      <a:r>
                        <a:rPr sz="1100">
                          <a:solidFill>
                            <a:srgbClr val="1F2937"/>
                          </a:solidFill>
                          <a:latin typeface="Hiragino Kaku Gothic ProN"/>
                        </a:rPr>
                        <a:t>Af で経口管理を優先</a:t>
                      </a:r>
                    </a:p>
                  </a:txBody>
                  <a:tcPr/>
                </a:tc>
                <a:tc>
                  <a:txBody>
                    <a:bodyPr/>
                    <a:lstStyle/>
                    <a:p>
                      <a:pPr algn="l"/>
                      <a:r>
                        <a:rPr sz="1100">
                          <a:solidFill>
                            <a:srgbClr val="10B981"/>
                          </a:solidFill>
                          <a:latin typeface="Hiragino Kaku Gothic ProN"/>
                        </a:rPr>
                        <a:t>急性期は IV アミオダロン / ペイン PHN は IV リドカイン</a:t>
                      </a:r>
                    </a:p>
                  </a:txBody>
                  <a:tcPr/>
                </a:tc>
                <a:tc>
                  <a:txBody>
                    <a:bodyPr/>
                    <a:lstStyle/>
                    <a:p>
                      <a:pPr algn="ctr"/>
                      <a:r>
                        <a:rPr sz="1100" b="1">
                          <a:solidFill>
                            <a:srgbClr val="374151"/>
                          </a:solidFill>
                          <a:latin typeface="Hiragino Kaku Gothic ProN"/>
                        </a:rPr>
                        <a:t>A 3 点 / 1-7 日</a:t>
                      </a:r>
                    </a:p>
                  </a:txBody>
                  <a:tcPr/>
                </a:tc>
                <a:extLst>
                  <a:ext uri="{0D108BD9-81ED-4DB2-BD59-A6C34878D82A}">
                    <a16:rowId xmlns:a16="http://schemas.microsoft.com/office/drawing/2014/main" val="10003"/>
                  </a:ext>
                </a:extLst>
              </a:tr>
              <a:tr h="491490">
                <a:tc>
                  <a:txBody>
                    <a:bodyPr/>
                    <a:lstStyle/>
                    <a:p>
                      <a:pPr algn="ctr"/>
                      <a:r>
                        <a:rPr sz="1100">
                          <a:solidFill>
                            <a:srgbClr val="1F2937"/>
                          </a:solidFill>
                          <a:latin typeface="Hiragino Kaku Gothic ProN"/>
                        </a:rPr>
                        <a:t>A6⑨ 抗血栓持続</a:t>
                      </a:r>
                    </a:p>
                  </a:txBody>
                  <a:tcPr/>
                </a:tc>
                <a:tc>
                  <a:txBody>
                    <a:bodyPr/>
                    <a:lstStyle/>
                    <a:p>
                      <a:pPr algn="l"/>
                      <a:r>
                        <a:rPr sz="1100">
                          <a:solidFill>
                            <a:srgbClr val="1F2937"/>
                          </a:solidFill>
                          <a:latin typeface="Hiragino Kaku Gothic ProN"/>
                        </a:rPr>
                        <a:t>PE で DOAC 移行を急ぐ</a:t>
                      </a:r>
                    </a:p>
                  </a:txBody>
                  <a:tcPr/>
                </a:tc>
                <a:tc>
                  <a:txBody>
                    <a:bodyPr/>
                    <a:lstStyle/>
                    <a:p>
                      <a:pPr algn="l"/>
                      <a:r>
                        <a:rPr sz="1100">
                          <a:solidFill>
                            <a:srgbClr val="10B981"/>
                          </a:solidFill>
                          <a:latin typeface="Hiragino Kaku Gothic ProN"/>
                        </a:rPr>
                        <a:t>高リスク・腎不全例は UFH 持続を維持</a:t>
                      </a:r>
                    </a:p>
                  </a:txBody>
                  <a:tcPr/>
                </a:tc>
                <a:tc>
                  <a:txBody>
                    <a:bodyPr/>
                    <a:lstStyle/>
                    <a:p>
                      <a:pPr algn="ctr"/>
                      <a:r>
                        <a:rPr sz="1100" b="1">
                          <a:solidFill>
                            <a:srgbClr val="374151"/>
                          </a:solidFill>
                          <a:latin typeface="Hiragino Kaku Gothic ProN"/>
                        </a:rPr>
                        <a:t>A 3 点 / 3-7 日</a:t>
                      </a:r>
                    </a:p>
                  </a:txBody>
                  <a:tcPr/>
                </a:tc>
                <a:extLst>
                  <a:ext uri="{0D108BD9-81ED-4DB2-BD59-A6C34878D82A}">
                    <a16:rowId xmlns:a16="http://schemas.microsoft.com/office/drawing/2014/main" val="10004"/>
                  </a:ext>
                </a:extLst>
              </a:tr>
              <a:tr h="491490">
                <a:tc>
                  <a:txBody>
                    <a:bodyPr/>
                    <a:lstStyle/>
                    <a:p>
                      <a:pPr algn="ctr"/>
                      <a:r>
                        <a:rPr sz="1100">
                          <a:solidFill>
                            <a:srgbClr val="1F2937"/>
                          </a:solidFill>
                          <a:latin typeface="Hiragino Kaku Gothic ProN"/>
                        </a:rPr>
                        <a:t>A4 + A3 ペア</a:t>
                      </a:r>
                    </a:p>
                  </a:txBody>
                  <a:tcPr/>
                </a:tc>
                <a:tc>
                  <a:txBody>
                    <a:bodyPr/>
                    <a:lstStyle/>
                    <a:p>
                      <a:pPr algn="l"/>
                      <a:r>
                        <a:rPr sz="1100">
                          <a:solidFill>
                            <a:srgbClr val="1F2937"/>
                          </a:solidFill>
                          <a:latin typeface="Hiragino Kaku Gothic ProN"/>
                        </a:rPr>
                        <a:t>β-ラクタム間欠投与</a:t>
                      </a:r>
                    </a:p>
                  </a:txBody>
                  <a:tcPr/>
                </a:tc>
                <a:tc>
                  <a:txBody>
                    <a:bodyPr/>
                    <a:lstStyle/>
                    <a:p>
                      <a:pPr algn="l"/>
                      <a:r>
                        <a:rPr sz="1100" dirty="0" err="1">
                          <a:solidFill>
                            <a:srgbClr val="10B981"/>
                          </a:solidFill>
                          <a:latin typeface="Hiragino Kaku Gothic ProN"/>
                        </a:rPr>
                        <a:t>重症感染症</a:t>
                      </a:r>
                      <a:r>
                        <a:rPr lang="ja-JP" altLang="en-US" sz="1100">
                          <a:solidFill>
                            <a:srgbClr val="10B981"/>
                          </a:solidFill>
                          <a:latin typeface="Hiragino Kaku Gothic ProN"/>
                        </a:rPr>
                        <a:t>（基礎疾患あり、血液培養採取症例）</a:t>
                      </a:r>
                      <a:r>
                        <a:rPr sz="1100" dirty="0" err="1">
                          <a:solidFill>
                            <a:srgbClr val="10B981"/>
                          </a:solidFill>
                          <a:latin typeface="Hiragino Kaku Gothic ProN"/>
                        </a:rPr>
                        <a:t>で</a:t>
                      </a:r>
                      <a:r>
                        <a:rPr sz="1100" dirty="0">
                          <a:solidFill>
                            <a:srgbClr val="10B981"/>
                          </a:solidFill>
                          <a:latin typeface="Hiragino Kaku Gothic ProN"/>
                        </a:rPr>
                        <a:t> </a:t>
                      </a:r>
                      <a:r>
                        <a:rPr lang="ja-JP" altLang="en-US" sz="1100">
                          <a:solidFill>
                            <a:srgbClr val="10B981"/>
                          </a:solidFill>
                          <a:latin typeface="Hiragino Kaku Gothic ProN"/>
                        </a:rPr>
                        <a:t>広域抗菌薬</a:t>
                      </a:r>
                      <a:r>
                        <a:rPr sz="1100" dirty="0">
                          <a:solidFill>
                            <a:srgbClr val="10B981"/>
                          </a:solidFill>
                          <a:latin typeface="Hiragino Kaku Gothic ProN"/>
                        </a:rPr>
                        <a:t>PIPC/TAZ・MEPM </a:t>
                      </a:r>
                      <a:r>
                        <a:rPr sz="1100" dirty="0" err="1">
                          <a:solidFill>
                            <a:srgbClr val="10B981"/>
                          </a:solidFill>
                          <a:latin typeface="Hiragino Kaku Gothic ProN"/>
                        </a:rPr>
                        <a:t>持続点滴を選択</a:t>
                      </a:r>
                      <a:endParaRPr sz="1100" dirty="0">
                        <a:solidFill>
                          <a:srgbClr val="10B981"/>
                        </a:solidFill>
                        <a:latin typeface="Hiragino Kaku Gothic ProN"/>
                      </a:endParaRPr>
                    </a:p>
                  </a:txBody>
                  <a:tcPr/>
                </a:tc>
                <a:tc>
                  <a:txBody>
                    <a:bodyPr/>
                    <a:lstStyle/>
                    <a:p>
                      <a:pPr algn="ctr"/>
                      <a:r>
                        <a:rPr sz="1100" b="1">
                          <a:solidFill>
                            <a:srgbClr val="374151"/>
                          </a:solidFill>
                          <a:latin typeface="Hiragino Kaku Gothic ProN"/>
                        </a:rPr>
                        <a:t>A 2 点 / 5-7 日</a:t>
                      </a:r>
                    </a:p>
                  </a:txBody>
                  <a:tcPr/>
                </a:tc>
                <a:extLst>
                  <a:ext uri="{0D108BD9-81ED-4DB2-BD59-A6C34878D82A}">
                    <a16:rowId xmlns:a16="http://schemas.microsoft.com/office/drawing/2014/main" val="10005"/>
                  </a:ext>
                </a:extLst>
              </a:tr>
              <a:tr h="491490">
                <a:tc>
                  <a:txBody>
                    <a:bodyPr/>
                    <a:lstStyle/>
                    <a:p>
                      <a:pPr algn="ctr"/>
                      <a:r>
                        <a:rPr sz="1100">
                          <a:solidFill>
                            <a:srgbClr val="1F2937"/>
                          </a:solidFill>
                          <a:latin typeface="Hiragino Kaku Gothic ProN"/>
                        </a:rPr>
                        <a:t>C21③ 内視鏡治療</a:t>
                      </a:r>
                    </a:p>
                  </a:txBody>
                  <a:tcPr/>
                </a:tc>
                <a:tc>
                  <a:txBody>
                    <a:bodyPr/>
                    <a:lstStyle/>
                    <a:p>
                      <a:pPr algn="l"/>
                      <a:r>
                        <a:rPr sz="1100">
                          <a:solidFill>
                            <a:srgbClr val="1F2937"/>
                          </a:solidFill>
                          <a:latin typeface="Hiragino Kaku Gothic ProN"/>
                        </a:rPr>
                        <a:t>適応症例で見送り傾向</a:t>
                      </a:r>
                    </a:p>
                  </a:txBody>
                  <a:tcPr/>
                </a:tc>
                <a:tc>
                  <a:txBody>
                    <a:bodyPr/>
                    <a:lstStyle/>
                    <a:p>
                      <a:pPr algn="l"/>
                      <a:r>
                        <a:rPr sz="1100">
                          <a:solidFill>
                            <a:srgbClr val="10B981"/>
                          </a:solidFill>
                          <a:latin typeface="Hiragino Kaku Gothic ProN"/>
                        </a:rPr>
                        <a:t>ESD・ERCP・内視鏡止血を積極化</a:t>
                      </a:r>
                    </a:p>
                  </a:txBody>
                  <a:tcPr/>
                </a:tc>
                <a:tc>
                  <a:txBody>
                    <a:bodyPr/>
                    <a:lstStyle/>
                    <a:p>
                      <a:pPr algn="ctr"/>
                      <a:r>
                        <a:rPr sz="1100" b="1">
                          <a:solidFill>
                            <a:srgbClr val="374151"/>
                          </a:solidFill>
                          <a:latin typeface="Hiragino Kaku Gothic ProN"/>
                        </a:rPr>
                        <a:t>C 項目 / 各 4 日</a:t>
                      </a:r>
                    </a:p>
                  </a:txBody>
                  <a:tcPr/>
                </a:tc>
                <a:extLst>
                  <a:ext uri="{0D108BD9-81ED-4DB2-BD59-A6C34878D82A}">
                    <a16:rowId xmlns:a16="http://schemas.microsoft.com/office/drawing/2014/main" val="10006"/>
                  </a:ext>
                </a:extLst>
              </a:tr>
              <a:tr h="491490">
                <a:tc>
                  <a:txBody>
                    <a:bodyPr/>
                    <a:lstStyle/>
                    <a:p>
                      <a:pPr algn="ctr"/>
                      <a:r>
                        <a:rPr sz="1100">
                          <a:solidFill>
                            <a:srgbClr val="1F2937"/>
                          </a:solidFill>
                          <a:latin typeface="Hiragino Kaku Gothic ProN"/>
                        </a:rPr>
                        <a:t>C23 PEG・CV 挿入</a:t>
                      </a:r>
                    </a:p>
                  </a:txBody>
                  <a:tcPr/>
                </a:tc>
                <a:tc>
                  <a:txBody>
                    <a:bodyPr/>
                    <a:lstStyle/>
                    <a:p>
                      <a:pPr algn="l"/>
                      <a:r>
                        <a:rPr sz="1100">
                          <a:solidFill>
                            <a:srgbClr val="1F2937"/>
                          </a:solidFill>
                          <a:latin typeface="Hiragino Kaku Gothic ProN"/>
                        </a:rPr>
                        <a:t>末梢困難でも見送り</a:t>
                      </a:r>
                    </a:p>
                  </a:txBody>
                  <a:tcPr/>
                </a:tc>
                <a:tc>
                  <a:txBody>
                    <a:bodyPr/>
                    <a:lstStyle/>
                    <a:p>
                      <a:pPr algn="l"/>
                      <a:r>
                        <a:rPr sz="1100">
                          <a:solidFill>
                            <a:srgbClr val="10B981"/>
                          </a:solidFill>
                          <a:latin typeface="Hiragino Kaku Gothic ProN"/>
                        </a:rPr>
                        <a:t>適応症例で閾値を下げる</a:t>
                      </a:r>
                    </a:p>
                  </a:txBody>
                  <a:tcPr/>
                </a:tc>
                <a:tc>
                  <a:txBody>
                    <a:bodyPr/>
                    <a:lstStyle/>
                    <a:p>
                      <a:pPr algn="ctr"/>
                      <a:r>
                        <a:rPr sz="1100" b="1" dirty="0">
                          <a:solidFill>
                            <a:srgbClr val="374151"/>
                          </a:solidFill>
                          <a:latin typeface="Hiragino Kaku Gothic ProN"/>
                        </a:rPr>
                        <a:t>C </a:t>
                      </a:r>
                      <a:r>
                        <a:rPr sz="1100" b="1" dirty="0" err="1">
                          <a:solidFill>
                            <a:srgbClr val="374151"/>
                          </a:solidFill>
                          <a:latin typeface="Hiragino Kaku Gothic ProN"/>
                        </a:rPr>
                        <a:t>項目</a:t>
                      </a:r>
                      <a:r>
                        <a:rPr sz="1100" b="1" dirty="0">
                          <a:solidFill>
                            <a:srgbClr val="374151"/>
                          </a:solidFill>
                          <a:latin typeface="Hiragino Kaku Gothic ProN"/>
                        </a:rPr>
                        <a:t> / PEG 5 </a:t>
                      </a:r>
                      <a:r>
                        <a:rPr sz="1100" b="1" dirty="0" err="1">
                          <a:solidFill>
                            <a:srgbClr val="374151"/>
                          </a:solidFill>
                          <a:latin typeface="Hiragino Kaku Gothic ProN"/>
                        </a:rPr>
                        <a:t>日・CV</a:t>
                      </a:r>
                      <a:r>
                        <a:rPr sz="1100" b="1" dirty="0">
                          <a:solidFill>
                            <a:srgbClr val="374151"/>
                          </a:solidFill>
                          <a:latin typeface="Hiragino Kaku Gothic ProN"/>
                        </a:rPr>
                        <a:t> 4 </a:t>
                      </a:r>
                      <a:r>
                        <a:rPr sz="1100" b="1" dirty="0" err="1">
                          <a:solidFill>
                            <a:srgbClr val="374151"/>
                          </a:solidFill>
                          <a:latin typeface="Hiragino Kaku Gothic ProN"/>
                        </a:rPr>
                        <a:t>日</a:t>
                      </a:r>
                      <a:endParaRPr sz="1100" b="1" dirty="0">
                        <a:solidFill>
                          <a:srgbClr val="374151"/>
                        </a:solidFill>
                        <a:latin typeface="Hiragino Kaku Gothic ProN"/>
                      </a:endParaRPr>
                    </a:p>
                  </a:txBody>
                  <a:tcPr/>
                </a:tc>
                <a:extLst>
                  <a:ext uri="{0D108BD9-81ED-4DB2-BD59-A6C34878D82A}">
                    <a16:rowId xmlns:a16="http://schemas.microsoft.com/office/drawing/2014/main" val="10007"/>
                  </a:ext>
                </a:extLst>
              </a:tr>
            </a:tbl>
          </a:graphicData>
        </a:graphic>
      </p:graphicFrame>
      <p:sp>
        <p:nvSpPr>
          <p:cNvPr id="6" name="TextBox 5"/>
          <p:cNvSpPr txBox="1"/>
          <p:nvPr/>
        </p:nvSpPr>
        <p:spPr>
          <a:xfrm>
            <a:off x="365760" y="6172200"/>
            <a:ext cx="11430000" cy="548640"/>
          </a:xfrm>
          <a:prstGeom prst="rect">
            <a:avLst/>
          </a:prstGeom>
          <a:noFill/>
        </p:spPr>
        <p:txBody>
          <a:bodyPr wrap="square">
            <a:spAutoFit/>
          </a:bodyPr>
          <a:lstStyle/>
          <a:p>
            <a:pPr algn="ctr"/>
            <a:r>
              <a:rPr sz="1300" b="1">
                <a:solidFill>
                  <a:srgbClr val="10B981"/>
                </a:solidFill>
                <a:latin typeface="Hiragino Kaku Gothic ProN"/>
              </a:rPr>
              <a:t>📌 達成は「漏れを拾う」ではなく「選択肢の取り方を変える」 ― 医学的適応の範囲で 6F の医療提供を看護必要度の構造に添わせる</a:t>
            </a:r>
          </a:p>
        </p:txBody>
      </p:sp>
    </p:spTree>
    <p:extLst>
      <p:ext uri="{BB962C8B-B14F-4D97-AF65-F5344CB8AC3E}">
        <p14:creationId xmlns:p14="http://schemas.microsoft.com/office/powerpoint/2010/main" val="11700968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4FFF5CA-DE64-EB48-B680-1723F5F7BAD4}">
  <we:reference id="wa200010001" version="1.0.0.1" store="ja-JP" storeType="OMEX"/>
  <we:alternateReferences>
    <we:reference id="WA200010001" version="1.0.0.1" store="WA200010001" storeType="OMEX"/>
  </we:alternateReferences>
  <we:properties>
    <we:property name="claude.fileId" value="&quot;ac481b2c-b9bd-4e3d-b0d8-03ec8377a6b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81</TotalTime>
  <Words>4953</Words>
  <Application>Microsoft Macintosh PowerPoint</Application>
  <PresentationFormat>ワイド画面</PresentationFormat>
  <Paragraphs>401</Paragraphs>
  <Slides>14</Slides>
  <Notes>14</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14</vt:i4>
      </vt:variant>
    </vt:vector>
  </HeadingPairs>
  <TitlesOfParts>
    <vt:vector size="18" baseType="lpstr">
      <vt:lpstr>Hiragino Kaku Gothic ProN</vt:lpstr>
      <vt:lpstr>Arial</vt:lpstr>
      <vt:lpstr>Calibri</vt:lpstr>
      <vt:lpstr>Office Theme</vt:lpstr>
      <vt:lpstr>PowerPoint プレゼンテーション</vt:lpstr>
      <vt:lpstr>PowerPoint プレゼンテーション</vt:lpstr>
      <vt:lpstr>重症度、医療・看護必要度 ― 評価票（地域包括医療病棟）</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久保田 徹</cp:lastModifiedBy>
  <cp:revision>3</cp:revision>
  <dcterms:created xsi:type="dcterms:W3CDTF">2013-01-27T09:14:16Z</dcterms:created>
  <dcterms:modified xsi:type="dcterms:W3CDTF">2026-04-26T09:50:04Z</dcterms:modified>
  <cp:category/>
</cp:coreProperties>
</file>