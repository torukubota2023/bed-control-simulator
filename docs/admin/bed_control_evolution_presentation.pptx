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8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改善効果（万円/年）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59E0B"/>
                    </a:solidFill>
                    <a:latin typeface="Arial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退院曜日
平準化</c:v>
                </c:pt>
                <c:pt idx="1">
                  <c:v>空床ラグ
短縮</c:v>
                </c:pt>
                <c:pt idx="2">
                  <c:v>入院創出
強化</c:v>
                </c:pt>
                <c:pt idx="3">
                  <c:v>在院日数
適正化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576</c:v>
                </c:pt>
                <c:pt idx="1">
                  <c:v>334</c:v>
                </c:pt>
                <c:pt idx="2">
                  <c:v>890</c:v>
                </c:pt>
                <c:pt idx="3">
                  <c:v>445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F6-F94F-BCA7-A6362B17FA7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F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A2744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12730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ベッドコントロール</a:t>
            </a:r>
            <a:endParaRPr lang="en-US" sz="4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見える化アプリの進化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5486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数字が見えれば、現場が変わる。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おもろまちメディカルセンター  |  2026年4月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なぜ今、見える化なのか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246888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数値が見えなかった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稼働率の目標はあっても、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リアルタイムの数値を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確認する手段が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なかった。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3756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337560" y="1280160"/>
            <a:ext cx="246888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352044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金額換算できなかった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稼働率1%の価値を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金額に換算する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仕組みがなかった。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見えないものは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議論しようがない。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6126480" y="1280160"/>
            <a:ext cx="246888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630936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パターンが見えなかった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0936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入退院の曜日偏在、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医師別のパターン——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感覚ではわかっていても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データとして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共有できなかった。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今、データで見える仕組みが整った。ここから、数字で語る経営が始まる。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稼働率 1% の価値を知っていますか？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94床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病床数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19456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651760" y="128016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651760" y="19202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稼働率UP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4904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206240" y="128016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365日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48640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943600" y="1280160"/>
            <a:ext cx="197376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¥30,500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94360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1日単価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286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371600" y="2834640"/>
            <a:ext cx="6400800" cy="146304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1371600" y="28346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年間 </a:t>
            </a:r>
            <a:r>
              <a:rPr lang="en-US" sz="6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1,046</a:t>
            </a: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万円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71600" y="3657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年間黒字額 3,550万円 の 29% 相当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たった1%の改善が、年間黒字額の約3分の1に匹敵する。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令和7年度 経営実績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30億7,890万円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年間黒字額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2606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3,550万円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822960" y="33375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黒字率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1.15%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754880" y="128016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4754880" y="128016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5029200" y="1325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人件費率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1600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58%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0" y="228600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754880" y="228600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502920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地域包括医療病棟 稼働率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2606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89%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4754880" y="329184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4754880" y="329184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5029200" y="3337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職員数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290名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4297680"/>
            <a:ext cx="8046720" cy="5486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7"/>
          <p:cNvSpPr/>
          <p:nvPr/>
        </p:nvSpPr>
        <p:spPr>
          <a:xfrm>
            <a:off x="731520" y="42976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稼働率目標 90% まで、あと 1%。 その 1% = 年間 1,046万円。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常時表示の基盤指標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183880" cy="731520"/>
          </a:xfrm>
          <a:prstGeom prst="rect">
            <a:avLst/>
          </a:prstGeom>
          <a:solidFill>
            <a:srgbClr val="1A2744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現在の稼働率 </a:t>
            </a: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あと1%で年間 </a:t>
            </a: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+1,046万円</a:t>
            </a:r>
            <a:r>
              <a:rPr lang="en-US" sz="1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（常勤医師1名の年間手取り収入に相当）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どのタブを見ていても、常に目に入る位置に表示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68580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全員が共通認識を持つ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稼働率1%の経済的インパクトを全職員が理解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8328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338328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352044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日々の判断が変わる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2044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入退院の判断が「金額」と紐づいて意識される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21792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635508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目標が具体的になる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「あと1%」が精神論ではなく経営数値として語られる</a:t>
            </a:r>
            <a:endParaRPr lang="en-US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14400" y="4846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94A3B8"/>
                </a:solidFill>
                <a:latin typeface="Calibri"/>
              </a:rPr>
              <a:t>※ アプリ上では経営数値の直接表示を避け、職員が実感しやすい表現に変換しています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「改善のヒント」自動検出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73152" cy="164592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813816" y="1463783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金曜退院の集中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875263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金曜退院が全体の40%を占めた場合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土日の稼働率が大きく低下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年間推定ロス: 数百万円規模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（実データで自動算出）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73152" cy="1645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5029200" y="14630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入院創出の貢献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874520"/>
            <a:ext cx="349776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ある医師の入院創出が前月比で増加した場合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稼働率への貢献度を自動算出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年間換算の金額を自動表示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設計思想: データが問いかける仕組み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64008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64008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何が起きているか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事実の提示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9748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278892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278892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15468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いくらの影響か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金額換算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493776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93776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0352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年間黒字額の何%か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比率で実感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708660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708660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45236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どうなり得るか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シミュレーションで試算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-82519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1801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医師別分析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31881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548640" y="1014761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入院時の入力フロー（プルダウン選択のみ）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54864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68580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入院経路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外来紹介 / 救急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連携室 / ウォークイン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08960" y="1929161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338328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352044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2044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入院創出医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2044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入院を生んだ医師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（いれば選択）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0" y="1929161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621792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635508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5508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入院担当医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5508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病棟で受け持つ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主治医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117881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これだけで自動的に得られる分析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3483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医師別の月間入院・退院件数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7311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医師別の退院曜日分布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3978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医師別の在院日数・フェーズ構成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46320" y="3483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医師別の稼働貢献度（金額換算）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0" y="37311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入院経路別の件数推移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46320" y="3978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入院創出医の貢献ランキング</a:t>
            </a:r>
            <a:endParaRPr lang="en-US" sz="1200" dirty="0"/>
          </a:p>
        </p:txBody>
      </p:sp>
      <p:sp>
        <p:nvSpPr>
          <p:cNvPr id="30" name="TextBox 29"/>
          <p:cNvSpPr txBox="1"/>
          <p:nvPr/>
        </p:nvSpPr>
        <p:spPr>
          <a:xfrm>
            <a:off x="548640" y="4271861"/>
            <a:ext cx="8046720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>
                <a:solidFill>
                  <a:srgbClr val="1A2744"/>
                </a:solidFill>
                <a:latin typeface="Calibri"/>
              </a:rPr>
              <a:t>▶ </a:t>
            </a:r>
            <a:r>
              <a:rPr sz="1100" b="1" dirty="0" err="1">
                <a:solidFill>
                  <a:srgbClr val="1A2744"/>
                </a:solidFill>
                <a:latin typeface="Calibri"/>
              </a:rPr>
              <a:t>データから考えられる打ち手の例</a:t>
            </a:r>
            <a:endParaRPr sz="1100" b="1" dirty="0">
              <a:solidFill>
                <a:srgbClr val="1A2744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入院創出医へのインセンティブ設計と効果検証</a:t>
            </a:r>
            <a:endParaRPr sz="1000" dirty="0">
              <a:solidFill>
                <a:srgbClr val="1E293B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退院曜日の平準化による週末稼働率の改善</a:t>
            </a:r>
            <a:endParaRPr sz="1000" dirty="0">
              <a:solidFill>
                <a:srgbClr val="1E293B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入院経路別の強化策（連携室・救急の受入拡大</a:t>
            </a:r>
            <a:r>
              <a:rPr sz="1000" dirty="0">
                <a:solidFill>
                  <a:srgbClr val="1E293B"/>
                </a:solidFill>
                <a:latin typeface="Calibri"/>
              </a:rPr>
              <a:t>）</a:t>
            </a: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非常勤医師の入院創出パターン分析と契約条件の見直し</a:t>
            </a:r>
            <a:endParaRPr sz="1000" dirty="0">
              <a:solidFill>
                <a:srgbClr val="1E293B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改善の積み重ね効果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18872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371600"/>
            <a:ext cx="2926080" cy="27432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3"/>
          <p:cNvSpPr/>
          <p:nvPr/>
        </p:nvSpPr>
        <p:spPr>
          <a:xfrm>
            <a:off x="5943600" y="1463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合計改善ポテンシャル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0" y="210312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2,245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943600" y="29260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万円/年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943600" y="3383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稼働率換算: 約+2%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個別は小さくても、積み重ねれば大きな改善になる。実データの蓄積により、より精緻な試算が可能に。</a:t>
            </a:r>
            <a:endParaRPr lang="en-US" sz="1400" dirty="0"/>
          </a:p>
        </p:txBody>
      </p:sp>
      <p:sp>
        <p:nvSpPr>
          <p:cNvPr id="11" name="TextBox 10"/>
          <p:cNvSpPr txBox="1"/>
          <p:nvPr/>
        </p:nvSpPr>
        <p:spPr>
          <a:xfrm>
            <a:off x="5943600" y="31089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94A3B8"/>
                </a:solidFill>
                <a:latin typeface="Calibri"/>
              </a:rPr>
              <a:t>（デモデータによる試算例）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94A3B8"/>
                </a:solidFill>
                <a:latin typeface="Calibri"/>
              </a:rPr>
              <a:t>金曜退院の平準化・空床ラグの短縮・入院経路の拡大など、個別改善策の効果を積み上げた試算値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気づき → 確認 → 対話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データに基づく建設的な対話を生む3ステップ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508760" y="192024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150876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気づき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「改善のヒント」が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問題を自動で提示。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アプリを開くだけで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今日注目すべきことがわかる。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343400" y="192024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434340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56616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確認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6616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データとグラフで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裏付けを自分の目で確認。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医師別・曜日別の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パターンが一目瞭然。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1792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7178040" y="192024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71780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対話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0080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根拠を持って相手に提示。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「病棟全体の退院パターンが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月○万円の影響」と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数字で対話できる。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将来構想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73152" cy="18288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2296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第2層: 改善仮説の保存・比較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What-if分析を「名前付き仮説」として保存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複数仮説の同時シミュレーション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改善の積み重ね効果を可視化</a:t>
            </a:r>
            <a:endParaRPr lang="en-US" sz="1200" dirty="0"/>
          </a:p>
          <a:p>
            <a:r>
              <a:rPr sz="1000" i="1">
                <a:solidFill>
                  <a:srgbClr val="F59E0B"/>
                </a:solidFill>
                <a:latin typeface="Calibri"/>
              </a:rPr>
              <a:t>例: 『金曜退院を20%削減したら？』『救急受入を月5件増やしたら？』</a:t>
            </a:r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73152" cy="1828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第3層: 提案書の自動生成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検証済み仮説を経営会議フォーマットに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現状→目標→想定効果→施策の構造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PDF・院内メールで配布</a:t>
            </a:r>
            <a:endParaRPr lang="en-US" sz="1200" dirty="0"/>
          </a:p>
          <a:p>
            <a:r>
              <a:rPr sz="1000" i="1">
                <a:solidFill>
                  <a:srgbClr val="F59E0B"/>
                </a:solidFill>
                <a:latin typeface="Calibri"/>
              </a:rPr>
              <a:t>例: 経営会議で『稼働率+1%プラン』を提案 → 根拠データ付きPDFを配布</a:t>
            </a:r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立場別ビュー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192024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64008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コントローラー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改善アクションの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優先順位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9748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697480" y="384048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278892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78892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自分の入退院パターン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と全体への影響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846320" y="3840480"/>
            <a:ext cx="192024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493776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看護師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37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改善が人件費原資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としていくらか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9516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995160" y="3840480"/>
            <a:ext cx="19202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708660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8660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経営指標サマリー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と改善トレンド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数字が見えれば、現場が変わる。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2130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全職員が自発的に改善に動く仕組みを作る。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203600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051560" y="19445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 = 年間1,046万円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53892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1051560" y="244748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「改善のヒント」で問題を自動検出し、金額で示す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304184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051560" y="29504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医師別の入退院パターンを可視化し、対話の根拠を作る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54476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051560" y="34533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改善の積み重ねで、一人ひとりの給与・賞与の原資を増やす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04768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1051560" y="39562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コストゼロで運用可能（電子カルテ連携不要）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F1A2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おもろまちメディカルセンター  |  ベッドコントロールシミュレーター v3.0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666666"/>
                </a:solidFill>
              </a:defRPr>
            </a:pPr>
            <a:r>
              <a:t>新機能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HOPE連携 — 数字を、行動に変える。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55555"/>
                </a:solidFill>
              </a:defRPr>
            </a:pPr>
            <a:r>
              <a:t>アプリが生成した病床サマリーを、HOPE電子カルテのToDoで医師に直接届ける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5BA0"/>
                </a:solidFill>
              </a:defRPr>
            </a:pPr>
            <a:r>
              <a:t>① 全体サマリー（全員向け）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ourier New"/>
              </a:defRPr>
            </a:pPr>
            <a:r>
              <a:t>【病床管理】4/5</a:t>
            </a:r>
            <a:br/>
            <a:r>
              <a:t>全体88/94床(93.6%)</a:t>
            </a:r>
            <a:br/>
            <a:r>
              <a:t>5F:40/47床(85.1%) 空7床</a:t>
            </a:r>
            <a:br/>
            <a:r>
              <a:t>6F:46/47床(97.9%) 残1床⚠</a:t>
            </a:r>
            <a:br/>
            <a:r>
              <a:t>本日 入院5 退院4 純増+1</a:t>
            </a:r>
            <a:br/>
            <a:br/>
            <a:r>
              <a:t>6F満床近く入院制限中</a:t>
            </a:r>
            <a:br/>
            <a:r>
              <a:t>5Fは受入余力あり</a:t>
            </a:r>
            <a:br/>
            <a:r>
              <a:t>（病床管理室）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286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A02D2D"/>
                </a:solidFill>
              </a:defRPr>
            </a:pPr>
            <a:r>
              <a:t>② 医師別 退院調整依頼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74320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ourier New"/>
              </a:defRPr>
            </a:pPr>
            <a:r>
              <a:t>【退院調整のご相談】4/5</a:t>
            </a:r>
            <a:br/>
            <a:r>
              <a:t>○○先生</a:t>
            </a:r>
            <a:br/>
            <a:br/>
            <a:r>
              <a:t>担当患者で在院21日以上の方:</a:t>
            </a:r>
            <a:br/>
            <a:r>
              <a:t>・6F 入院3/15 在院21日目</a:t>
            </a:r>
            <a:br/>
            <a:r>
              <a:t>・6F 入院3/10 在院26日目</a:t>
            </a:r>
            <a:br/>
            <a:br/>
            <a:r>
              <a:t>現在6F稼働率97.9%(残1床)で</a:t>
            </a:r>
            <a:br/>
            <a:r>
              <a:t>新規入院の受入が困難な状況です。</a:t>
            </a:r>
            <a:br/>
            <a:br/>
            <a:r>
              <a:t>退院・転院の見通しをお知らせ</a:t>
            </a:r>
            <a:br/>
            <a:r>
              <a:t>ください。</a:t>
            </a:r>
            <a:br/>
            <a:r>
              <a:t>（病床管理室）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44444"/>
                </a:solidFill>
              </a:defRPr>
            </a:pPr>
            <a:r>
              <a:t>✓  400文字以内で自動生成 → コピーボタンでワンクリックコピー → HOPEに貼り付けて送信</a:t>
            </a:r>
          </a:p>
          <a:p>
            <a:pPr>
              <a:defRPr sz="1100">
                <a:solidFill>
                  <a:srgbClr val="444444"/>
                </a:solidFill>
              </a:defRPr>
            </a:pPr>
            <a:r>
              <a:t>✓  患者個人情報は一切含まない（入院日と在院日数のみ）</a:t>
            </a:r>
          </a:p>
          <a:p>
            <a:pPr>
              <a:defRPr sz="1100">
                <a:solidFill>
                  <a:srgbClr val="444444"/>
                </a:solidFill>
              </a:defRPr>
            </a:pPr>
            <a:r>
              <a:t>✓  院内LAN完結 — インターネット接続不要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533</Words>
  <Application>Microsoft Macintosh PowerPoint</Application>
  <PresentationFormat>画面に合わせる (16:9)</PresentationFormat>
  <Paragraphs>197</Paragraphs>
  <Slides>11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Arial</vt:lpstr>
      <vt:lpstr>Arial Black</vt:lpstr>
      <vt:lpstr>Calibri</vt:lpstr>
      <vt:lpstr>Georgia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ベッドコントロール見える化アプリの進化</dc:title>
  <dc:subject>PptxGenJS Presentation</dc:subject>
  <dc:creator>おもろまちメディカルセンター</dc:creator>
  <cp:lastModifiedBy>久保田 徹</cp:lastModifiedBy>
  <cp:revision>3</cp:revision>
  <dcterms:created xsi:type="dcterms:W3CDTF">2026-04-04T11:03:13Z</dcterms:created>
  <dcterms:modified xsi:type="dcterms:W3CDTF">2026-04-05T01:34:48Z</dcterms:modified>
</cp:coreProperties>
</file>