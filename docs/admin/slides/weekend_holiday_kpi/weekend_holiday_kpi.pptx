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DATA-DRIVEN BED CONTROL PROPOSAL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週末・大型連休の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稼働率対策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73152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F5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 過去12ヶ月実績（2025年4月〜2026年3月）に基づく提言 —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発表者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副院長  久保田  徹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内科 / 呼吸器内科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2026年4月17日  経営会議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589520" y="5669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おもろまちメディカルセンター</a:t>
            </a:r>
            <a:endParaRPr lang="en-US" sz="1400" dirty="0"/>
          </a:p>
          <a:p>
            <a:pPr algn="r" indent="0" marL="0">
              <a:buNone/>
            </a:pPr>
            <a:r>
              <a:rPr lang="en-US" sz="900" spc="400" kern="0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OMOROMACHI MEDICAL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本日の要点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4つの発見と、そこから導かれる 4つの提案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つの発見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0936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つの提案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21305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緊急は 8 割ではなく 58%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253288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予定入院のレバーは依然有効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318211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週末・連休の需要谷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51560" y="358444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平日の 1/5 〜 1/16（GW -94%）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42336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緊急の 64% が日中集中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1560" y="463600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13-18時に 694/1,081 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530352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528523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予定入院は 平均 16.3日前に予約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1560" y="568756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運用で曜日を動かせる ← 本日の新発見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1828800"/>
            <a:ext cx="18288" cy="42976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7" name="Shape 25"/>
          <p:cNvSpPr/>
          <p:nvPr/>
        </p:nvSpPr>
        <p:spPr>
          <a:xfrm>
            <a:off x="6309360" y="2148840"/>
            <a:ext cx="457200" cy="457200"/>
          </a:xfrm>
          <a:prstGeom prst="ellipse">
            <a:avLst/>
          </a:prstGeom>
          <a:solidFill>
            <a:srgbClr val="C73E1D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903720" y="213055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木曜退院の前倒し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03720" y="253288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週末空床を同日中の緊急需要で吸収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09360" y="3200400"/>
            <a:ext cx="457200" cy="457200"/>
          </a:xfrm>
          <a:prstGeom prst="ellipse">
            <a:avLst/>
          </a:prstGeom>
          <a:solidFill>
            <a:srgbClr val="C73E1D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903720" y="318211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大型連休前の退院枠 事前確保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03720" y="358444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連休明け詰め込みの回避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09360" y="4251960"/>
            <a:ext cx="457200" cy="457200"/>
          </a:xfrm>
          <a:prstGeom prst="ellipse">
            <a:avLst/>
          </a:prstGeom>
          <a:solidFill>
            <a:srgbClr val="C73E1D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903720" y="423367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連休前後の予約枠を data-driven 配置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03720" y="463600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既存運用の体系化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5303520"/>
            <a:ext cx="457200" cy="457200"/>
          </a:xfrm>
          <a:prstGeom prst="ellipse">
            <a:avLst/>
          </a:prstGeom>
          <a:solidFill>
            <a:srgbClr val="C73E1D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6903720" y="52852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充填確率ダッシュボード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03720" y="568756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v3.5 への機能追加で運用判断を数字化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KPI 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高需要週のみ選択発動  |   年間吸収効果  300〜700 万円（P25-P75、中央値 503 万円）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データ概要と方法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12ヶ月・1,876 件の入院実績を精査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38528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1,876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40080" y="2682850"/>
            <a:ext cx="2377440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総入院件数（dedup 後）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1938528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365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520440" y="2682850"/>
            <a:ext cx="2377440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分析対象日数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1938528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E86A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795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400800" y="2682850"/>
            <a:ext cx="2377440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予定入院（42.4%）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9828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81160" y="1938528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18F0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1,081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281160" y="2682850"/>
            <a:ext cx="2377440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緊急入院（57.6%）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383280"/>
            <a:ext cx="1124712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分析方法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931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108960" y="3931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2025-04-01 〜 2026-03-31（365日）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2245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分析単位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08960" y="4224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1日あたり入院件数 × 曜日 / 月 / 連休 の3軸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4517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通常平日の定義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108960" y="45171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祝日・週末・連休期間を除く月〜金（平均 7.06件/日）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48097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大型連休の定義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108960" y="4809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連続休日 3日以上 かつ祝日を含む期間（GW・SW・お盆・年末年始・冬連休）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" y="5102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データ処理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108960" y="51023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 1,965件 → 同一入院日時・病棟・年齢で判定した重複 89件を除去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ソース: 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data/admissions_consolidated_dedup.csv  |  </a:t>
            </a:r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重複検出キー: 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admission_datetime × ward × age_code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曜日別 1日あたり入院数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月曜 7.9件、日曜 0.3件 — 需要の波は明白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1_dow_admiss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92024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46720" y="192024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8"/>
          <p:cNvSpPr/>
          <p:nvPr/>
        </p:nvSpPr>
        <p:spPr>
          <a:xfrm>
            <a:off x="8275320" y="20299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 月曜 7.92件/日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75320" y="242316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院内平均の約1.5倍。週明けの受入負荷集中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46720" y="324612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324612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2"/>
          <p:cNvSpPr/>
          <p:nvPr/>
        </p:nvSpPr>
        <p:spPr>
          <a:xfrm>
            <a:off x="8275320" y="33558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 金曜は既に予定抑制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75320" y="374904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 1.50件のみ — 予定入院は週後半を回避済み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46720" y="457200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46720" y="457200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8275320" y="46817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 日曜は 0.29件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275320" y="50749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「埋める」より「空けない」設計へ転換が必要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箱ひげ図で見る構造的パターン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平日と週末の「箱」は別の領域にある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2_dow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0" y="1691640"/>
            <a:ext cx="8503920" cy="3840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5623560"/>
            <a:ext cx="73152" cy="86868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573328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 × 週末の分布は重ならない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6126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 P25 が週末 P75 を上回る曜日が大半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9768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5623560"/>
            <a:ext cx="73152" cy="86868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5" name="Text 12"/>
          <p:cNvSpPr/>
          <p:nvPr/>
        </p:nvSpPr>
        <p:spPr>
          <a:xfrm>
            <a:off x="4526280" y="573328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金曜は境界日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26280" y="6126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中央値 5件・P25 約3件 — 週末側へ寄りつつある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13816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5623560"/>
            <a:ext cx="73152" cy="86868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9" name="Text 16"/>
          <p:cNvSpPr/>
          <p:nvPr/>
        </p:nvSpPr>
        <p:spPr>
          <a:xfrm>
            <a:off x="8366760" y="573328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偶発性ではなく「曜日構造」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366760" y="6126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対策は設計で立てるべきもの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月別トレンド — 季節性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12月の谷・夏秋の山  月次変動は曜日変動より穏やか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3_monthly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49808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0" y="1828800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938528"/>
            <a:ext cx="310896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4.61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件/日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8412480" y="2762402"/>
            <a:ext cx="310896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最低：2025-12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3291840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3401568"/>
            <a:ext cx="310896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5.71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件/日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8412480" y="4225442"/>
            <a:ext cx="310896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最高：7月・10月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4754880"/>
            <a:ext cx="34747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4864608"/>
            <a:ext cx="3108960" cy="636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1.1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件/日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8412480" y="5555894"/>
            <a:ext cx="310896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月次振幅（曜日変動より小）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12月 = 緩和策（需要を維持）   /   夏秋 = 吸収策（ベッドフロー加速）   — 求められる戦略は季節で逆方向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大型連休の入院ドロップ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 は平日の 3% しか機能していない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4_holiday_d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01168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202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−94%</a:t>
            </a:r>
            <a:endParaRPr lang="en-US" sz="7200" dirty="0"/>
          </a:p>
        </p:txBody>
      </p:sp>
      <p:sp>
        <p:nvSpPr>
          <p:cNvPr id="11" name="Text 8"/>
          <p:cNvSpPr/>
          <p:nvPr/>
        </p:nvSpPr>
        <p:spPr>
          <a:xfrm>
            <a:off x="8046720" y="3108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 2025 の落ち込み率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（直前2週比）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023360"/>
            <a:ext cx="73152" cy="7772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13308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GW・年末年始: 実質休業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4日間で合計1件のGWは異常値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46720" y="489204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4892040"/>
            <a:ext cx="73152" cy="77724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50017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お盆 -39.5% は例外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539496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沖縄固有の帰省医療需要を反映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46720" y="576072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46720" y="5760720"/>
            <a:ext cx="73152" cy="5029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8275320" y="58704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二値構造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275320" y="6263640"/>
            <a:ext cx="3337560" cy="-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連休は「入るか/入らないか」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ケーススタディ：GW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連休明けの 13件 を捌くには、連休前の退院枠が必要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7_gw_dai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86868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418320" y="182880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418320" y="1828800"/>
            <a:ext cx="73152" cy="13716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9646920" y="193852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5/3 – 5/6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646920" y="23317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合計1件 — 実質ゼロ稼働の 4日間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418320" y="329184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418320" y="3291840"/>
            <a:ext cx="73152" cy="137160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5" name="Text 12"/>
          <p:cNvSpPr/>
          <p:nvPr/>
        </p:nvSpPr>
        <p:spPr>
          <a:xfrm>
            <a:off x="9646920" y="3401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5/7（水） 13件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646920" y="3794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 — 通常の約2倍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418320" y="475488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418320" y="4754880"/>
            <a:ext cx="73152" cy="13716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9646920" y="48646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646920" y="5257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連休前に退院枠を確保しなければ連休明けの受入が破綻する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ケーススタディ：年末年始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助走期間がある  ＝  計画が立てやすい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8_nenmatsu_dai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86868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418320" y="182880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418320" y="1828800"/>
            <a:ext cx="73152" cy="13716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9646920" y="193852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12/27 – 1/4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646920" y="23317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9日間 平均 1.00件/日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418320" y="329184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418320" y="3291840"/>
            <a:ext cx="73152" cy="1371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2"/>
          <p:cNvSpPr/>
          <p:nvPr/>
        </p:nvSpPr>
        <p:spPr>
          <a:xfrm>
            <a:off x="9646920" y="3401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助走期間あり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646920" y="3794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12/20 頃から漸減 → 退院計画が立てやすい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418320" y="475488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418320" y="4754880"/>
            <a:ext cx="73152" cy="13716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9646920" y="48646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連休中は緊急のみ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646920" y="5257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予定で介入できるのは連休前後のみ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緊急入院の時刻分布 — 論旨の核心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退院した床は、その日の午後に埋まる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5_emergency_ho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19456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659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64.2%</a:t>
            </a:r>
            <a:endParaRPr lang="en-US" sz="6800" dirty="0"/>
          </a:p>
        </p:txBody>
      </p:sp>
      <p:sp>
        <p:nvSpPr>
          <p:cNvPr id="11" name="Text 8"/>
          <p:cNvSpPr/>
          <p:nvPr/>
        </p:nvSpPr>
        <p:spPr>
          <a:xfrm>
            <a:off x="8046720" y="3246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緊急入院が 13–18時 に集中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（694 / 1,081件）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20624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206240"/>
            <a:ext cx="73152" cy="7772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3159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 0-5時: 5件のみ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70916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「夜中にどんどん来る」は誤認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46720" y="5074920"/>
            <a:ext cx="365760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5074920"/>
            <a:ext cx="73152" cy="10515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51846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前倒し退院の正当性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55778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午前退院の床は、その日の午後に発生する緊急で同日充填される可能性が高い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予定入院は運用で動かせる — リードタイム分析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 16.3日前 に予約 — 曜日を動かせる余地がある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1_lead_time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229600" y="1938528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12.0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8229600" y="2735885"/>
            <a:ext cx="329184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中央値リードタイム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46720" y="324612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0" y="3355848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61%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8229600" y="4153205"/>
            <a:ext cx="329184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8日以上前に予約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46720" y="466344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0" y="4773168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– 21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8229600" y="5570525"/>
            <a:ext cx="329184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P25 – P75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「動かせない」という前提を、数字で更新する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登録曜日と入院曜日のマッピング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木曜・金曜を避けて 月〜水 に寄せる再配置の自由度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2_register_dow_vs_admit_d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0" y="1691640"/>
            <a:ext cx="7589520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5715000"/>
            <a:ext cx="73152" cy="7772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58247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月〜水 登録 → 火〜金 配置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621792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典型パターンは「同週後半」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9768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5715000"/>
            <a:ext cx="73152" cy="7772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5" name="Text 12"/>
          <p:cNvSpPr/>
          <p:nvPr/>
        </p:nvSpPr>
        <p:spPr>
          <a:xfrm>
            <a:off x="4526280" y="58247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土日 登録はほぼゼロ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26280" y="621792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週末予約での空床埋めは物理的に不可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13816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5715000"/>
            <a:ext cx="73152" cy="7772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9" name="Text 16"/>
          <p:cNvSpPr/>
          <p:nvPr/>
        </p:nvSpPr>
        <p:spPr>
          <a:xfrm>
            <a:off x="8366760" y="58247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再配置の射程あり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366760" y="621792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木金 209件の一部を月〜水 に寄せる運用が候補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連休前後の予約集中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既に動いている運用の延長  ＝  新規運用ではなく体系化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3_holiday_lead_wind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46720" y="1828800"/>
            <a:ext cx="73152" cy="118872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8275320" y="19385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連休期間内の予定はほぼゼロ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75320" y="233172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GW・SW は完全にゼロ、お盆のみ例外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46720" y="315468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3154680"/>
            <a:ext cx="73152" cy="11887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2"/>
          <p:cNvSpPr/>
          <p:nvPr/>
        </p:nvSpPr>
        <p:spPr>
          <a:xfrm>
            <a:off x="8275320" y="326440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明け週 &gt; 前週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75320" y="365760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GW: 4 → 28件  /  年末年始: 12 → 13件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46720" y="4480560"/>
            <a:ext cx="36576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46720" y="4480560"/>
            <a:ext cx="73152" cy="12344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8275320" y="459028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2 の本質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275320" y="498348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新規運用の導入ではなく、既存の現場運用を data-driven に体系化する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沖縄固有の帰省医療需要（お盆）は地域特性として存置 — 一律削減はしない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区分別 1日平均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ギャップ -5.69件/日 の 1/3 を取り戻す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6_category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194560"/>
          </a:xfrm>
          <a:prstGeom prst="rect">
            <a:avLst/>
          </a:prstGeom>
          <a:solidFill>
            <a:srgbClr val="122342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659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−5.69</a:t>
            </a:r>
            <a:endParaRPr lang="en-US" sz="6000" dirty="0"/>
          </a:p>
        </p:txBody>
      </p:sp>
      <p:sp>
        <p:nvSpPr>
          <p:cNvPr id="11" name="Text 8"/>
          <p:cNvSpPr/>
          <p:nvPr/>
        </p:nvSpPr>
        <p:spPr>
          <a:xfrm>
            <a:off x="8046720" y="31089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件/日  平日 vs 週末の差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= 吸収したい「谷」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206240"/>
            <a:ext cx="3657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206240"/>
            <a:ext cx="73152" cy="9144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3159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完全解消は不要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7091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ギャップの 1/3 取り戻しで土日平均 4床改善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46720" y="5257800"/>
            <a:ext cx="3657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5257800"/>
            <a:ext cx="73152" cy="9144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53675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経営効果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57607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入院単価 13-15万円 × 年700件 ≒ 1,000万円/年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1 — 選択的木曜前倒し（高需要週のみ発動）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効果は週タイプで決まる — 需要条件付きロジックに改訂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9_impact_simul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16459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8745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300〜700 万円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046720" y="27889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年間吸収効果（P25-P75）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中央値 503 万円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46720" y="3611880"/>
            <a:ext cx="3657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3611880"/>
            <a:ext cx="73152" cy="8229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372160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対象週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11480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高需要週のみ（全体の約 24% = 4週に1週）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46720" y="4526280"/>
            <a:ext cx="3657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4526280"/>
            <a:ext cx="73152" cy="82296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463600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必須前提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502920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3α ダッシュボード（需要判定の自動化）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46720" y="5440680"/>
            <a:ext cx="3657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46720" y="5440680"/>
            <a:ext cx="73152" cy="82296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2" name="Text 19"/>
          <p:cNvSpPr/>
          <p:nvPr/>
        </p:nvSpPr>
        <p:spPr>
          <a:xfrm>
            <a:off x="8275320" y="555040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275320" y="594360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2026年5月中旬〜、Phase 3α 完成後に開始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2 — 連休対策：前退院枠 &amp; 予約枠最適化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 3週前 からの退院調整と連休明け予約枠の事前確保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 3週前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194560" cy="137160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退院ターゲット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リスト作成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5400000">
            <a:off x="2697480" y="2788920"/>
            <a:ext cx="109728" cy="182880"/>
          </a:xfrm>
          <a:prstGeom prst="rtTriangle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2798064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 2週前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98064" y="2194560"/>
            <a:ext cx="2194560" cy="137160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4" name="Text 12"/>
          <p:cNvSpPr/>
          <p:nvPr/>
        </p:nvSpPr>
        <p:spPr>
          <a:xfrm>
            <a:off x="2798064" y="2194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多職種会議で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退院計画確定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5400000">
            <a:off x="5038344" y="2788920"/>
            <a:ext cx="109728" cy="182880"/>
          </a:xfrm>
          <a:prstGeom prst="rtTriangle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5138928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 1週前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138928" y="2194560"/>
            <a:ext cx="2194560" cy="137160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2194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退院実行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病棟空床準備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rot="5400000">
            <a:off x="7379208" y="2788920"/>
            <a:ext cx="109728" cy="182880"/>
          </a:xfrm>
          <a:prstGeom prst="rtTriangle">
            <a:avLst/>
          </a:prstGeom>
          <a:solidFill>
            <a:srgbClr val="1E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7479792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連休中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79792" y="2194560"/>
            <a:ext cx="2194560" cy="13716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2" name="Text 20"/>
          <p:cNvSpPr/>
          <p:nvPr/>
        </p:nvSpPr>
        <p:spPr>
          <a:xfrm>
            <a:off x="7479792" y="2194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低稼働を前提とした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rot="5400000">
            <a:off x="9720072" y="2788920"/>
            <a:ext cx="109728" cy="182880"/>
          </a:xfrm>
          <a:prstGeom prst="rtTriangle">
            <a:avLst/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9820656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連休明け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20656" y="2194560"/>
            <a:ext cx="2194560" cy="1371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6" name="Text 24"/>
          <p:cNvSpPr/>
          <p:nvPr/>
        </p:nvSpPr>
        <p:spPr>
          <a:xfrm>
            <a:off x="9820656" y="2194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予約枠最大活用で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需要の波を受ける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051560" y="39502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同日充填は効かない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51560" y="4297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連休中は緊急入院も激減 — Phase 1 の発想が通用しない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09360" y="39776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903720" y="39502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連休前に退院を済ませる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03720" y="4297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3週前からの退院調整 + ターゲット患者リスト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50292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1051560" y="5001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連休明け初日の受入最大化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51560" y="5349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GW2025 では明け水曜に 13件の突発対応が発生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9360" y="50292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6903720" y="5001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既に動いている運用の延長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903720" y="5349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Slide 13 のとおり、現場では部分的に実施中 → 体系化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緊急提案: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GW2026（4/29〜5/5 の9連休）を Phase 2 の緊急パイロットに設定し、今月下旬から退院調整会議で試行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ロードマップと本日のご決裁事項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3α 緊急追加で 4 フェーズ + GW パイロット — 本則適用と同期して稼働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0_action_road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91640"/>
            <a:ext cx="7772400" cy="3474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503920" y="1691640"/>
            <a:ext cx="32004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C73E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691640"/>
            <a:ext cx="73152" cy="621792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8641080" y="1737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3α (4月下旬〜)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41080" y="20208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アプリ緊急改修・需要予測モジュール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503920" y="2377440"/>
            <a:ext cx="32004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03920" y="2377440"/>
            <a:ext cx="73152" cy="621792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5" name="Text 12"/>
          <p:cNvSpPr/>
          <p:nvPr/>
        </p:nvSpPr>
        <p:spPr>
          <a:xfrm>
            <a:off x="8641080" y="2423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GW 緊急パイロット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641080" y="27066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4/20〜5/7 先行試行（α 版活用）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503920" y="3063240"/>
            <a:ext cx="32004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A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03920" y="3063240"/>
            <a:ext cx="73152" cy="62179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9" name="Text 16"/>
          <p:cNvSpPr/>
          <p:nvPr/>
        </p:nvSpPr>
        <p:spPr>
          <a:xfrm>
            <a:off x="8641080" y="3108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1 (5月中旬〜)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641080" y="33924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選択的木曜前倒し試験運用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8503920" y="3749040"/>
            <a:ext cx="32004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F18F0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03920" y="3749040"/>
            <a:ext cx="73152" cy="621792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23" name="Text 20"/>
          <p:cNvSpPr/>
          <p:nvPr/>
        </p:nvSpPr>
        <p:spPr>
          <a:xfrm>
            <a:off x="8641080" y="3794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2 (8月〜)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64108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連休前退院枠・予約枠最適化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503920" y="4434840"/>
            <a:ext cx="32004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503920" y="4434840"/>
            <a:ext cx="73152" cy="6217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7" name="Text 24"/>
          <p:cNvSpPr/>
          <p:nvPr/>
        </p:nvSpPr>
        <p:spPr>
          <a:xfrm>
            <a:off x="864108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3β (10月〜)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641080" y="4764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ダッシュボード完成・院内展開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0" name="Text 27"/>
          <p:cNvSpPr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4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本日のご決裁事項（3 項目）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0080" y="57607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Phase 3α（アプリ緊急改修）の開始承認 ― 2026年4月下旬〜5月中旬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Phase 1 試験運用の開始承認（Phase 3α 完成後、5月中旬〜8月中旬）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GW2026 緊急パイロットの可否判断（4/20 頃からの退院調整試行）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週末・大型連休の稼働率対策</dc:title>
  <dc:subject>経営会議資料</dc:subject>
  <dc:creator>おもろまちメディカルセンター 副院長 久保田徹</dc:creator>
  <cp:lastModifiedBy>おもろまちメディカルセンター 副院長 久保田徹</cp:lastModifiedBy>
  <cp:revision>1</cp:revision>
  <dcterms:created xsi:type="dcterms:W3CDTF">2026-04-17T05:08:36Z</dcterms:created>
  <dcterms:modified xsi:type="dcterms:W3CDTF">2026-04-17T05:08:36Z</dcterms:modified>
</cp:coreProperties>
</file>