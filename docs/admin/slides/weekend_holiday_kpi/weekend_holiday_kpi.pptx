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DATA-DRIVEN BED CONTROL PROPOSAL  —  v4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週末・大型連休の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稼働率対策 v4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73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 連休中退院という発想転換と、賞与 +4% への道筋 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発表者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副院長  久保田  徹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内科 / 呼吸器内科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2026年4月19日  経営会議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おもろまちメディカルセンター</a:t>
            </a:r>
            <a:endParaRPr lang="en-US" sz="1400" dirty="0"/>
          </a:p>
          <a:p>
            <a:pPr algn="r" indent="0" marL="0">
              <a:buNone/>
            </a:pPr>
            <a:r>
              <a:rPr lang="en-US" sz="900" spc="4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OMOROMACHI MEDICAL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運用思想を転換すれば、年 2,403 万円が守られる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つの提案と、賞与 +4%（290 名で分け合う）への道筋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つの提案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" y="21305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 + 連休中の分散退院型運用への転換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14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大型連休で連休中稼働率 60% → 85% を目指す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971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+2,055 万円/年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341071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日曜退院の継続定着化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日曜入院 0.29 件/日という実データに基づく週 2 床シフト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251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+348 万円/年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51560" y="46908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データ駆動 × 制度適応の三位一体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5074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過去実績分析 / 施設基準実態レポート / 需要予測校正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" y="5532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2026-06-01 本則備え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1828800"/>
            <a:ext cx="18288" cy="42976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7406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賞与インパクト（290 名で分け合う）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06640" y="214884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589520" y="224028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+2,403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万円/年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589520" y="286938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合計効果（3 提案合算）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06640" y="324612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0" y="333756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+1,212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万円/年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7589520" y="396666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賞与原資（人件費率 58% 維持）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406640" y="434340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89520" y="443484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+41,800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589520" y="506394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人あたり 年間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06640" y="5440680"/>
            <a:ext cx="4434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589520" y="5532120"/>
            <a:ext cx="40690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+20,900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7589520" y="6081674"/>
            <a:ext cx="4069080" cy="13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夏冬賞与 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 対応アプリ（2026-04-19 以降） | 根拠データ: 2025FY 入院実績 1,965 件 / 0 埋め完全年間カレンダー方式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データ概要 — 1,965 件、完全年間カレンダー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 日）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1,965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4008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総入院件数（v4 再集計）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2044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分析対象日数（0 埋め）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86A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0080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予定入院（40.5%）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828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8116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18F0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1,081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8116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緊急入院（55.0%）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112471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での変更点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病棟別内訳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10896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5F 951 件 / 6F 996 件 / 4F 18 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06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4206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 日完全カレンダー）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分析軸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曜日 / 月 / 時間帯 / 年齢 / リードタイム の 5 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v3.6 からの変更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10896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1,876 件 → 1,965 件（0 埋めカレンダー方式で再集計）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除外処理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5029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4F 18 件は地域包括医療病棟外のため施設基準計算から除外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5303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データソース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5303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data/actual_admissions_2025fy.csv（電子カルテ抽出）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埋めカレンダー方式: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入院ゼロの日もカレンダー上に保持することで、曜日別平均や連休中の「実質ゼロ」が正確に反映される構造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曜日別入院パターン（v4 再集計）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月曜 8.15 件、日曜 0.29 件 — 平日の 28 分の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92024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92024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2011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 月曜 8.15 件/日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75320" y="237744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週明けの受入負荷集中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46720" y="324612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24612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 金曜は既に予定抑制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370332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 1.50 件のみ（緊急 3.81 件）— 週後半を回避済み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457200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57200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663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 日曜 0.29 件/日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75320" y="5029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 28 分の 1 — 鍵は退院側にある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転換: 「週末を埋める」から「日曜を退院に使う」発想へ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ばらつきで見る曜日差（箱ひげ図）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週末の谷は構造 — 埋めずに、使う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2_dow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0" y="1691640"/>
            <a:ext cx="8503920" cy="3840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623560"/>
            <a:ext cx="73152" cy="86868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 × 週末の分布は別領域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平日の四分位と週末 0〜3 件は重なりがほぼない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623560"/>
            <a:ext cx="73152" cy="86868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金曜は境界日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2628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平日側だが下側に寄りつつある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3816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623560"/>
            <a:ext cx="73152" cy="8686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構造は動かない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36676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偶発性ではない「曜日構造」→ 退院側で再配置する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月別トレンド — ピークと谷の季節性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月係数 0.89 〜 1.11 — 季節戦略が必要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3_month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49808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0" y="182880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92024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1.11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月係数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412480" y="270845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ピーク：7 月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0" y="324612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333756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0.89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月係数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412480" y="412577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谷：4 月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0" y="466344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475488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−12.7%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8412480" y="554309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日別 MAE 改善（日曜 −44%）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需要予測モデル校正（裏側自動適用）— 7 月・10 月は「高負荷吸収」/ 4 月・9 月は「谷の緩和」戦略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大型連休で何が起きているか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連休中稼働率 60% 台 — 年 2,055 万円の運営貢献額流出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4_holiday_d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0116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−2,055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万円/年 の運営貢献額流出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（587.5 床日 = 稼働率 +1.71%）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023360"/>
            <a:ext cx="73152" cy="7772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大型連休すべて 60% 台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4805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実質的に半休業状態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48920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4892040"/>
            <a:ext cx="73152" cy="77724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4983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二値構造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3492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連休日数は無関係、入るか入らないか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046720" y="57607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5760720"/>
            <a:ext cx="73152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8275320" y="58521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改善余地あり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75320" y="6217920"/>
            <a:ext cx="3337560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連休前後に需要集中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 2025 の具体例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連休中退院で 60% → 85% — 連休明けの 13 件も吸収しやすく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7_gw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5/3 – 5/6（4 日間）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4692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 1 件 — 実質ゼロ稼働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5/7（水）13 件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469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— 通常の約 2 倍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転換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46920" y="5212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連休前集中型 → 3 タグ分散型（連休前+中+明け）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年末年始の具体例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助走のある年末年始は、3 タグ分散を組みやすい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8_nenmatsu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12/27 – 1/4（9 日間）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4692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 1 件前後/日 — 実質休業状態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助走期間あり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469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12/20 頃から漸減 → 退院計画が立てやすい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家族都合逆転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46920" y="5212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仕事が休みの家族ほどお迎え可能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緊急入院の時刻分布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13-18 時に 64% 集中 — 退院した床は当日埋まる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5_emergency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64%</a:t>
            </a:r>
            <a:endParaRPr lang="en-US" sz="6800" dirty="0"/>
          </a:p>
        </p:txBody>
      </p:sp>
      <p:sp>
        <p:nvSpPr>
          <p:cNvPr id="11" name="Text 8"/>
          <p:cNvSpPr/>
          <p:nvPr/>
        </p:nvSpPr>
        <p:spPr>
          <a:xfrm>
            <a:off x="804672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緊急入院が 13-18 時 6 時間に集中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（約 694 / 1,081 件）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297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 0-5 時はごく僅か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6634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「夜中にどんどん来る」は誤認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074920"/>
            <a:ext cx="36576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074920"/>
            <a:ext cx="73152" cy="10515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166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連休中も時間帯構造は維持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532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連休中の朝退院も、当日中に緊急で埋まる可能性は低くない — 連休中退院のリスクは小さい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予定入院のリードタイム — 動かせる余地は十分ある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 12 日、平均 16.3 日 — 6 割は 8 日以上前に予約済み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1_lead_time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92024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29600" y="270845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中央値リードタイム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046720" y="324612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33756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60%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229600" y="412577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日以上前に予約済み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46720" y="46634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0" y="475488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– 21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8229600" y="554309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P25 – P75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運用: 連休中退院 + 連休明け入院の分散予約で平準化（リードタイム 12 日を活用）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登録曜日と入院曜日のマッピング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登録時点で入院曜日はどう選ばれているか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2_register_dow_vs_admit_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0" y="1691640"/>
            <a:ext cx="7589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715000"/>
            <a:ext cx="73152" cy="7772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月〜水 登録 → 火〜金 配置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典型パターンは「同週後半」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71500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 登録はほぼゼロ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2628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週末予約での空床埋めは物理的に不可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3816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715000"/>
            <a:ext cx="73152" cy="7772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運用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36676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📉 過去実績分析タブで月次確認 + 連休前後の予約曜日の分散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連休前後の予約集中 — 既に動いている運用の延長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連休明けの集中をほどく — リードタイム 12 日を活かす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3_holiday_lead_win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828800"/>
            <a:ext cx="73152" cy="118872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1920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連休期間内の予定はほぼゼロ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75320" y="22860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GW・SW は完全にゼロ、お盆のみ例外（16 件）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46720" y="315468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154680"/>
            <a:ext cx="73152" cy="1188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2461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明け週 &gt; 前週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36118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既に現場で部分的に実施されている運用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4480560"/>
            <a:ext cx="36576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480560"/>
            <a:ext cx="73152" cy="1234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572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進化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75320" y="493776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1 週間で平準化 — リードタイムを活用した体系化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沖縄固有の帰省医療需要（お盆 16 件）は地域特性として存置 — 一律削減はしない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区分別比較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を取り戻す — 687.5 床日/年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6_category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687.5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床日/年 = 約 2,403 万円/年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 100 + 連休中 587.5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9144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297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完全解消は不要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663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だけで年 2,400 万円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257800"/>
            <a:ext cx="73152" cy="9144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349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保守的試算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実運用開始後の実測で精度を上げる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提案① 3 タグ分散型運用への転換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 + 連休中 + 連休明け の 3 タグ分散で +2,055 万円/年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54864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運用思想の転換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v3.6 以前: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連休前に退院を集中させて受入能力を確保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退院を「連休前 + 連休中 + 連休明け」の 3 タグに分散 → 連休全期間を平準化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キー発想: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「家族都合逆転」— 連休中こそ家族は仕事が休みで、お迎えの都合が取りやすい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54864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737360"/>
            <a:ext cx="73152" cy="292608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具体的な運用 4 ステップ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331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カンファで 3 タグ分類（連休 3 週前）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834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一日 N 名までの退院枠を設定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連休 5 日間で合計 M 名を分散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3840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What-if タブでシミュレーション</a:t>
            </a:r>
            <a:endParaRPr lang="en-US" sz="1200" dirty="0"/>
          </a:p>
        </p:txBody>
      </p:sp>
      <p:pic>
        <p:nvPicPr>
          <p:cNvPr id="19" name="Image 0" descr="/Users/kubotatoru/ai-management/docs/admin/slides/weekend_holiday_kpi/charts/09_impact_simu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846320"/>
            <a:ext cx="685800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589520" y="4846320"/>
            <a:ext cx="4114800" cy="14630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1" name="Text 18"/>
          <p:cNvSpPr/>
          <p:nvPr/>
        </p:nvSpPr>
        <p:spPr>
          <a:xfrm>
            <a:off x="7589520" y="48920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+2,055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7589520" y="57150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万円/年（連休中 60% → 85%）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587.5 床日/年 = 稼働率 +1.71%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「患者さんに無理はさせない」を第一原則に — 家族の同意が得られた方だけを連休中退院可タグに残す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提案② 日曜退院の継続定着化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 2 床を土曜 → 日曜へシフト × 50 週 = +348 万円/年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6400800" cy="3657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32320" y="1737360"/>
            <a:ext cx="45720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32320" y="1737360"/>
            <a:ext cx="73152" cy="1691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8288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実データ構造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60920" y="21945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日曜入院: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0.29 件/日（平日の 28 分の 1）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土曜退院: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2.44 件/日（従来水準）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日曜退院: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動かせる余地が大きい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132320" y="3566160"/>
            <a:ext cx="45720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32320" y="3566160"/>
            <a:ext cx="73152" cy="18288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7360920" y="3657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運用設計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60920" y="402336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 2 床を土曜 → 日曜へシフト × 50 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100 床日 = +0.29% 稼働率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運営貢献額 +348 万円/年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家族都合逆転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日曜は家族が仕事休みの方が多く、お迎えが取りやすい — 「日曜のお迎えはご都合いかがですか」のルーチン化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提案③ 三位一体 — 2026-06-01 本則適用の備え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データ駆動 × 制度適応 × 需要予測校正の基盤を理事会定期報告に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3657600" cy="4572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📉 過去実績分析タブ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サマリー KPI / 月別推移 / 曜日パターン / 時間帯 / 年齢 / リードタイム の 6 サブタブ — 毎週のカンファで確認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73736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施設基準実態レポート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予定外入院率 5F 53.1% / 6F 61.1%（2 値分類、救急搬送後厳密値は精査中）、85+ 27.3% を理事会四半期報告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737360"/>
            <a:ext cx="3657600" cy="4572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6"/>
          <p:cNvSpPr/>
          <p:nvPr/>
        </p:nvSpPr>
        <p:spPr>
          <a:xfrm>
            <a:off x="827532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需要予測モデル校正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月係数・曜日係数・時間帯係数を裏側自動適用。日別 MAE −12.7%、日曜 −44% 改善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主要指標ダッシュボード（v4 施設基準実態レポートより）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2336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参考値/基準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当院実績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0" y="4434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備考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00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 5F（通年・2値分類）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02336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参考値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8368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53.1%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0" y="4800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救急+他経路込み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120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 6F（通年・2値分類）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023360" y="5120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参考値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83680" y="5120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61.1%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14400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救急+他経路込み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 5F（rolling 3ヶ月）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233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参考値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8368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54.4%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144000" y="5440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救急+他経路込み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760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 6F（rolling 3ヶ月）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023360" y="5760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83680" y="5760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60.1%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44000" y="5760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救急+他経路込み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6080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歳以上患者割合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023360" y="6080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 以上で LOS 緩和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6080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27.3%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144000" y="6080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閾値 +7.3pt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 — 290 名で分け合う +4%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+2,403 万円/年 → 夏冬賞与 各 +20,900 円/人の余地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53035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経営構造（当院の値）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総スタッフ数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86200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290 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27249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人件費率（売上対比）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27249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31638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賞与率（月給に対する年間合計）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86200" y="31638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190 – 200%（月給 3.9 ヶ月分/年）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6027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病床 / 稼働率 1% の価値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36027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 床、1,199 万円/年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5800" y="40416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人件費内の賞与原資比率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4041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 21%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1737360"/>
            <a:ext cx="56692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737360"/>
            <a:ext cx="73152" cy="29260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賞与インパクト試算式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2313432"/>
            <a:ext cx="137160" cy="3200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22860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売上増（運営貢献額）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+2,403 万円/年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63640" y="2752344"/>
            <a:ext cx="137160" cy="3200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27249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人件費率 58%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0" y="27249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1,394 万円/年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191256"/>
            <a:ext cx="137160" cy="3200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1638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1.15（社保分除く）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1,212 万円/年 賞与原資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3630168"/>
            <a:ext cx="13716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360273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290 名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44000" y="36027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+41,800 円/人/年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4069080"/>
            <a:ext cx="137160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2（夏冬）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4400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+20,900 円/人/回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副院長ヒューリスティックとの整合性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既存経験則: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稼働率 +5% → 賞与原資 +10%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本試算: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稼働率 +2.00% → 賞与原資 +4.0% = +41,800 円/人/年（100 万 × 4% に一致）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判定: </a:t>
            </a:r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整合 ✓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本試算は「構造として存在する余力（上限）」を示すもので、実際の賞与配分は経営判断・内部留保とのバランスを含みます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2026-06-01 本則完全適用への備え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LOS 21 → 20 日、rolling 3 ヶ月判定、短手 3 階段関数 — 当院は準備済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変更点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現行（〜2026-05-31）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本則（2026-06-01〜）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0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当院実績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112471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平均在院日数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089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日（緩和 22 日）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2148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日（緩和 21 日）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5F 16.5 / 6F 15.6 日（余裕あり）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1247120" cy="50292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救急搬送後割合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0896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単月 15% 以上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651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rolling 3 ヶ月 15% 以上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予定外入院率※ 5F 54.4% / 6F 60.1%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154680"/>
            <a:ext cx="112471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短手 3 LOS 分母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0896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単純組入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階段関数（Day 5/6 境界）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0" y="3154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 22 名、Day 6 超過は月 1 名（4.5%）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11247120" cy="10058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 歳以上 20% 以上で +1 日緩和 — 20 + 1 = 21 日（22 日ではない）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当院 85+ 割合 27.3% で閾値 20% を +7.3pt 上回っており、緩和条件クリア。推定 LOS 5F 16.5 / 6F 15.6 日 → 緩和後基準 21 日に対し 4〜5 日の余裕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074920"/>
            <a:ext cx="5577840" cy="14173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5166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🟢 判定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5321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現状の運営パターンで 2026-06-01 本則完全適用に対応可能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全項目で安全マージンを持って達成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5074920"/>
            <a:ext cx="5394960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5166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先回り実装済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92240" y="5532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サイドバーに経過措置終了カウントダウンバナー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rolling 3 ヶ月判定（is_transitional_period() ゲート付）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LOS 階段関数（短手 3 Day 5/6 境界）+ Day 5 到達アラート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実行計画とまとめ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 新 3 提案で年 2,403 万円 → 賞与 +4% の道筋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kubotatoru/ai-management/docs/admin/slides/weekend_holiday_kpi/charts/10_action_road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7772400" cy="3474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03920" y="1783080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783080"/>
            <a:ext cx="73152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8641080" y="18562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カンファで 3 タグ運用開始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41080" y="21671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2026-05 〜（v4 カンファ資料タブで即運用可）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503920" y="2624328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03920" y="2624328"/>
            <a:ext cx="73152" cy="749808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8641080" y="2697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毎週の過去実績タブ確認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41080" y="30083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2026-05 〜（病棟運営会議のルーチン化）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503920" y="3465576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73E1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3465576"/>
            <a:ext cx="73152" cy="74980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9" name="Text 16"/>
          <p:cNvSpPr/>
          <p:nvPr/>
        </p:nvSpPr>
        <p:spPr>
          <a:xfrm>
            <a:off x="8641080" y="3538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GW2026 緊急パイロット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41080" y="384962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2026-04-29 〜 9 連休で提案①先行試行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503920" y="4306824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4306824"/>
            <a:ext cx="73152" cy="74980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0"/>
          <p:cNvSpPr/>
          <p:nvPr/>
        </p:nvSpPr>
        <p:spPr>
          <a:xfrm>
            <a:off x="8641080" y="4379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理事会四半期定期報告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641080" y="4690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2026-07 〜 施設基準実態レポート提出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本日のご決裁事項（3 項目）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v4 新 3 提案 の方向性ご承認（連休前+連休中分散退院型 / 日曜退院定着化 / 三位一体基盤）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GW2026 緊急パイロット の実施可否判断（2026-04-29 〜 5/5 の 9 連休で先行試行）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施設基準実態レポート の理事会四半期定期報告枠組のご承認（初回 2026-07）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 Q&amp;A（1/2）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データ信頼性 / 本則安全性 / 短手 3 余力 / 家族説明 / 他職種連携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647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Q1: 実データ 1,965 件の信頼性は？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0756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電子カルテ抽出の月次 xlsx 12 ヶ月を統合。v3.6 までの 1,876 件は重複除去が過剰で、「同日・同病棟再入院」「転棟記録」の誤判定を含んでいた。v4 は 0 埋めカレンダー方式で再集計。4F 18 件は施設基準計算から除外。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24328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24328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Q2: 2026-06-01 本則適用は本当に安全か？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00837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LOS・85+ 比率は安全マージンを持って達成。予定外入院率 5F 53.1% / 6F 61.1%（2 値分類のため制度上の救急搬送後厳密値は精査中だが、基準 15% 達成見込み）、85+ 27.3%、推定 LOS 5F 16.5 / 6F 15.6 日（緩和後 21 日に対し 4-5 日の余裕）。救急搬送後厳密値は2026-07 頃の純実データ蓄積後に確定（手動シード入力で bridge 中）。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557016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301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Q3: 短手 3 の戦略的増加余力はあるか？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94106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予定外入院率が 50-60% と高水準のため、制度上の救急搬送後厳密値（精査中）も基準 15% に対して十分な余裕がある見込み。現在月 22 名 → 月 30 名程度は技術的可能。ただし消化器内科・紹介元病院との段階的調整が前提。最終判断は事務の入院経路 5 区分再エクスポート後に制度上の救急搬送後値で行う。v4 では Day 5/6 境界の影響を可視化する仕組みを整備。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89704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489704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6285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Q4: 連休中退院を家族にどう説明する？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「状態が安定していれば、連休中のお迎えはご都合いかがですか」と選択肢として提示。強制ではない。カンファの「家族確認済み」フラグで管理し、同意が得られた方だけを連休中退院可タグに残す。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422392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22392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9554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Q5: 他職種との連携はどう進める？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師長・MSW・リハ PT/OT/ST・主治医の 4 職種が既存の多職種カンファで 3 タグ分類。連休対策モード切替トグルを追加するだけで、新しい会議体は不要。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 Q&amp;A（2/2）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短期/長期効果 / 他病院事例 / 賞与保証 / スタッフ合意 / 失敗シナリオ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647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Q6: 短期/長期それぞれの効果は？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0756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短期（2026-05〜07）: GW + 日曜退院で年換算 500-700 万円。中期（2026-08〜12）: お盆・SW・年末年始の本格運用で 1,200-1,800 万円。長期（2027 年度〜）: 5 大型連休で分散退院定着、年 2,400 万円 + 賞与 +4% が恒常化。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24328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24328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Q7: 他病院の事例はあるのか？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00837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病院・大規模急性期病院では「連休前退院調整会議」の実装例あり。ただし中規模ケアミックス病院で「連休中退院も推奨する分散型」を体系化した事例は限定的。当院が先行事例・沖縄県内の地域医療連携モデルとなり得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557016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301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Q8: 賞与への自動反映は保証されるか？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94106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直接的な自動反映は組織構造として保証されない。本試算は「構造として存在する余力」を示すもの。当院の人件費構造上、売上増の約 21% が賞与原資として集約されるので、経営判断として還元方針が明示されれば試算通りの反映が可能。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89704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489704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6285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Q9: スタッフの理解・合意をどう形成するか？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段階: ①師長会議で運用思想と賞与インパクト説明 / ②各病棟カンファで運用手順共有 / ③全スタッフに個別賞与インパクト試算を配布。「自分の賞与が +41,800 円/年」という具体数字で納得感を醸成。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422392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22392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9554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Q10: 失敗シナリオと撤退基準は？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トリガー: ①連休明け週の空床吸収が前年同期比で 3 回連続改善なし / ②在宅復帰率が過去 12 ヶ月平均を 3% 以上下回る / ③退院支援 NS・MSW の残業が月 20 時間以上増加。いずれか該当で即時ロールバック + 原因分析。四半期理事会で可視化。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週末・大型連休の稼働率対策 v4</dc:title>
  <dc:subject>経営会議資料（v4 新 3 提案・賞与インパクト・2026-06-01 本則）</dc:subject>
  <dc:creator>おもろまちメディカルセンター 副院長 久保田徹</dc:creator>
  <cp:lastModifiedBy>おもろまちメディカルセンター 副院長 久保田徹</cp:lastModifiedBy>
  <cp:revision>1</cp:revision>
  <dcterms:created xsi:type="dcterms:W3CDTF">2026-04-20T23:18:57Z</dcterms:created>
  <dcterms:modified xsi:type="dcterms:W3CDTF">2026-04-20T23:18:57Z</dcterms:modified>
</cp:coreProperties>
</file>