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200" b="1">
                <a:solidFill>
                  <a:srgbClr val="1F2937"/>
                </a:solidFill>
                <a:latin typeface="Hiragino Mincho ProN"/>
              </a:rPr>
              <a:t>医師別 病棟貢献度 KPI 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Hiragino Mincho ProN"/>
              </a:rPr>
              <a:t>理事会説明資料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Hiragino Mincho ProN"/>
              </a:rPr>
              <a:t>「短期回転 ＝ 経営最適」は誤り：B 群（回復期）の中心管理が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Hiragino Mincho ProN"/>
              </a:rPr>
              <a:t>運営貢献を最大化する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Hiragino Mincho ProN"/>
              </a:rPr>
              <a:t>おもろまちメディカルセンター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Hiragino Mincho ProN"/>
              </a:rPr>
              <a:t>副院長 久保田 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Hiragino Mincho ProN"/>
              </a:rPr>
              <a:t>2026 年 5 月 4 日 / Rev. 2（粗利ベース 抜本改訂版）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Hiragino Mincho ProN"/>
              </a:rPr>
              <a:t>本日の結論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Hiragino Mincho ProN"/>
              </a:rPr>
              <a:t>①  ベッド粗利単価の正しい順位は B（32,500）＞ C（31,000）＞ A（26,500）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Hiragino Mincho ProN"/>
              </a:rPr>
              <a:t>    → 「短期回転＝経営貢献大」は誤り。コストを差し引いた粗利では B 群最高</a:t>
            </a:r>
          </a:p>
          <a:p>
            <a:pPr algn="l"/>
            <a:r>
              <a:rPr sz="8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200" b="1">
                <a:solidFill>
                  <a:srgbClr val="1F2937"/>
                </a:solidFill>
                <a:latin typeface="Hiragino Mincho ProN"/>
              </a:rPr>
              <a:t>②  長期入院型（B + C 群偏重）の医師ほど粗利単価が高い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Hiragino Mincho ProN"/>
              </a:rPr>
              <a:t>    → 上位 3 医師はいずれも B + C 群比率 80% 超の長期管理型</a:t>
            </a:r>
          </a:p>
          <a:p>
            <a:pPr algn="l"/>
            <a:r>
              <a:rPr sz="8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200" b="1">
                <a:solidFill>
                  <a:srgbClr val="1F2937"/>
                </a:solidFill>
                <a:latin typeface="Hiragino Mincho ProN"/>
              </a:rPr>
              <a:t>③  稼働率寄与率と年間粗利は相関 r = 0.96 で極めて強く連動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Hiragino Mincho ProN"/>
              </a:rPr>
              <a:t>    → 主指標を「稼働率寄与率（量）」+「ベッド粗利単価（質）」の 2 軸に</a:t>
            </a:r>
          </a:p>
          <a:p>
            <a:pPr algn="l"/>
            <a:r>
              <a:rPr sz="8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200" b="1">
                <a:solidFill>
                  <a:srgbClr val="1F2937"/>
                </a:solidFill>
                <a:latin typeface="Hiragino Mincho ProN"/>
              </a:rPr>
              <a:t>④  5F 病棟は OKUK 1 名で 23.3% を占有 — 構造的リスク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Hiragino Mincho ProN"/>
              </a:rPr>
              <a:t>    → 5F 主治医増員 + バックアップ体制整備を提言</a:t>
            </a:r>
          </a:p>
          <a:p>
            <a:pPr algn="l"/>
            <a:r>
              <a:rPr sz="8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200" b="1">
                <a:solidFill>
                  <a:srgbClr val="1F2937"/>
                </a:solidFill>
                <a:latin typeface="Hiragino Mincho ProN"/>
              </a:rPr>
              <a:t>⑤  運営方針: 「短期回転推進」ではなく「適切な在院期間管理」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Hiragino Mincho ProN"/>
              </a:rPr>
              <a:t>    → 適応のある患者を 6〜14 日（B 群）で安定管理する文化を強化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DC2626"/>
                </a:solidFill>
                <a:latin typeface="Hiragino Mincho ProN"/>
              </a:rPr>
              <a:t>重要: 「報酬」ではなく「粗利」で評価する</a:t>
            </a:r>
          </a:p>
        </p:txBody>
      </p:sp>
      <p:pic>
        <p:nvPicPr>
          <p:cNvPr id="4" name="Picture 3" descr="06_misconception_n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4372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Hiragino Mincho ProN"/>
              </a:rPr>
              <a:t>✅ 正しい認識: コストを差し引くと B 群（回復期）が最高、A 群（急性期）が最低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Hiragino Mincho ProN"/>
              </a:rPr>
              <a:t>なぜ「医師別 病棟貢献度」を見える化するのか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ragino Mincho ProN"/>
              </a:rPr>
              <a:t>● 病棟稼働率は施設基準（地域包括医療病棟は 90%）達成のための最重要指標</a:t>
            </a:r>
          </a:p>
          <a:p>
            <a:pPr algn="l"/>
            <a:r>
              <a:rPr sz="8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● 実態は各主治医の入院・在院・退院判断の総和が病棟稼働率を作る</a:t>
            </a:r>
          </a:p>
          <a:p>
            <a:pPr algn="l"/>
            <a:r>
              <a:rPr sz="16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本資料の 3 つの問い: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Hiragino Mincho ProN"/>
              </a:rPr>
              <a:t>    1. 各医師が病棟稼働率をどれだけ支えているか？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Hiragino Mincho ProN"/>
              </a:rPr>
              <a:t>    2. それは病院収益（粗利＝運営貢献額）にどう結びついているか？</a:t>
            </a:r>
          </a:p>
          <a:p>
            <a:pPr algn="l"/>
            <a:r>
              <a:rPr sz="1700" b="0">
                <a:solidFill>
                  <a:srgbClr val="1F2937"/>
                </a:solidFill>
                <a:latin typeface="Hiragino Mincho ProN"/>
              </a:rPr>
              <a:t>    3. 構造的なリスク（特定医師への依存など）はないか？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52160"/>
            <a:ext cx="10972800" cy="7315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Hiragino Mincho ProN"/>
              </a:rPr>
              <a:t>📌 大前提: 個別医師の評価ではなく、病棟運営の構造把握を目的とします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Hiragino Mincho ProN"/>
              </a:rPr>
              <a:t>データ概要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65176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iragino Mincho ProN"/>
              </a:rPr>
              <a:t>対象期間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65176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200" b="1">
                <a:solidFill>
                  <a:srgbClr val="2563EB"/>
                </a:solidFill>
                <a:latin typeface="Hiragino Mincho ProN"/>
              </a:rPr>
              <a:t>13 ヶ月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Hiragino Mincho ProN"/>
              </a:rPr>
              <a:t>2025-04 〜 2026-04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65176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iragino Mincho ProN"/>
              </a:rPr>
              <a:t>入院件数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11680"/>
            <a:ext cx="265176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200" b="1">
                <a:solidFill>
                  <a:srgbClr val="2563EB"/>
                </a:solidFill>
                <a:latin typeface="Hiragino Mincho ProN"/>
              </a:rPr>
              <a:t>1,960 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15468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Hiragino Mincho ProN"/>
              </a:rPr>
              <a:t>事務提供 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65176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iragino Mincho ProN"/>
              </a:rPr>
              <a:t>対象医師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11680"/>
            <a:ext cx="265176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200" b="1">
                <a:solidFill>
                  <a:srgbClr val="2563EB"/>
                </a:solidFill>
                <a:latin typeface="Hiragino Mincho ProN"/>
              </a:rPr>
              <a:t>14 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15468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Hiragino Mincho ProN"/>
              </a:rPr>
              <a:t>件数 10 以上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371600"/>
            <a:ext cx="265176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55448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iragino Mincho ProN"/>
              </a:rPr>
              <a:t>総延日数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011680"/>
            <a:ext cx="265176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200" b="1">
                <a:solidFill>
                  <a:srgbClr val="2563EB"/>
                </a:solidFill>
                <a:latin typeface="Hiragino Mincho ProN"/>
              </a:rPr>
              <a:t>29,690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15468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Hiragino Mincho ProN"/>
              </a:rPr>
              <a:t>床日（5F + 6F）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Hiragino Mincho ProN"/>
              </a:rPr>
              <a:t>病棟構成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Hiragino Mincho ProN"/>
              </a:rPr>
              <a:t>5F 病棟 47 床（年間稼働率 84.9%）  /  6F 病棟 47 床（年間稼働率 88.8%）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94960"/>
            <a:ext cx="10972800" cy="12801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Hiragino Mincho ProN"/>
              </a:rPr>
              <a:t>⚠️ 本解析の限界（Stage 1）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Hiragino Mincho ProN"/>
              </a:rPr>
              <a:t>フェーズ別粗利のみで概算しています。リハ加算・処置加算・手術料は概算に含まず。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Hiragino Mincho ProN"/>
              </a:rPr>
              <a:t>次フェーズで事務から追加データを取得し精緻化します。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Hiragino Mincho ProN"/>
              </a:rPr>
              <a:t>フェーズ別 単価構造 — 報酬・変動費・粗利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Hiragino Mincho ProN"/>
              </a:rPr>
              <a:t>アプリ実装の 2026 年度プリセット（入院料 1・イ/ロ/ハ加重平均）に基づく数値: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566160" cy="329184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Hiragino Mincho ProN"/>
              </a:rPr>
              <a:t>A 群（急性期）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iragino Mincho ProN"/>
              </a:rPr>
              <a:t>1 〜 5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Hiragino Mincho ProN"/>
              </a:rPr>
              <a:t>報酬 38,500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0">
                <a:solidFill>
                  <a:srgbClr val="DC2626"/>
                </a:solidFill>
                <a:latin typeface="Hiragino Mincho ProN"/>
              </a:rPr>
              <a:t>− 変動費 12,000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Hiragino Mincho ProN"/>
              </a:rPr>
              <a:t>= 粗利 26,500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Hiragino Mincho ProN"/>
              </a:rPr>
              <a:t>3 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3566160" cy="329184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874520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Hiragino Mincho ProN"/>
              </a:rPr>
              <a:t>B 群（回復期）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77440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iragino Mincho ProN"/>
              </a:rPr>
              <a:t>6 〜 14 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Hiragino Mincho ProN"/>
              </a:rPr>
              <a:t>報酬 38,500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91840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0">
                <a:solidFill>
                  <a:srgbClr val="DC2626"/>
                </a:solidFill>
                <a:latin typeface="Hiragino Mincho ProN"/>
              </a:rPr>
              <a:t>− 変動費 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794760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Hiragino Mincho ProN"/>
              </a:rPr>
              <a:t>= 粗利 32,500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434840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Hiragino Mincho ProN"/>
              </a:rPr>
              <a:t>★ 1 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737360"/>
            <a:ext cx="3566160" cy="3291840"/>
          </a:xfrm>
          <a:prstGeom prst="rect">
            <a:avLst/>
          </a:prstGeom>
          <a:solidFill>
            <a:srgbClr val="FD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874520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Hiragino Mincho ProN"/>
              </a:rPr>
              <a:t>C 群（退院準備期）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377440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iragino Mincho ProN"/>
              </a:rPr>
              <a:t>15 日以降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34640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Hiragino Mincho ProN"/>
              </a:rPr>
              <a:t>報酬 35,500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291840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0">
                <a:solidFill>
                  <a:srgbClr val="DC2626"/>
                </a:solidFill>
                <a:latin typeface="Hiragino Mincho ProN"/>
              </a:rPr>
              <a:t>− 変動費 4,500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794760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Hiragino Mincho ProN"/>
              </a:rPr>
              <a:t>= 粗利 31,000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434840"/>
            <a:ext cx="3566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D97706"/>
                </a:solidFill>
                <a:latin typeface="Hiragino Mincho ProN"/>
              </a:rPr>
              <a:t>2 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212080"/>
            <a:ext cx="10972800" cy="13716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Hiragino Mincho ProN"/>
              </a:rPr>
              <a:t>💡 ベッド粗利単価 = (A 日数×26,500 + B 日数×32,500 + C 日数×31,000) / 総延日数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Hiragino Mincho ProN"/>
              </a:rPr>
              <a:t>    → 短期入院（A 群）中心 → 単価 低い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Hiragino Mincho ProN"/>
              </a:rPr>
              <a:t>    → 長期入院（B + C 群）中心 → 単価 高い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Hiragino Mincho ProN"/>
              </a:rPr>
              <a:t>計算の考え方 — 年間粗利 ＝ 量 × 単価 × 期間</a:t>
            </a:r>
          </a:p>
        </p:txBody>
      </p:sp>
      <p:pic>
        <p:nvPicPr>
          <p:cNvPr id="4" name="Picture 3" descr="01_concept_n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65366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Hiragino Mincho ProN"/>
              </a:rPr>
              <a:t>結果① 医師別 ポジショニング（散布図）</a:t>
            </a:r>
          </a:p>
        </p:txBody>
      </p:sp>
      <p:pic>
        <p:nvPicPr>
          <p:cNvPr id="4" name="Picture 3" descr="02_scatter_n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72258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Hiragino Mincho ProN"/>
              </a:rPr>
              <a:t>結果② 病棟別 稼働率寄与率ランキング</a:t>
            </a:r>
          </a:p>
        </p:txBody>
      </p:sp>
      <p:pic>
        <p:nvPicPr>
          <p:cNvPr id="4" name="Picture 3" descr="03_ward_ranking_n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61142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Hiragino Mincho ProN"/>
              </a:rPr>
              <a:t>結果③ 粗利シェア — 全体年間粗利 8.96 億円 の内訳</a:t>
            </a:r>
          </a:p>
        </p:txBody>
      </p:sp>
      <p:pic>
        <p:nvPicPr>
          <p:cNvPr id="4" name="Picture 3" descr="04_treemap_n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5834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Hiragino Mincho ProN"/>
              </a:rPr>
              <a:t>結果④ 稼働率寄与率 と 粗利 の相関検証</a:t>
            </a:r>
          </a:p>
        </p:txBody>
      </p:sp>
      <p:pic>
        <p:nvPicPr>
          <p:cNvPr id="4" name="Picture 3" descr="05_correlation_n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881360" cy="63189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035040"/>
            <a:ext cx="1088136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Hiragino Mincho ProN"/>
              </a:rPr>
              <a:t>💡 結論: 稼働率寄与率を主指標にすれば粗利の 9 割以上を説明できる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10B981"/>
                </a:solidFill>
                <a:latin typeface="Hiragino Mincho ProN"/>
              </a:rPr>
              <a:t>主な発見① 粗利単価 トップ 3 はすべて長期入院型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Hiragino Mincho ProN"/>
              </a:rPr>
              <a:t>ベッド粗利単価 上位 3 名: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Hiragino Mincho ProN"/>
              </a:rPr>
              <a:t>  1. OKUK    30,712 円/床日    平均在院 35.7 日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>      B 群 21% / C 群 65% / A 群 14%</a:t>
            </a:r>
          </a:p>
          <a:p>
            <a:pPr algn="l"/>
            <a:r>
              <a:rPr sz="6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Hiragino Mincho ProN"/>
              </a:rPr>
              <a:t>  2. KJJ    30,695 円/床日    平均在院 33.2 日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>      B 群 24% / C 群 61% / A 群 15%</a:t>
            </a:r>
          </a:p>
          <a:p>
            <a:pPr algn="l"/>
            <a:r>
              <a:rPr sz="6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Hiragino Mincho ProN"/>
              </a:rPr>
              <a:t>  3. KUBT    30,476 円/床日    平均在院 22.2 日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>      B 群 25% / C 群 54% / A 群 20%</a:t>
            </a:r>
          </a:p>
          <a:p>
            <a:pPr algn="l"/>
            <a:r>
              <a:rPr sz="6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💡 重要発見: 単価が高い医師は B + C 群が多い → 長期入院型</a:t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Hiragino Mincho ProN"/>
              </a:rPr>
              <a:t>       「短期回転＝高単価」という思い込みは誤り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Hiragino Mincho ProN"/>
              </a:rPr>
              <a:t>主な発見② 5F 病棟は OKUK 1 名に依存（構造的リスク）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● 5F 病棟の年間延べ床日数 14,557 床日 のうち</a:t>
            </a:r>
          </a:p>
          <a:p>
            <a:pPr algn="l"/>
            <a:r>
              <a:rPr sz="2200" b="1">
                <a:solidFill>
                  <a:srgbClr val="1F2937"/>
                </a:solidFill>
                <a:latin typeface="Hiragino Mincho ProN"/>
              </a:rPr>
              <a:t>    OKUK 単独で 3,394 床日（23.3%）を占有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● 次点の 5F 主治医は 13.1% で 10pt 以上の差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● OKUK の長期不在で 5F 年間稼働率が</a:t>
            </a:r>
          </a:p>
          <a:p>
            <a:pPr algn="l"/>
            <a:r>
              <a:rPr sz="2200" b="1">
                <a:solidFill>
                  <a:srgbClr val="1F2937"/>
                </a:solidFill>
                <a:latin typeface="Hiragino Mincho ProN"/>
              </a:rPr>
              <a:t>    84.9% → 約 78.5% まで低下するリスク</a:t>
            </a:r>
          </a:p>
          <a:p>
            <a:pPr algn="l"/>
            <a:r>
              <a:rPr sz="16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⚠️ バックアップ体制の脆弱性 — 緊急対応が必要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Hiragino Mincho ProN"/>
              </a:rPr>
              <a:t>主な発見③ 6F 病棟は 3 名でバランスよく支えられている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● 6F 病棟 上位 3 名:</a:t>
            </a:r>
          </a:p>
          <a:p>
            <a:pPr algn="l"/>
            <a:r>
              <a:rPr sz="2200" b="1">
                <a:solidFill>
                  <a:srgbClr val="1F2937"/>
                </a:solidFill>
                <a:latin typeface="Hiragino Mincho ProN"/>
              </a:rPr>
              <a:t>    KUBT・KJJ・TERUH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合計 6F 寄与率 54.6%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● 5F の中央集中（49%）と比べ、6F は分散度が高い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200" b="1">
                <a:solidFill>
                  <a:srgbClr val="1F2937"/>
                </a:solidFill>
                <a:latin typeface="Hiragino Mincho ProN"/>
              </a:rPr>
              <a:t>● 特定医師不在時のリスクが相対的に小さい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● 6F 年間稼働率 88.8%（目標 90% にあと 1.2pt）</a:t>
            </a:r>
          </a:p>
          <a:p>
            <a:pPr algn="l"/>
            <a:r>
              <a:rPr sz="16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✅ 健全な分散型運営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Hiragino Mincho ProN"/>
              </a:rPr>
              <a:t>提言 1:  5F 病棟の主治医不足リスクを解消する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課題: 5F の OKUK 依存（23.3%）は経営継続性のリスク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対応: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5F に主たる病棟を持つ医師を 1〜2 名増員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OKUK の患者バックアップ体制を整備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5F 主治医の月次寄与率を可視化し、依存度を継続モニタリング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期待効果: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5F 年間稼働率 84.9% → 90% へ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不在リスクで稼働率 6pt 下落を防止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D97706"/>
                </a:solidFill>
                <a:latin typeface="Hiragino Mincho ProN"/>
              </a:rPr>
              <a:t>提言 2:  「短期回転推進」ではなく「適切な在院期間管理」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本解析で「B 群（回復期 6〜14 日）の中心管理が最も粗利貢献が高い」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ことが明確になりました。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運営方針: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適応のある患者を 6〜14 日の B 群中心で安定管理する文化を強化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C 群（15 日以降）への滞留を抑え、退院支援に注力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A 群（急性期）は本来必要な医療を提供（コスト理由で減らさない）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1600" b="1">
                <a:solidFill>
                  <a:srgbClr val="1F2937"/>
                </a:solidFill>
                <a:latin typeface="Hiragino Mincho ProN"/>
              </a:rPr>
              <a:t>⚠️ 倫理的配慮: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>    患者選別・適応外入院・在院延長を誘発しない設計とする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>    「適応のある患者を、適切な期間で治療し、自宅復帰を支援する」が大前提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Hiragino Mincho ProN"/>
              </a:rPr>
              <a:t>提言 3:  KPI 月次モニタリング体制を確立する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KPI 設計: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主指標: 稼働率寄与率（%） — ベッドを埋める量の貢献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副指標: ベッド粗利単価（円/床日） — 1 床 1 日あたりの運営貢献額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合成 : 年間粗利 = 主 × 副 × 期間（参考値）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運用方法: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月次会議で全医師の寄与率・粗利単価を併記表示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順位ではなく散布図で「タイプ分類」として議論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ベッドコントロールシミュレーターに月次自動更新機能を組込み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Hiragino Mincho ProN"/>
              </a:rPr>
              <a:t>提言 4:  Stage 2 — リハ加算・処置加算で精緻化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現状（Stage 1）の限界: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フェーズ別粗利のみで概算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Stage 2 追加データ要求（事務へ）: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患者別 月次リハビリ単位数（PT / OT / ST）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処置加算（中心静脈、人工呼吸器、ドレーン等）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検査加算・手術料の患者別月次集計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Hiragino Mincho ProN"/>
              </a:rPr>
              <a:t/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Hiragino Mincho ProN"/>
              </a:rPr>
              <a:t>Stage 2 完成後の効果: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「実際にどの加算で単価を上げられるか」が見える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Hiragino Mincho ProN"/>
              </a:rPr>
              <a:t>    ● 診療科横断のベストプラクティス共有が可能に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6000" b="1">
                <a:solidFill>
                  <a:srgbClr val="1F2937"/>
                </a:solidFill>
                <a:latin typeface="Hiragino Mincho ProN"/>
              </a:rPr>
              <a:t>ご質問・ご討議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Hiragino Mincho ProN"/>
              </a:rPr>
              <a:t>おもろまちメディカルセンター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Hiragino Mincho ProN"/>
              </a:rPr>
              <a:t>副院長 久保田 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