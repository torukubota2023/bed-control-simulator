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4400" b="1">
                <a:solidFill>
                  <a:srgbClr val="1F2937"/>
                </a:solidFill>
                <a:latin typeface="Hiragino Mincho ProN"/>
              </a:rPr>
              <a:t>医師別 病棟貢献度 KPI 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51560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800" b="1">
                <a:solidFill>
                  <a:srgbClr val="2563EB"/>
                </a:solidFill>
                <a:latin typeface="Hiragino Mincho ProN"/>
              </a:rPr>
              <a:t>運営会議説明資料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Hiragino Mincho ProN"/>
              </a:rPr>
              <a:t>〜 過去 1 年の入院データから医師別の病棟運営貢献を見える化 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Hiragino Mincho ProN"/>
              </a:rPr>
              <a:t>おもろまちメディカルセンター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1F2937"/>
                </a:solidFill>
                <a:latin typeface="Hiragino Mincho ProN"/>
              </a:rPr>
              <a:t>副院長 久保田 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9CA3AF"/>
                </a:solidFill>
                <a:latin typeface="Hiragino Mincho ProN"/>
              </a:rPr>
              <a:t>2026 年 5 月 4 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355080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>
                <a:solidFill>
                  <a:srgbClr val="DC2626"/>
                </a:solidFill>
                <a:latin typeface="Hiragino Mincho ProN"/>
              </a:rPr>
              <a:t>※ 個人名はすべて A 医師, B 医師 ... と匿名化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Hiragino Mincho ProN"/>
              </a:rPr>
              <a:t>本日の結論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①  稼働率寄与率は病院収益と極めて強く相関（r = 0.96）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→ 稼働率寄与率を主指標にすれば収益の 92% を説明できる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②  6F 病棟は上位 3 名で 55% を担う健全な分散構造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→ 特定医師の不在リスクは相対的に小さい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③  5F 病棟は D医師 1 名で 23.3% を占有 — 構造的リスク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→ D医師 不在で 5F 稼働率が約 6pt 下がる脆弱性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④  KPI 月次モニタリング体制の確立を提言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→ 「稼働率寄与率（量）」+「ベッド単価（質）」の 2 軸併記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なぜ「医師別 病棟貢献度」を見える化するのか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● 病棟稼働率は施設基準（地域包括医療病棟は 90%）達成のための最重要指標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しかし「稼働率は副院長の責任」と属人化されがち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● 実態は各主治医の入院・在院・退院判断の総和が病棟稼働率を作る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本資料の 3 つの問い:</a:t>
            </a:r>
          </a:p>
          <a:p>
            <a:pPr algn="l"/>
            <a:r>
              <a:rPr sz="1700" b="0">
                <a:solidFill>
                  <a:srgbClr val="1F2937"/>
                </a:solidFill>
                <a:latin typeface="Hiragino Mincho ProN"/>
              </a:rPr>
              <a:t>    1. 各医師が病棟稼働率をどれだけ支えているか？</a:t>
            </a:r>
          </a:p>
          <a:p>
            <a:pPr algn="l"/>
            <a:r>
              <a:rPr sz="1700" b="0">
                <a:solidFill>
                  <a:srgbClr val="1F2937"/>
                </a:solidFill>
                <a:latin typeface="Hiragino Mincho ProN"/>
              </a:rPr>
              <a:t>    2. それは病院収益にどう結びついているか？</a:t>
            </a:r>
          </a:p>
          <a:p>
            <a:pPr algn="l"/>
            <a:r>
              <a:rPr sz="1700" b="0">
                <a:solidFill>
                  <a:srgbClr val="1F2937"/>
                </a:solidFill>
                <a:latin typeface="Hiragino Mincho ProN"/>
              </a:rPr>
              <a:t>    3. 構造的なリスク（特定医師への依存など）はないか？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852160"/>
            <a:ext cx="10972800" cy="73152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070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  <a:latin typeface="Hiragino Mincho ProN"/>
              </a:rPr>
              <a:t>📌 大前提: 個別医師の評価ではなく、病棟運営の構造把握を目的とします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Hiragino Mincho ProN"/>
              </a:rPr>
              <a:t>データ概要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6517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対象期間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265176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3600" b="1">
                <a:solidFill>
                  <a:srgbClr val="2563EB"/>
                </a:solidFill>
                <a:latin typeface="Hiragino Mincho ProN"/>
              </a:rPr>
              <a:t>13 ヶ月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546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Hiragino Mincho ProN"/>
              </a:rPr>
              <a:t>2025-04 〜 2026-04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371600"/>
            <a:ext cx="26517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5544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入院件数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011680"/>
            <a:ext cx="265176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3600" b="1">
                <a:solidFill>
                  <a:srgbClr val="2563EB"/>
                </a:solidFill>
                <a:latin typeface="Hiragino Mincho ProN"/>
              </a:rPr>
              <a:t>1,960 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1546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Hiragino Mincho ProN"/>
              </a:rPr>
              <a:t>事務提供 CSV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371600"/>
            <a:ext cx="26517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5544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対象医師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011680"/>
            <a:ext cx="265176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3600" b="1">
                <a:solidFill>
                  <a:srgbClr val="2563EB"/>
                </a:solidFill>
                <a:latin typeface="Hiragino Mincho ProN"/>
              </a:rPr>
              <a:t>14 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1546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Hiragino Mincho ProN"/>
              </a:rPr>
              <a:t>件数 10 以上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0" y="1371600"/>
            <a:ext cx="26517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総延日数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011680"/>
            <a:ext cx="265176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3600" b="1">
                <a:solidFill>
                  <a:srgbClr val="2563EB"/>
                </a:solidFill>
                <a:latin typeface="Hiragino Mincho ProN"/>
              </a:rPr>
              <a:t>29,690 床日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1546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Hiragino Mincho ProN"/>
              </a:rPr>
              <a:t>5F + 6F 合計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11480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病棟構成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72000"/>
            <a:ext cx="109728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5F 病棟 47 床（年間稼働率 84.9%）  /  6F 病棟 47 床（年間稼働率 88.8%）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94960"/>
            <a:ext cx="10972800" cy="128016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4864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  <a:latin typeface="Hiragino Mincho ProN"/>
              </a:rPr>
              <a:t>⚠️ 本解析の限界（Stage 1）</a:t>
            </a:r>
          </a:p>
          <a:p>
            <a:pPr algn="l"/>
            <a:r>
              <a:rPr sz="1200" b="0">
                <a:solidFill>
                  <a:srgbClr val="DC2626"/>
                </a:solidFill>
                <a:latin typeface="Hiragino Mincho ProN"/>
              </a:rPr>
              <a:t>フェーズ別単価のみで概算しています。リハ加算・処置加算・手術料・救急加算は未反映。</a:t>
            </a:r>
          </a:p>
          <a:p>
            <a:pPr algn="l"/>
            <a:r>
              <a:rPr sz="1200" b="0">
                <a:solidFill>
                  <a:srgbClr val="DC2626"/>
                </a:solidFill>
                <a:latin typeface="Hiragino Mincho ProN"/>
              </a:rPr>
              <a:t>次フェーズで事務から追加データを取得し精緻化します。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計算の考え方 — 数式の前に「面積」で理解する</a:t>
            </a:r>
          </a:p>
        </p:txBody>
      </p:sp>
      <p:pic>
        <p:nvPicPr>
          <p:cNvPr id="4" name="Picture 3" descr="01_concept_anonym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97280"/>
            <a:ext cx="8686800" cy="46557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3504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Hiragino Mincho ProN"/>
              </a:rPr>
              <a:t>💡 年間収益 = 受持数（横）× ベッド単価（縦）× 365 日　= 長方形の面積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ベッド単価とは — 地域包括医療病棟の特徴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地域包括医療病棟入院料は、入院日数で 1 日あたりの報酬が変わる仕組みです。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566160" cy="2926080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1F2937"/>
                </a:solidFill>
                <a:latin typeface="Hiragino Mincho ProN"/>
              </a:rPr>
              <a:t>A 群（急性期）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Hiragino Mincho ProN"/>
              </a:rPr>
              <a:t>1 〜 5 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00400"/>
            <a:ext cx="35661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600" b="1">
                <a:solidFill>
                  <a:srgbClr val="2563EB"/>
                </a:solidFill>
                <a:latin typeface="Hiragino Mincho ProN"/>
              </a:rPr>
              <a:t>約 24,000 円/日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0624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Hiragino Mincho ProN"/>
              </a:rPr>
              <a:t>急性期初期加算あり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828800"/>
            <a:ext cx="3566160" cy="2926080"/>
          </a:xfrm>
          <a:prstGeom prst="rect">
            <a:avLst/>
          </a:prstGeom>
          <a:solidFill>
            <a:srgbClr val="BBF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210312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1F2937"/>
                </a:solidFill>
                <a:latin typeface="Hiragino Mincho ProN"/>
              </a:rPr>
              <a:t>B 群（回復期）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4320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Hiragino Mincho ProN"/>
              </a:rPr>
              <a:t>6 〜 14 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200400"/>
            <a:ext cx="35661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600" b="1">
                <a:solidFill>
                  <a:srgbClr val="2563EB"/>
                </a:solidFill>
                <a:latin typeface="Hiragino Mincho ProN"/>
              </a:rPr>
              <a:t>約 13,200 円/日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420624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Hiragino Mincho ProN"/>
              </a:rPr>
              <a:t>★ 安定貢献層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828800"/>
            <a:ext cx="3566160" cy="2926080"/>
          </a:xfrm>
          <a:prstGeom prst="rect">
            <a:avLst/>
          </a:prstGeom>
          <a:solidFill>
            <a:srgbClr val="FD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210312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1F2937"/>
                </a:solidFill>
                <a:latin typeface="Hiragino Mincho ProN"/>
              </a:rPr>
              <a:t>C 群（退院準備期）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74320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Hiragino Mincho ProN"/>
              </a:rPr>
              <a:t>15 日以降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200400"/>
            <a:ext cx="35661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600" b="1">
                <a:solidFill>
                  <a:srgbClr val="2563EB"/>
                </a:solidFill>
                <a:latin typeface="Hiragino Mincho ProN"/>
              </a:rPr>
              <a:t>約 6,400 円/日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20624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Hiragino Mincho ProN"/>
              </a:rPr>
              <a:t>退院支援・在宅復帰指導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029200"/>
            <a:ext cx="10972800" cy="13716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120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Hiragino Mincho ProN"/>
              </a:rPr>
              <a:t>💡 「ベッド単価」 = その医師の患者の各フェーズ日数 × 単価 ÷ 総延日数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短期入院（A 群）中心の医師 → ベッド単価 高い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長期入院（C 群）中心の医師 → ベッド単価 低い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結果① 医師別 ポジショニング（散布図）</a:t>
            </a:r>
          </a:p>
        </p:txBody>
      </p:sp>
      <p:pic>
        <p:nvPicPr>
          <p:cNvPr id="4" name="Picture 3" descr="02_scatter_anonym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67040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結果② 病棟別 稼働率寄与率ランキング</a:t>
            </a:r>
          </a:p>
        </p:txBody>
      </p:sp>
      <p:pic>
        <p:nvPicPr>
          <p:cNvPr id="4" name="Picture 3" descr="03_ward_ranking_anonym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611694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Hiragino Mincho ProN"/>
              </a:rPr>
              <a:t>結果③ 経営シェア — 全体年間収益 3.90 億円 の内訳</a:t>
            </a:r>
          </a:p>
        </p:txBody>
      </p:sp>
      <p:pic>
        <p:nvPicPr>
          <p:cNvPr id="4" name="Picture 3" descr="04_treemap_anonym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582174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結果④ 稼働率寄与率 と 病院収益 の相関検証</a:t>
            </a:r>
          </a:p>
        </p:txBody>
      </p:sp>
      <p:pic>
        <p:nvPicPr>
          <p:cNvPr id="4" name="Picture 3" descr="05_correlation_anonym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10881360" cy="63189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035040"/>
            <a:ext cx="10881360" cy="7315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0B981"/>
                </a:solidFill>
                <a:latin typeface="Hiragino Mincho ProN"/>
              </a:rPr>
              <a:t>💡 結論: 稼働率寄与率を主指標にすれば、収益の 92% を説明できる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400" b="1">
                <a:solidFill>
                  <a:srgbClr val="DC2626"/>
                </a:solidFill>
                <a:latin typeface="Hiragino Mincho ProN"/>
              </a:rPr>
              <a:t>主な発見① 5F 病棟は D医師 1 名に依存（構造的リスク）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5F 病棟の年間延べ床日数 14,557 床日 のうち</a:t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    D医師 単独で 3,394 床日（23.3%）を占有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次点の 5F 主治医は 13.1% で 10pt 以上の差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D医師 の長期不在で 5F 年間稼働率が</a:t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    84.9% → 約 78.5% まで低下するリスク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⚠️ バックアップ体制の脆弱性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病気・退職・休暇等で D医師 が不在となった場合の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代替体制が不十分です。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400" b="1">
                <a:solidFill>
                  <a:srgbClr val="10B981"/>
                </a:solidFill>
                <a:latin typeface="Hiragino Mincho ProN"/>
              </a:rPr>
              <a:t>主な発見② 6F 病棟は 3 名でバランスよく支えられている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● 6F 病棟 上位 3 名:</a:t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    C医師・B医師・A医師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合計 6F 寄与率 54.6%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5F の中央集中（49%）と比べ、6F は分散度が高い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● 特定医師不在時のリスクが相対的に小さい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6F 年間稼働率 88.8%（目標 90% にあと 1.2pt）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✅ 健全な分散型運営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Hiragino Mincho ProN"/>
              </a:rPr>
              <a:t>提言 1:  5F 病棟の主治医不足リスクを解消する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課題: 5F の D医師 依存（23.3%）は経営継続性のリスク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対応: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5F に主たる病棟を持つ医師を 1〜2 名増員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D医師 の患者バックアップ体制を整備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    （指示・指導の引継ぎフロー、サブ主治医の指定）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5F 主治医の月次寄与率を可視化し、依存度を継続モニタリング</a:t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期待効果: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5F 年間稼働率 84.9% → 90% へ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不在リスクで稼働率 6pt 下落を防止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Hiragino Mincho ProN"/>
              </a:rPr>
              <a:t>提言 2:  KPI 月次モニタリング体制を確立する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KPI 設計: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主指標: 稼働率寄与率（%） — ベッドを埋める量の貢献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副指標: ベッド単価（円/床日） — 1 床 1 日あたりの収益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合成 : 年間収益 = 主 × 副 × 期間（参考値）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運用方法: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月次会議で全医師の寄与率・単価を併記表示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順位ではなく散布図で「タイプ分類」として議論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ベッドコントロールシミュレーターに月次自動更新機能を組込み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600" b="1">
                <a:solidFill>
                  <a:srgbClr val="1F2937"/>
                </a:solidFill>
                <a:latin typeface="Hiragino Mincho ProN"/>
              </a:rPr>
              <a:t>⚠️ 倫理的配慮: 患者選別・適応外入院・在院延長を誘発しない設計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46520"/>
            <a:ext cx="10515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DC2626"/>
                </a:solidFill>
                <a:latin typeface="Hiragino Mincho ProN"/>
              </a:rPr>
              <a:t>「適応のある患者を、適切な期間で治療し、自宅復帰を支援する」が大前提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Hiragino Mincho ProN"/>
              </a:rPr>
              <a:t>提言 3:  Stage 2 — リハ加算・処置加算で精緻化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現状（Stage 1）の限界: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フェーズ別単価のみで概算 → 単価の差は ±5,000〜10,000 円</a:t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Stage 2 追加データ要求（事務へ）: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患者別 月次リハビリ単位数（PT / OT / ST）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処置加算（中心静脈、人工呼吸器、ドレーン等）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検査加算・手術料の患者別月次集計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Stage 2 完成後の効果: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「実際にどの加算で単価を上げられるか」が見える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診療科横断のベストプラクティス共有が可能に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4712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6000" b="1">
                <a:solidFill>
                  <a:srgbClr val="1F2937"/>
                </a:solidFill>
                <a:latin typeface="Hiragino Mincho ProN"/>
              </a:rPr>
              <a:t>ご質問・ご討議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Hiragino Mincho ProN"/>
              </a:rPr>
              <a:t>おもろまちメディカルセンター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副院長 久保田 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