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515600" cy="1097280"/>
          </a:xfrm>
          <a:prstGeom prst="rect">
            <a:avLst/>
          </a:prstGeom>
          <a:noFill/>
        </p:spPr>
        <p:txBody>
          <a:bodyPr wrap="square" anchor="t" lIns="25400" rIns="25400" tIns="25400" bIns="25400">
            <a:spAutoFit/>
          </a:bodyPr>
          <a:lstStyle/>
          <a:p>
            <a:pPr algn="ctr"/>
            <a:r>
              <a:rPr sz="4200" b="1">
                <a:solidFill>
                  <a:srgbClr val="1F2937"/>
                </a:solidFill>
                <a:latin typeface="Hiragino Mincho ProN"/>
              </a:rPr>
              <a:t>医師別 病棟運営パターン分析</a:t>
            </a:r>
          </a:p>
        </p:txBody>
      </p:sp>
      <p:sp>
        <p:nvSpPr>
          <p:cNvPr id="4" name="TextBox 3"/>
          <p:cNvSpPr txBox="1"/>
          <p:nvPr/>
        </p:nvSpPr>
        <p:spPr>
          <a:xfrm>
            <a:off x="914400" y="2468880"/>
            <a:ext cx="10515600" cy="640080"/>
          </a:xfrm>
          <a:prstGeom prst="rect">
            <a:avLst/>
          </a:prstGeom>
          <a:noFill/>
        </p:spPr>
        <p:txBody>
          <a:bodyPr wrap="square" anchor="t" lIns="25400" rIns="25400" tIns="25400" bIns="25400">
            <a:spAutoFit/>
          </a:bodyPr>
          <a:lstStyle/>
          <a:p>
            <a:pPr algn="ctr"/>
            <a:r>
              <a:rPr sz="2600" b="1">
                <a:solidFill>
                  <a:srgbClr val="2563EB"/>
                </a:solidFill>
                <a:latin typeface="Hiragino Mincho ProN"/>
              </a:rPr>
              <a:t>運営会議説明資料</a:t>
            </a:r>
          </a:p>
        </p:txBody>
      </p:sp>
      <p:sp>
        <p:nvSpPr>
          <p:cNvPr id="5" name="TextBox 4"/>
          <p:cNvSpPr txBox="1"/>
          <p:nvPr/>
        </p:nvSpPr>
        <p:spPr>
          <a:xfrm>
            <a:off x="457200" y="3383280"/>
            <a:ext cx="11247120" cy="457200"/>
          </a:xfrm>
          <a:prstGeom prst="rect">
            <a:avLst/>
          </a:prstGeom>
          <a:noFill/>
        </p:spPr>
        <p:txBody>
          <a:bodyPr wrap="square" anchor="t" lIns="25400" rIns="25400" tIns="25400" bIns="25400">
            <a:spAutoFit/>
          </a:bodyPr>
          <a:lstStyle/>
          <a:p>
            <a:pPr algn="ctr"/>
            <a:r>
              <a:rPr sz="1800" b="1">
                <a:solidFill>
                  <a:srgbClr val="2563EB"/>
                </a:solidFill>
                <a:latin typeface="Hiragino Mincho ProN"/>
              </a:rPr>
              <a:t>病床利用 + 出来高上乗せ可能性 + 制度適合 + 経営上の解釈 の 4 層分析</a:t>
            </a:r>
          </a:p>
        </p:txBody>
      </p:sp>
      <p:sp>
        <p:nvSpPr>
          <p:cNvPr id="6" name="TextBox 5"/>
          <p:cNvSpPr txBox="1"/>
          <p:nvPr/>
        </p:nvSpPr>
        <p:spPr>
          <a:xfrm>
            <a:off x="457200" y="3931920"/>
            <a:ext cx="11247120" cy="457200"/>
          </a:xfrm>
          <a:prstGeom prst="rect">
            <a:avLst/>
          </a:prstGeom>
          <a:noFill/>
        </p:spPr>
        <p:txBody>
          <a:bodyPr wrap="square" anchor="t" lIns="25400" rIns="25400" tIns="25400" bIns="25400">
            <a:spAutoFit/>
          </a:bodyPr>
          <a:lstStyle/>
          <a:p>
            <a:pPr algn="ctr"/>
            <a:r>
              <a:rPr sz="1400" b="0">
                <a:solidFill>
                  <a:srgbClr val="6B7280"/>
                </a:solidFill>
                <a:latin typeface="Hiragino Mincho ProN"/>
              </a:rPr>
              <a:t>（医師個人の評価ではなく、地域包括医療病棟の運営構造を理解するための資料）</a:t>
            </a:r>
          </a:p>
        </p:txBody>
      </p:sp>
      <p:sp>
        <p:nvSpPr>
          <p:cNvPr id="7" name="TextBox 6"/>
          <p:cNvSpPr txBox="1"/>
          <p:nvPr/>
        </p:nvSpPr>
        <p:spPr>
          <a:xfrm>
            <a:off x="914400" y="5029200"/>
            <a:ext cx="10515600" cy="548640"/>
          </a:xfrm>
          <a:prstGeom prst="rect">
            <a:avLst/>
          </a:prstGeom>
          <a:noFill/>
        </p:spPr>
        <p:txBody>
          <a:bodyPr wrap="square" anchor="t" lIns="25400" rIns="25400" tIns="25400" bIns="25400">
            <a:spAutoFit/>
          </a:bodyPr>
          <a:lstStyle/>
          <a:p>
            <a:pPr algn="ctr"/>
            <a:r>
              <a:rPr sz="1800" b="0">
                <a:solidFill>
                  <a:srgbClr val="1F2937"/>
                </a:solidFill>
                <a:latin typeface="Hiragino Mincho ProN"/>
              </a:rPr>
              <a:t>おもろまちメディカルセンター</a:t>
            </a:r>
          </a:p>
        </p:txBody>
      </p:sp>
      <p:sp>
        <p:nvSpPr>
          <p:cNvPr id="8" name="TextBox 7"/>
          <p:cNvSpPr txBox="1"/>
          <p:nvPr/>
        </p:nvSpPr>
        <p:spPr>
          <a:xfrm>
            <a:off x="914400" y="5486400"/>
            <a:ext cx="10515600" cy="457200"/>
          </a:xfrm>
          <a:prstGeom prst="rect">
            <a:avLst/>
          </a:prstGeom>
          <a:noFill/>
        </p:spPr>
        <p:txBody>
          <a:bodyPr wrap="square" anchor="t" lIns="25400" rIns="25400" tIns="25400" bIns="25400">
            <a:spAutoFit/>
          </a:bodyPr>
          <a:lstStyle/>
          <a:p>
            <a:pPr algn="ctr"/>
            <a:r>
              <a:rPr sz="1400" b="0">
                <a:solidFill>
                  <a:srgbClr val="1F2937"/>
                </a:solidFill>
                <a:latin typeface="Hiragino Mincho ProN"/>
              </a:rPr>
              <a:t>副院長 久保田 透</a:t>
            </a:r>
          </a:p>
        </p:txBody>
      </p:sp>
      <p:sp>
        <p:nvSpPr>
          <p:cNvPr id="9" name="TextBox 8"/>
          <p:cNvSpPr txBox="1"/>
          <p:nvPr/>
        </p:nvSpPr>
        <p:spPr>
          <a:xfrm>
            <a:off x="914400" y="5943600"/>
            <a:ext cx="10515600" cy="457200"/>
          </a:xfrm>
          <a:prstGeom prst="rect">
            <a:avLst/>
          </a:prstGeom>
          <a:noFill/>
        </p:spPr>
        <p:txBody>
          <a:bodyPr wrap="square" anchor="t" lIns="25400" rIns="25400" tIns="25400" bIns="25400">
            <a:spAutoFit/>
          </a:bodyPr>
          <a:lstStyle/>
          <a:p>
            <a:pPr algn="ctr"/>
            <a:r>
              <a:rPr sz="1200" b="0">
                <a:solidFill>
                  <a:srgbClr val="9CA3AF"/>
                </a:solidFill>
                <a:latin typeface="Hiragino Mincho ProN"/>
              </a:rPr>
              <a:t>2026 年 5 月 4 日 / Rev. 4（4 層分析 抜本改訂版）</a:t>
            </a:r>
          </a:p>
        </p:txBody>
      </p:sp>
      <p:sp>
        <p:nvSpPr>
          <p:cNvPr id="10" name="TextBox 9"/>
          <p:cNvSpPr txBox="1"/>
          <p:nvPr/>
        </p:nvSpPr>
        <p:spPr>
          <a:xfrm>
            <a:off x="914400" y="6355080"/>
            <a:ext cx="10515600" cy="365760"/>
          </a:xfrm>
          <a:prstGeom prst="rect">
            <a:avLst/>
          </a:prstGeom>
          <a:noFill/>
        </p:spPr>
        <p:txBody>
          <a:bodyPr wrap="square" anchor="t" lIns="25400" rIns="25400" tIns="25400" bIns="25400">
            <a:spAutoFit/>
          </a:bodyPr>
          <a:lstStyle/>
          <a:p>
            <a:pPr algn="ctr"/>
            <a:r>
              <a:rPr sz="1100" b="0">
                <a:solidFill>
                  <a:srgbClr val="DC2626"/>
                </a:solidFill>
                <a:latin typeface="Hiragino Mincho ProN"/>
              </a:rPr>
              <a:t>※ 個人名はすべて A 医師, B 医師 ... と匿名化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800" b="1">
                <a:solidFill>
                  <a:srgbClr val="1F2937"/>
                </a:solidFill>
                <a:latin typeface="Hiragino Mincho ProN"/>
              </a:rPr>
              <a:t>本資料の見方 — 4 層分析の枠組み</a:t>
            </a:r>
          </a:p>
        </p:txBody>
      </p:sp>
      <p:sp>
        <p:nvSpPr>
          <p:cNvPr id="4" name="TextBox 3"/>
          <p:cNvSpPr txBox="1"/>
          <p:nvPr/>
        </p:nvSpPr>
        <p:spPr>
          <a:xfrm>
            <a:off x="640080" y="1097280"/>
            <a:ext cx="10972800" cy="5486400"/>
          </a:xfrm>
          <a:prstGeom prst="rect">
            <a:avLst/>
          </a:prstGeom>
          <a:noFill/>
        </p:spPr>
        <p:txBody>
          <a:bodyPr wrap="square">
            <a:spAutoFit/>
          </a:bodyPr>
          <a:lstStyle/>
          <a:p>
            <a:pPr algn="l"/>
            <a:r>
              <a:rPr sz="1600" b="0">
                <a:solidFill>
                  <a:srgbClr val="1F2937"/>
                </a:solidFill>
                <a:latin typeface="Hiragino Mincho ProN"/>
              </a:rPr>
              <a:t>従来「病床日数」と「ベッド粗利単価」だけで医師別貢献を語ると、</a:t>
            </a:r>
          </a:p>
          <a:p>
            <a:pPr algn="l"/>
            <a:r>
              <a:rPr sz="1600" b="0">
                <a:solidFill>
                  <a:srgbClr val="1F2937"/>
                </a:solidFill>
                <a:latin typeface="Hiragino Mincho ProN"/>
              </a:rPr>
              <a:t>手術・リハ・処置等の出来高貢献や、施設基準への適合貢献が抜け落ちます。</a:t>
            </a:r>
          </a:p>
          <a:p>
            <a:pPr algn="l"/>
            <a:r>
              <a:rPr sz="1600" b="1">
                <a:solidFill>
                  <a:srgbClr val="1F2937"/>
                </a:solidFill>
                <a:latin typeface="Hiragino Mincho ProN"/>
              </a:rPr>
              <a:t>そのため本資料は次の 4 層に分けて読み解きます。</a:t>
            </a:r>
          </a:p>
          <a:p>
            <a:pPr algn="l"/>
            <a:r>
              <a:rPr sz="800" b="0">
                <a:solidFill>
                  <a:srgbClr val="1F2937"/>
                </a:solidFill>
                <a:latin typeface="Hiragino Mincho ProN"/>
              </a:rPr>
              <a:t/>
            </a:r>
          </a:p>
          <a:p>
            <a:pPr algn="l"/>
            <a:r>
              <a:rPr sz="2200" b="1">
                <a:solidFill>
                  <a:srgbClr val="1F2937"/>
                </a:solidFill>
                <a:latin typeface="Hiragino Mincho ProN"/>
              </a:rPr>
              <a:t>Layer 1: 病床利用貢献</a:t>
            </a:r>
          </a:p>
          <a:p>
            <a:pPr algn="l"/>
            <a:r>
              <a:rPr sz="1400" b="0">
                <a:solidFill>
                  <a:srgbClr val="1F2937"/>
                </a:solidFill>
                <a:latin typeface="Hiragino Mincho ProN"/>
              </a:rPr>
              <a:t>    稼働率寄与率・病床日数シェア・ベッド粗利単価仮定（管理用スコア）</a:t>
            </a:r>
          </a:p>
          <a:p>
            <a:pPr algn="l"/>
            <a:r>
              <a:rPr sz="600" b="0">
                <a:solidFill>
                  <a:srgbClr val="1F2937"/>
                </a:solidFill>
                <a:latin typeface="Hiragino Mincho ProN"/>
              </a:rPr>
              <a:t/>
            </a:r>
          </a:p>
          <a:p>
            <a:pPr algn="l"/>
            <a:r>
              <a:rPr sz="2200" b="1">
                <a:solidFill>
                  <a:srgbClr val="1F2937"/>
                </a:solidFill>
                <a:latin typeface="Hiragino Mincho ProN"/>
              </a:rPr>
              <a:t>Layer 2: 出来高上乗せ可能性</a:t>
            </a:r>
          </a:p>
          <a:p>
            <a:pPr algn="l"/>
            <a:r>
              <a:rPr sz="1400" b="0">
                <a:solidFill>
                  <a:srgbClr val="1F2937"/>
                </a:solidFill>
                <a:latin typeface="Hiragino Mincho ProN"/>
              </a:rPr>
              <a:t>    手術あり症例比率（入口指標）／手術料・麻酔料・リハ単位は本資料未反映</a:t>
            </a:r>
          </a:p>
          <a:p>
            <a:pPr algn="l"/>
            <a:r>
              <a:rPr sz="600" b="0">
                <a:solidFill>
                  <a:srgbClr val="1F2937"/>
                </a:solidFill>
                <a:latin typeface="Hiragino Mincho ProN"/>
              </a:rPr>
              <a:t/>
            </a:r>
          </a:p>
          <a:p>
            <a:pPr algn="l"/>
            <a:r>
              <a:rPr sz="2200" b="1">
                <a:solidFill>
                  <a:srgbClr val="1F2937"/>
                </a:solidFill>
                <a:latin typeface="Hiragino Mincho ProN"/>
              </a:rPr>
              <a:t>Layer 3: 制度適合貢献</a:t>
            </a:r>
          </a:p>
          <a:p>
            <a:pPr algn="l"/>
            <a:r>
              <a:rPr sz="1400" b="0">
                <a:solidFill>
                  <a:srgbClr val="1F2937"/>
                </a:solidFill>
                <a:latin typeface="Hiragino Mincho ProN"/>
              </a:rPr>
              <a:t>    救急車入院比率（参考 proxy）・在宅復帰率・予定外比率（施設基準と対比）</a:t>
            </a:r>
          </a:p>
          <a:p>
            <a:pPr algn="l"/>
            <a:r>
              <a:rPr sz="600" b="0">
                <a:solidFill>
                  <a:srgbClr val="1F2937"/>
                </a:solidFill>
                <a:latin typeface="Hiragino Mincho ProN"/>
              </a:rPr>
              <a:t/>
            </a:r>
          </a:p>
          <a:p>
            <a:pPr algn="l"/>
            <a:r>
              <a:rPr sz="2200" b="1">
                <a:solidFill>
                  <a:srgbClr val="1F2937"/>
                </a:solidFill>
                <a:latin typeface="Hiragino Mincho ProN"/>
              </a:rPr>
              <a:t>Layer 4: 経営上の解釈</a:t>
            </a:r>
          </a:p>
          <a:p>
            <a:pPr algn="l"/>
            <a:r>
              <a:rPr sz="1400" b="0">
                <a:solidFill>
                  <a:srgbClr val="1F2937"/>
                </a:solidFill>
                <a:latin typeface="Hiragino Mincho ProN"/>
              </a:rPr>
              <a:t>    5+1 類型による医師運営パターン分類（順位ではなくタイプ）</a:t>
            </a:r>
          </a:p>
          <a:p>
            <a:pPr algn="l"/>
            <a:r>
              <a:rPr sz="1000" b="0">
                <a:solidFill>
                  <a:srgbClr val="1F2937"/>
                </a:solidFill>
                <a:latin typeface="Hiragino Mincho ProN"/>
              </a:rPr>
              <a:t/>
            </a:r>
          </a:p>
          <a:p>
            <a:pPr algn="l"/>
            <a:r>
              <a:rPr sz="1600" b="1">
                <a:solidFill>
                  <a:srgbClr val="1F2937"/>
                </a:solidFill>
                <a:latin typeface="Hiragino Mincho ProN"/>
              </a:rPr>
              <a:t>📌 大前提: 医師個人の優劣判定ではなく、病棟運営の構造把握が目的です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800" b="1">
                <a:solidFill>
                  <a:srgbClr val="1F2937"/>
                </a:solidFill>
                <a:latin typeface="Hiragino Mincho ProN"/>
              </a:rPr>
              <a:t>なぜ「医師別 病棟運営パターン」を見える化するのか</a:t>
            </a:r>
          </a:p>
        </p:txBody>
      </p:sp>
      <p:sp>
        <p:nvSpPr>
          <p:cNvPr id="4" name="TextBox 3"/>
          <p:cNvSpPr txBox="1"/>
          <p:nvPr/>
        </p:nvSpPr>
        <p:spPr>
          <a:xfrm>
            <a:off x="640080" y="1280160"/>
            <a:ext cx="10972800" cy="4572000"/>
          </a:xfrm>
          <a:prstGeom prst="rect">
            <a:avLst/>
          </a:prstGeom>
          <a:noFill/>
        </p:spPr>
        <p:txBody>
          <a:bodyPr wrap="square">
            <a:spAutoFit/>
          </a:bodyPr>
          <a:lstStyle/>
          <a:p>
            <a:pPr algn="l"/>
            <a:r>
              <a:rPr sz="1800" b="1">
                <a:solidFill>
                  <a:srgbClr val="1F2937"/>
                </a:solidFill>
                <a:latin typeface="Hiragino Mincho ProN"/>
              </a:rPr>
              <a:t>● 病棟稼働率は施設基準（地域包括医療病棟は 90%）達成のための最重要指標</a:t>
            </a:r>
          </a:p>
          <a:p>
            <a:pPr algn="l"/>
            <a:r>
              <a:rPr sz="800" b="0">
                <a:solidFill>
                  <a:srgbClr val="1F2937"/>
                </a:solidFill>
                <a:latin typeface="Hiragino Mincho ProN"/>
              </a:rPr>
              <a:t/>
            </a:r>
          </a:p>
          <a:p>
            <a:pPr algn="l"/>
            <a:r>
              <a:rPr sz="1800" b="0">
                <a:solidFill>
                  <a:srgbClr val="1F2937"/>
                </a:solidFill>
                <a:latin typeface="Hiragino Mincho ProN"/>
              </a:rPr>
              <a:t>● 実態は各主治医の入院・在院・退院判断の総和が病棟稼働率を作る</a:t>
            </a:r>
          </a:p>
          <a:p>
            <a:pPr algn="l"/>
            <a:r>
              <a:rPr sz="1600" b="0">
                <a:solidFill>
                  <a:srgbClr val="1F2937"/>
                </a:solidFill>
                <a:latin typeface="Hiragino Mincho ProN"/>
              </a:rPr>
              <a:t/>
            </a:r>
          </a:p>
          <a:p>
            <a:pPr algn="l"/>
            <a:r>
              <a:rPr sz="2000" b="1">
                <a:solidFill>
                  <a:srgbClr val="1F2937"/>
                </a:solidFill>
                <a:latin typeface="Hiragino Mincho ProN"/>
              </a:rPr>
              <a:t>本資料の問い:</a:t>
            </a:r>
          </a:p>
          <a:p>
            <a:pPr algn="l"/>
            <a:r>
              <a:rPr sz="1700" b="0">
                <a:solidFill>
                  <a:srgbClr val="1F2937"/>
                </a:solidFill>
                <a:latin typeface="Hiragino Mincho ProN"/>
              </a:rPr>
              <a:t>    1. 各医師が病棟稼働率をどれだけ支えているか？（Layer 1）</a:t>
            </a:r>
          </a:p>
          <a:p>
            <a:pPr algn="l"/>
            <a:r>
              <a:rPr sz="1700" b="0">
                <a:solidFill>
                  <a:srgbClr val="1F2937"/>
                </a:solidFill>
                <a:latin typeface="Hiragino Mincho ProN"/>
              </a:rPr>
              <a:t>    2. 出来高上乗せの可能性をどれだけ持つ症例構成か？（Layer 2）</a:t>
            </a:r>
          </a:p>
          <a:p>
            <a:pPr algn="l"/>
            <a:r>
              <a:rPr sz="1700" b="0">
                <a:solidFill>
                  <a:srgbClr val="1F2937"/>
                </a:solidFill>
                <a:latin typeface="Hiragino Mincho ProN"/>
              </a:rPr>
              <a:t>    3. 施設基準維持・在宅復帰にどう貢献しているか？（Layer 3）</a:t>
            </a:r>
          </a:p>
          <a:p>
            <a:pPr algn="l"/>
            <a:r>
              <a:rPr sz="1700" b="0">
                <a:solidFill>
                  <a:srgbClr val="1F2937"/>
                </a:solidFill>
                <a:latin typeface="Hiragino Mincho ProN"/>
              </a:rPr>
              <a:t>    4. 病棟をどのような形で支えているのか？（Layer 4）</a:t>
            </a:r>
          </a:p>
        </p:txBody>
      </p:sp>
      <p:sp>
        <p:nvSpPr>
          <p:cNvPr id="5" name="Rectangle 4"/>
          <p:cNvSpPr/>
          <p:nvPr/>
        </p:nvSpPr>
        <p:spPr>
          <a:xfrm>
            <a:off x="640080" y="5852160"/>
            <a:ext cx="10972800" cy="73152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943600"/>
            <a:ext cx="10607040" cy="548640"/>
          </a:xfrm>
          <a:prstGeom prst="rect">
            <a:avLst/>
          </a:prstGeom>
          <a:noFill/>
        </p:spPr>
        <p:txBody>
          <a:bodyPr wrap="square" anchor="t" lIns="25400" rIns="25400" tIns="25400" bIns="25400">
            <a:spAutoFit/>
          </a:bodyPr>
          <a:lstStyle/>
          <a:p>
            <a:pPr algn="l"/>
            <a:r>
              <a:rPr sz="1400" b="1">
                <a:solidFill>
                  <a:srgbClr val="DC2626"/>
                </a:solidFill>
                <a:latin typeface="Hiragino Mincho ProN"/>
              </a:rPr>
              <a:t>📌 大前提: 個別医師の評価ではなく、病棟運営の構造把握を目的とします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800" b="1">
                <a:solidFill>
                  <a:srgbClr val="1F2937"/>
                </a:solidFill>
                <a:latin typeface="Hiragino Mincho ProN"/>
              </a:rPr>
              <a:t>データ概要・本資料の限界（必読）</a:t>
            </a:r>
          </a:p>
        </p:txBody>
      </p:sp>
      <p:sp>
        <p:nvSpPr>
          <p:cNvPr id="4" name="Rectangle 3"/>
          <p:cNvSpPr/>
          <p:nvPr/>
        </p:nvSpPr>
        <p:spPr>
          <a:xfrm>
            <a:off x="457200" y="1188720"/>
            <a:ext cx="2651760" cy="164592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2651760" cy="365760"/>
          </a:xfrm>
          <a:prstGeom prst="rect">
            <a:avLst/>
          </a:prstGeom>
          <a:noFill/>
        </p:spPr>
        <p:txBody>
          <a:bodyPr wrap="square" anchor="t" lIns="25400" rIns="25400" tIns="25400" bIns="25400">
            <a:spAutoFit/>
          </a:bodyPr>
          <a:lstStyle/>
          <a:p>
            <a:pPr algn="ctr"/>
            <a:r>
              <a:rPr sz="1200" b="0">
                <a:solidFill>
                  <a:srgbClr val="6B7280"/>
                </a:solidFill>
                <a:latin typeface="Hiragino Mincho ProN"/>
              </a:rPr>
              <a:t>対象期間</a:t>
            </a:r>
          </a:p>
        </p:txBody>
      </p:sp>
      <p:sp>
        <p:nvSpPr>
          <p:cNvPr id="6" name="TextBox 5"/>
          <p:cNvSpPr txBox="1"/>
          <p:nvPr/>
        </p:nvSpPr>
        <p:spPr>
          <a:xfrm>
            <a:off x="457200" y="1645920"/>
            <a:ext cx="2651760" cy="822960"/>
          </a:xfrm>
          <a:prstGeom prst="rect">
            <a:avLst/>
          </a:prstGeom>
          <a:noFill/>
        </p:spPr>
        <p:txBody>
          <a:bodyPr wrap="square" anchor="t" lIns="25400" rIns="25400" tIns="25400" bIns="25400">
            <a:spAutoFit/>
          </a:bodyPr>
          <a:lstStyle/>
          <a:p>
            <a:pPr algn="ctr"/>
            <a:r>
              <a:rPr sz="2800" b="1">
                <a:solidFill>
                  <a:srgbClr val="2563EB"/>
                </a:solidFill>
                <a:latin typeface="Hiragino Mincho ProN"/>
              </a:rPr>
              <a:t>13 ヶ月</a:t>
            </a:r>
          </a:p>
        </p:txBody>
      </p:sp>
      <p:sp>
        <p:nvSpPr>
          <p:cNvPr id="7" name="TextBox 6"/>
          <p:cNvSpPr txBox="1"/>
          <p:nvPr/>
        </p:nvSpPr>
        <p:spPr>
          <a:xfrm>
            <a:off x="457200" y="2468880"/>
            <a:ext cx="2651760" cy="365760"/>
          </a:xfrm>
          <a:prstGeom prst="rect">
            <a:avLst/>
          </a:prstGeom>
          <a:noFill/>
        </p:spPr>
        <p:txBody>
          <a:bodyPr wrap="square" anchor="t" lIns="25400" rIns="25400" tIns="25400" bIns="25400">
            <a:spAutoFit/>
          </a:bodyPr>
          <a:lstStyle/>
          <a:p>
            <a:pPr algn="ctr"/>
            <a:r>
              <a:rPr sz="1100" b="0">
                <a:solidFill>
                  <a:srgbClr val="6B7280"/>
                </a:solidFill>
                <a:latin typeface="Hiragino Mincho ProN"/>
              </a:rPr>
              <a:t>2025-04 〜 2026-04</a:t>
            </a:r>
          </a:p>
        </p:txBody>
      </p:sp>
      <p:sp>
        <p:nvSpPr>
          <p:cNvPr id="8" name="Rectangle 7"/>
          <p:cNvSpPr/>
          <p:nvPr/>
        </p:nvSpPr>
        <p:spPr>
          <a:xfrm>
            <a:off x="3291840" y="1188720"/>
            <a:ext cx="2651760" cy="164592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280160"/>
            <a:ext cx="2651760" cy="365760"/>
          </a:xfrm>
          <a:prstGeom prst="rect">
            <a:avLst/>
          </a:prstGeom>
          <a:noFill/>
        </p:spPr>
        <p:txBody>
          <a:bodyPr wrap="square" anchor="t" lIns="25400" rIns="25400" tIns="25400" bIns="25400">
            <a:spAutoFit/>
          </a:bodyPr>
          <a:lstStyle/>
          <a:p>
            <a:pPr algn="ctr"/>
            <a:r>
              <a:rPr sz="1200" b="0">
                <a:solidFill>
                  <a:srgbClr val="6B7280"/>
                </a:solidFill>
                <a:latin typeface="Hiragino Mincho ProN"/>
              </a:rPr>
              <a:t>CSV 全体</a:t>
            </a:r>
          </a:p>
        </p:txBody>
      </p:sp>
      <p:sp>
        <p:nvSpPr>
          <p:cNvPr id="10" name="TextBox 9"/>
          <p:cNvSpPr txBox="1"/>
          <p:nvPr/>
        </p:nvSpPr>
        <p:spPr>
          <a:xfrm>
            <a:off x="3291840" y="1645920"/>
            <a:ext cx="2651760" cy="822960"/>
          </a:xfrm>
          <a:prstGeom prst="rect">
            <a:avLst/>
          </a:prstGeom>
          <a:noFill/>
        </p:spPr>
        <p:txBody>
          <a:bodyPr wrap="square" anchor="t" lIns="25400" rIns="25400" tIns="25400" bIns="25400">
            <a:spAutoFit/>
          </a:bodyPr>
          <a:lstStyle/>
          <a:p>
            <a:pPr algn="ctr"/>
            <a:r>
              <a:rPr sz="2800" b="1">
                <a:solidFill>
                  <a:srgbClr val="2563EB"/>
                </a:solidFill>
                <a:latin typeface="Hiragino Mincho ProN"/>
              </a:rPr>
              <a:t>1,960 件</a:t>
            </a:r>
          </a:p>
        </p:txBody>
      </p:sp>
      <p:sp>
        <p:nvSpPr>
          <p:cNvPr id="11" name="TextBox 10"/>
          <p:cNvSpPr txBox="1"/>
          <p:nvPr/>
        </p:nvSpPr>
        <p:spPr>
          <a:xfrm>
            <a:off x="3291840" y="2468880"/>
            <a:ext cx="2651760" cy="365760"/>
          </a:xfrm>
          <a:prstGeom prst="rect">
            <a:avLst/>
          </a:prstGeom>
          <a:noFill/>
        </p:spPr>
        <p:txBody>
          <a:bodyPr wrap="square" anchor="t" lIns="25400" rIns="25400" tIns="25400" bIns="25400">
            <a:spAutoFit/>
          </a:bodyPr>
          <a:lstStyle/>
          <a:p>
            <a:pPr algn="ctr"/>
            <a:r>
              <a:rPr sz="1100" b="0">
                <a:solidFill>
                  <a:srgbClr val="6B7280"/>
                </a:solidFill>
                <a:latin typeface="Hiragino Mincho ProN"/>
              </a:rPr>
              <a:t>事務提供（医師コード化）</a:t>
            </a:r>
          </a:p>
        </p:txBody>
      </p:sp>
      <p:sp>
        <p:nvSpPr>
          <p:cNvPr id="12" name="Rectangle 11"/>
          <p:cNvSpPr/>
          <p:nvPr/>
        </p:nvSpPr>
        <p:spPr>
          <a:xfrm>
            <a:off x="6126480" y="1188720"/>
            <a:ext cx="2651760" cy="164592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1280160"/>
            <a:ext cx="2651760" cy="365760"/>
          </a:xfrm>
          <a:prstGeom prst="rect">
            <a:avLst/>
          </a:prstGeom>
          <a:noFill/>
        </p:spPr>
        <p:txBody>
          <a:bodyPr wrap="square" anchor="t" lIns="25400" rIns="25400" tIns="25400" bIns="25400">
            <a:spAutoFit/>
          </a:bodyPr>
          <a:lstStyle/>
          <a:p>
            <a:pPr algn="ctr"/>
            <a:r>
              <a:rPr sz="1200" b="0">
                <a:solidFill>
                  <a:srgbClr val="6B7280"/>
                </a:solidFill>
                <a:latin typeface="Hiragino Mincho ProN"/>
              </a:rPr>
              <a:t>分析対象</a:t>
            </a:r>
          </a:p>
        </p:txBody>
      </p:sp>
      <p:sp>
        <p:nvSpPr>
          <p:cNvPr id="14" name="TextBox 13"/>
          <p:cNvSpPr txBox="1"/>
          <p:nvPr/>
        </p:nvSpPr>
        <p:spPr>
          <a:xfrm>
            <a:off x="6126480" y="1645920"/>
            <a:ext cx="2651760" cy="822960"/>
          </a:xfrm>
          <a:prstGeom prst="rect">
            <a:avLst/>
          </a:prstGeom>
          <a:noFill/>
        </p:spPr>
        <p:txBody>
          <a:bodyPr wrap="square" anchor="t" lIns="25400" rIns="25400" tIns="25400" bIns="25400">
            <a:spAutoFit/>
          </a:bodyPr>
          <a:lstStyle/>
          <a:p>
            <a:pPr algn="ctr"/>
            <a:r>
              <a:rPr sz="2800" b="1">
                <a:solidFill>
                  <a:srgbClr val="2563EB"/>
                </a:solidFill>
                <a:latin typeface="Hiragino Mincho ProN"/>
              </a:rPr>
              <a:t>14 医師 / 1,940 件</a:t>
            </a:r>
          </a:p>
        </p:txBody>
      </p:sp>
      <p:sp>
        <p:nvSpPr>
          <p:cNvPr id="15" name="TextBox 14"/>
          <p:cNvSpPr txBox="1"/>
          <p:nvPr/>
        </p:nvSpPr>
        <p:spPr>
          <a:xfrm>
            <a:off x="6126480" y="2468880"/>
            <a:ext cx="2651760" cy="365760"/>
          </a:xfrm>
          <a:prstGeom prst="rect">
            <a:avLst/>
          </a:prstGeom>
          <a:noFill/>
        </p:spPr>
        <p:txBody>
          <a:bodyPr wrap="square" anchor="t" lIns="25400" rIns="25400" tIns="25400" bIns="25400">
            <a:spAutoFit/>
          </a:bodyPr>
          <a:lstStyle/>
          <a:p>
            <a:pPr algn="ctr"/>
            <a:r>
              <a:rPr sz="1100" b="0">
                <a:solidFill>
                  <a:srgbClr val="6B7280"/>
                </a:solidFill>
                <a:latin typeface="Hiragino Mincho ProN"/>
              </a:rPr>
              <a:t>件数 10 件以上（20 件除外）</a:t>
            </a:r>
          </a:p>
        </p:txBody>
      </p:sp>
      <p:sp>
        <p:nvSpPr>
          <p:cNvPr id="16" name="Rectangle 15"/>
          <p:cNvSpPr/>
          <p:nvPr/>
        </p:nvSpPr>
        <p:spPr>
          <a:xfrm>
            <a:off x="8961120" y="1188720"/>
            <a:ext cx="2651760" cy="164592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1280160"/>
            <a:ext cx="2651760" cy="365760"/>
          </a:xfrm>
          <a:prstGeom prst="rect">
            <a:avLst/>
          </a:prstGeom>
          <a:noFill/>
        </p:spPr>
        <p:txBody>
          <a:bodyPr wrap="square" anchor="t" lIns="25400" rIns="25400" tIns="25400" bIns="25400">
            <a:spAutoFit/>
          </a:bodyPr>
          <a:lstStyle/>
          <a:p>
            <a:pPr algn="ctr"/>
            <a:r>
              <a:rPr sz="1200" b="0">
                <a:solidFill>
                  <a:srgbClr val="6B7280"/>
                </a:solidFill>
                <a:latin typeface="Hiragino Mincho ProN"/>
              </a:rPr>
              <a:t>総延日数</a:t>
            </a:r>
          </a:p>
        </p:txBody>
      </p:sp>
      <p:sp>
        <p:nvSpPr>
          <p:cNvPr id="18" name="TextBox 17"/>
          <p:cNvSpPr txBox="1"/>
          <p:nvPr/>
        </p:nvSpPr>
        <p:spPr>
          <a:xfrm>
            <a:off x="8961120" y="1645920"/>
            <a:ext cx="2651760" cy="822960"/>
          </a:xfrm>
          <a:prstGeom prst="rect">
            <a:avLst/>
          </a:prstGeom>
          <a:noFill/>
        </p:spPr>
        <p:txBody>
          <a:bodyPr wrap="square" anchor="t" lIns="25400" rIns="25400" tIns="25400" bIns="25400">
            <a:spAutoFit/>
          </a:bodyPr>
          <a:lstStyle/>
          <a:p>
            <a:pPr algn="ctr"/>
            <a:r>
              <a:rPr sz="2800" b="1">
                <a:solidFill>
                  <a:srgbClr val="2563EB"/>
                </a:solidFill>
                <a:latin typeface="Hiragino Mincho ProN"/>
              </a:rPr>
              <a:t>29,690</a:t>
            </a:r>
          </a:p>
        </p:txBody>
      </p:sp>
      <p:sp>
        <p:nvSpPr>
          <p:cNvPr id="19" name="TextBox 18"/>
          <p:cNvSpPr txBox="1"/>
          <p:nvPr/>
        </p:nvSpPr>
        <p:spPr>
          <a:xfrm>
            <a:off x="8961120" y="2468880"/>
            <a:ext cx="2651760" cy="365760"/>
          </a:xfrm>
          <a:prstGeom prst="rect">
            <a:avLst/>
          </a:prstGeom>
          <a:noFill/>
        </p:spPr>
        <p:txBody>
          <a:bodyPr wrap="square" anchor="t" lIns="25400" rIns="25400" tIns="25400" bIns="25400">
            <a:spAutoFit/>
          </a:bodyPr>
          <a:lstStyle/>
          <a:p>
            <a:pPr algn="ctr"/>
            <a:r>
              <a:rPr sz="1100" b="0">
                <a:solidFill>
                  <a:srgbClr val="6B7280"/>
                </a:solidFill>
                <a:latin typeface="Hiragino Mincho ProN"/>
              </a:rPr>
              <a:t>床日（5F + 6F）</a:t>
            </a:r>
          </a:p>
        </p:txBody>
      </p:sp>
      <p:sp>
        <p:nvSpPr>
          <p:cNvPr id="20" name="Rectangle 19"/>
          <p:cNvSpPr/>
          <p:nvPr/>
        </p:nvSpPr>
        <p:spPr>
          <a:xfrm>
            <a:off x="457200" y="3108960"/>
            <a:ext cx="11247120" cy="338328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200400"/>
            <a:ext cx="10972800" cy="3200400"/>
          </a:xfrm>
          <a:prstGeom prst="rect">
            <a:avLst/>
          </a:prstGeom>
          <a:noFill/>
        </p:spPr>
        <p:txBody>
          <a:bodyPr wrap="square">
            <a:spAutoFit/>
          </a:bodyPr>
          <a:lstStyle/>
          <a:p>
            <a:pPr algn="l"/>
            <a:r>
              <a:rPr sz="1600" b="1">
                <a:solidFill>
                  <a:srgbClr val="DC2626"/>
                </a:solidFill>
                <a:latin typeface="Hiragino Mincho ProN"/>
              </a:rPr>
              <a:t>⚠️ 本資料の限界 — 以下は本資料未反映</a:t>
            </a:r>
          </a:p>
          <a:p>
            <a:pPr algn="l"/>
            <a:r>
              <a:rPr sz="600" b="0">
                <a:solidFill>
                  <a:srgbClr val="DC2626"/>
                </a:solidFill>
                <a:latin typeface="Hiragino Mincho ProN"/>
              </a:rPr>
              <a:t/>
            </a:r>
          </a:p>
          <a:p>
            <a:pPr algn="l"/>
            <a:r>
              <a:rPr sz="1300" b="0">
                <a:solidFill>
                  <a:srgbClr val="DC2626"/>
                </a:solidFill>
                <a:latin typeface="Hiragino Mincho ProN"/>
              </a:rPr>
              <a:t>【未反映 ① コスト精緻化】 ベッド粗利単価のコストは業界目安 ±20%、当院 DPC 検証未実施</a:t>
            </a:r>
          </a:p>
          <a:p>
            <a:pPr algn="l"/>
            <a:r>
              <a:rPr sz="1300" b="0">
                <a:solidFill>
                  <a:srgbClr val="DC2626"/>
                </a:solidFill>
                <a:latin typeface="Hiragino Mincho ProN"/>
              </a:rPr>
              <a:t>【未反映 ② 出来高点数】 手術料・麻酔料・リハ単位・処置加算・検査加算・薬剤料は CSV 未収録</a:t>
            </a:r>
          </a:p>
          <a:p>
            <a:pPr algn="l"/>
            <a:r>
              <a:rPr sz="1300" b="0">
                <a:solidFill>
                  <a:srgbClr val="DC2626"/>
                </a:solidFill>
                <a:latin typeface="Hiragino Mincho ProN"/>
              </a:rPr>
              <a:t>【未反映 ③ 看護必要度】 病棟単位では別管理、医師別集計は本資料に含まず</a:t>
            </a:r>
          </a:p>
          <a:p>
            <a:pPr algn="l"/>
            <a:r>
              <a:rPr sz="800" b="0">
                <a:solidFill>
                  <a:srgbClr val="DC2626"/>
                </a:solidFill>
                <a:latin typeface="Hiragino Mincho ProN"/>
              </a:rPr>
              <a:t/>
            </a:r>
          </a:p>
          <a:p>
            <a:pPr algn="l"/>
            <a:r>
              <a:rPr sz="1400" b="1">
                <a:solidFill>
                  <a:srgbClr val="DC2626"/>
                </a:solidFill>
                <a:latin typeface="Hiragino Mincho ProN"/>
              </a:rPr>
              <a:t>→ Layer 1（管理用スコア）は確定的会計利益ではなく、Layer 2/3 と併読すべき</a:t>
            </a:r>
          </a:p>
          <a:p>
            <a:pPr algn="l"/>
            <a:r>
              <a:rPr sz="1400" b="0">
                <a:solidFill>
                  <a:srgbClr val="DC2626"/>
                </a:solidFill>
                <a:latin typeface="Hiragino Mincho ProN"/>
              </a:rPr>
              <a:t>→ Stage 2 で当院 DPC 等を活用した社内分析を段階的に整備予定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1: 病床利用貢献 — 粗利仮定の考え方</a:t>
            </a:r>
          </a:p>
        </p:txBody>
      </p:sp>
      <p:sp>
        <p:nvSpPr>
          <p:cNvPr id="4" name="TextBox 3"/>
          <p:cNvSpPr txBox="1"/>
          <p:nvPr/>
        </p:nvSpPr>
        <p:spPr>
          <a:xfrm>
            <a:off x="640080" y="1097280"/>
            <a:ext cx="10972800" cy="457200"/>
          </a:xfrm>
          <a:prstGeom prst="rect">
            <a:avLst/>
          </a:prstGeom>
          <a:noFill/>
        </p:spPr>
        <p:txBody>
          <a:bodyPr wrap="square" anchor="t" lIns="25400" rIns="25400" tIns="25400" bIns="25400">
            <a:spAutoFit/>
          </a:bodyPr>
          <a:lstStyle/>
          <a:p>
            <a:pPr algn="l"/>
            <a:r>
              <a:rPr sz="1400" b="0">
                <a:solidFill>
                  <a:srgbClr val="6B7280"/>
                </a:solidFill>
                <a:latin typeface="Hiragino Mincho ProN"/>
              </a:rPr>
              <a:t>アプリ実装の 2026 年度プリセット（入院料 1）に基づく管理用スコア（コスト ±20%）:</a:t>
            </a:r>
          </a:p>
        </p:txBody>
      </p:sp>
      <p:sp>
        <p:nvSpPr>
          <p:cNvPr id="5" name="Rectangle 4"/>
          <p:cNvSpPr/>
          <p:nvPr/>
        </p:nvSpPr>
        <p:spPr>
          <a:xfrm>
            <a:off x="457200" y="1737360"/>
            <a:ext cx="3566160" cy="3200400"/>
          </a:xfrm>
          <a:prstGeom prst="rect">
            <a:avLst/>
          </a:prstGeom>
          <a:solidFill>
            <a:srgbClr val="FECA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74520"/>
            <a:ext cx="3566160" cy="457200"/>
          </a:xfrm>
          <a:prstGeom prst="rect">
            <a:avLst/>
          </a:prstGeom>
          <a:noFill/>
        </p:spPr>
        <p:txBody>
          <a:bodyPr wrap="square" anchor="t" lIns="25400" rIns="25400" tIns="25400" bIns="25400">
            <a:spAutoFit/>
          </a:bodyPr>
          <a:lstStyle/>
          <a:p>
            <a:pPr algn="ctr"/>
            <a:r>
              <a:rPr sz="2000" b="1">
                <a:solidFill>
                  <a:srgbClr val="1F2937"/>
                </a:solidFill>
                <a:latin typeface="Hiragino Mincho ProN"/>
              </a:rPr>
              <a:t>A 群（急性期）</a:t>
            </a:r>
          </a:p>
        </p:txBody>
      </p:sp>
      <p:sp>
        <p:nvSpPr>
          <p:cNvPr id="7" name="TextBox 6"/>
          <p:cNvSpPr txBox="1"/>
          <p:nvPr/>
        </p:nvSpPr>
        <p:spPr>
          <a:xfrm>
            <a:off x="457200" y="2377440"/>
            <a:ext cx="3566160" cy="365760"/>
          </a:xfrm>
          <a:prstGeom prst="rect">
            <a:avLst/>
          </a:prstGeom>
          <a:noFill/>
        </p:spPr>
        <p:txBody>
          <a:bodyPr wrap="square" anchor="t" lIns="25400" rIns="25400" tIns="25400" bIns="25400">
            <a:spAutoFit/>
          </a:bodyPr>
          <a:lstStyle/>
          <a:p>
            <a:pPr algn="ctr"/>
            <a:r>
              <a:rPr sz="1400" b="0">
                <a:solidFill>
                  <a:srgbClr val="6B7280"/>
                </a:solidFill>
                <a:latin typeface="Hiragino Mincho ProN"/>
              </a:rPr>
              <a:t>1 〜 5 日</a:t>
            </a:r>
          </a:p>
        </p:txBody>
      </p:sp>
      <p:sp>
        <p:nvSpPr>
          <p:cNvPr id="8" name="TextBox 7"/>
          <p:cNvSpPr txBox="1"/>
          <p:nvPr/>
        </p:nvSpPr>
        <p:spPr>
          <a:xfrm>
            <a:off x="457200" y="2834640"/>
            <a:ext cx="3566160" cy="457200"/>
          </a:xfrm>
          <a:prstGeom prst="rect">
            <a:avLst/>
          </a:prstGeom>
          <a:noFill/>
        </p:spPr>
        <p:txBody>
          <a:bodyPr wrap="square" anchor="t" lIns="25400" rIns="25400" tIns="25400" bIns="25400">
            <a:spAutoFit/>
          </a:bodyPr>
          <a:lstStyle/>
          <a:p>
            <a:pPr algn="ctr"/>
            <a:r>
              <a:rPr sz="1600" b="0">
                <a:solidFill>
                  <a:srgbClr val="1F2937"/>
                </a:solidFill>
                <a:latin typeface="Hiragino Mincho ProN"/>
              </a:rPr>
              <a:t>報酬 38,500</a:t>
            </a:r>
          </a:p>
        </p:txBody>
      </p:sp>
      <p:sp>
        <p:nvSpPr>
          <p:cNvPr id="9" name="TextBox 8"/>
          <p:cNvSpPr txBox="1"/>
          <p:nvPr/>
        </p:nvSpPr>
        <p:spPr>
          <a:xfrm>
            <a:off x="457200" y="3291840"/>
            <a:ext cx="3566160" cy="457200"/>
          </a:xfrm>
          <a:prstGeom prst="rect">
            <a:avLst/>
          </a:prstGeom>
          <a:noFill/>
        </p:spPr>
        <p:txBody>
          <a:bodyPr wrap="square" anchor="t" lIns="25400" rIns="25400" tIns="25400" bIns="25400">
            <a:spAutoFit/>
          </a:bodyPr>
          <a:lstStyle/>
          <a:p>
            <a:pPr algn="ctr"/>
            <a:r>
              <a:rPr sz="1600" b="0">
                <a:solidFill>
                  <a:srgbClr val="DC2626"/>
                </a:solidFill>
                <a:latin typeface="Hiragino Mincho ProN"/>
              </a:rPr>
              <a:t>− 変動費 12,000</a:t>
            </a:r>
          </a:p>
        </p:txBody>
      </p:sp>
      <p:sp>
        <p:nvSpPr>
          <p:cNvPr id="10" name="TextBox 9"/>
          <p:cNvSpPr txBox="1"/>
          <p:nvPr/>
        </p:nvSpPr>
        <p:spPr>
          <a:xfrm>
            <a:off x="457200" y="3840480"/>
            <a:ext cx="3566160" cy="548640"/>
          </a:xfrm>
          <a:prstGeom prst="rect">
            <a:avLst/>
          </a:prstGeom>
          <a:noFill/>
        </p:spPr>
        <p:txBody>
          <a:bodyPr wrap="square" anchor="t" lIns="25400" rIns="25400" tIns="25400" bIns="25400">
            <a:spAutoFit/>
          </a:bodyPr>
          <a:lstStyle/>
          <a:p>
            <a:pPr algn="ctr"/>
            <a:r>
              <a:rPr sz="2000" b="1">
                <a:solidFill>
                  <a:srgbClr val="2563EB"/>
                </a:solidFill>
                <a:latin typeface="Hiragino Mincho ProN"/>
              </a:rPr>
              <a:t>= 粗利仮定 26,500</a:t>
            </a:r>
          </a:p>
        </p:txBody>
      </p:sp>
      <p:sp>
        <p:nvSpPr>
          <p:cNvPr id="11" name="Rectangle 10"/>
          <p:cNvSpPr/>
          <p:nvPr/>
        </p:nvSpPr>
        <p:spPr>
          <a:xfrm>
            <a:off x="4297680" y="1737360"/>
            <a:ext cx="3566160" cy="3200400"/>
          </a:xfrm>
          <a:prstGeom prst="rect">
            <a:avLst/>
          </a:prstGeom>
          <a:solidFill>
            <a:srgbClr val="BBF7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874520"/>
            <a:ext cx="3566160" cy="457200"/>
          </a:xfrm>
          <a:prstGeom prst="rect">
            <a:avLst/>
          </a:prstGeom>
          <a:noFill/>
        </p:spPr>
        <p:txBody>
          <a:bodyPr wrap="square" anchor="t" lIns="25400" rIns="25400" tIns="25400" bIns="25400">
            <a:spAutoFit/>
          </a:bodyPr>
          <a:lstStyle/>
          <a:p>
            <a:pPr algn="ctr"/>
            <a:r>
              <a:rPr sz="2000" b="1">
                <a:solidFill>
                  <a:srgbClr val="1F2937"/>
                </a:solidFill>
                <a:latin typeface="Hiragino Mincho ProN"/>
              </a:rPr>
              <a:t>B 群（回復期）</a:t>
            </a:r>
          </a:p>
        </p:txBody>
      </p:sp>
      <p:sp>
        <p:nvSpPr>
          <p:cNvPr id="13" name="TextBox 12"/>
          <p:cNvSpPr txBox="1"/>
          <p:nvPr/>
        </p:nvSpPr>
        <p:spPr>
          <a:xfrm>
            <a:off x="4297680" y="2377440"/>
            <a:ext cx="3566160" cy="365760"/>
          </a:xfrm>
          <a:prstGeom prst="rect">
            <a:avLst/>
          </a:prstGeom>
          <a:noFill/>
        </p:spPr>
        <p:txBody>
          <a:bodyPr wrap="square" anchor="t" lIns="25400" rIns="25400" tIns="25400" bIns="25400">
            <a:spAutoFit/>
          </a:bodyPr>
          <a:lstStyle/>
          <a:p>
            <a:pPr algn="ctr"/>
            <a:r>
              <a:rPr sz="1400" b="0">
                <a:solidFill>
                  <a:srgbClr val="6B7280"/>
                </a:solidFill>
                <a:latin typeface="Hiragino Mincho ProN"/>
              </a:rPr>
              <a:t>6 〜 14 日</a:t>
            </a:r>
          </a:p>
        </p:txBody>
      </p:sp>
      <p:sp>
        <p:nvSpPr>
          <p:cNvPr id="14" name="TextBox 13"/>
          <p:cNvSpPr txBox="1"/>
          <p:nvPr/>
        </p:nvSpPr>
        <p:spPr>
          <a:xfrm>
            <a:off x="4297680" y="2834640"/>
            <a:ext cx="3566160" cy="457200"/>
          </a:xfrm>
          <a:prstGeom prst="rect">
            <a:avLst/>
          </a:prstGeom>
          <a:noFill/>
        </p:spPr>
        <p:txBody>
          <a:bodyPr wrap="square" anchor="t" lIns="25400" rIns="25400" tIns="25400" bIns="25400">
            <a:spAutoFit/>
          </a:bodyPr>
          <a:lstStyle/>
          <a:p>
            <a:pPr algn="ctr"/>
            <a:r>
              <a:rPr sz="1600" b="0">
                <a:solidFill>
                  <a:srgbClr val="1F2937"/>
                </a:solidFill>
                <a:latin typeface="Hiragino Mincho ProN"/>
              </a:rPr>
              <a:t>報酬 38,500</a:t>
            </a:r>
          </a:p>
        </p:txBody>
      </p:sp>
      <p:sp>
        <p:nvSpPr>
          <p:cNvPr id="15" name="TextBox 14"/>
          <p:cNvSpPr txBox="1"/>
          <p:nvPr/>
        </p:nvSpPr>
        <p:spPr>
          <a:xfrm>
            <a:off x="4297680" y="3291840"/>
            <a:ext cx="3566160" cy="457200"/>
          </a:xfrm>
          <a:prstGeom prst="rect">
            <a:avLst/>
          </a:prstGeom>
          <a:noFill/>
        </p:spPr>
        <p:txBody>
          <a:bodyPr wrap="square" anchor="t" lIns="25400" rIns="25400" tIns="25400" bIns="25400">
            <a:spAutoFit/>
          </a:bodyPr>
          <a:lstStyle/>
          <a:p>
            <a:pPr algn="ctr"/>
            <a:r>
              <a:rPr sz="1600" b="0">
                <a:solidFill>
                  <a:srgbClr val="DC2626"/>
                </a:solidFill>
                <a:latin typeface="Hiragino Mincho ProN"/>
              </a:rPr>
              <a:t>− 変動費 6,000</a:t>
            </a:r>
          </a:p>
        </p:txBody>
      </p:sp>
      <p:sp>
        <p:nvSpPr>
          <p:cNvPr id="16" name="TextBox 15"/>
          <p:cNvSpPr txBox="1"/>
          <p:nvPr/>
        </p:nvSpPr>
        <p:spPr>
          <a:xfrm>
            <a:off x="4297680" y="3840480"/>
            <a:ext cx="3566160" cy="548640"/>
          </a:xfrm>
          <a:prstGeom prst="rect">
            <a:avLst/>
          </a:prstGeom>
          <a:noFill/>
        </p:spPr>
        <p:txBody>
          <a:bodyPr wrap="square" anchor="t" lIns="25400" rIns="25400" tIns="25400" bIns="25400">
            <a:spAutoFit/>
          </a:bodyPr>
          <a:lstStyle/>
          <a:p>
            <a:pPr algn="ctr"/>
            <a:r>
              <a:rPr sz="2000" b="1">
                <a:solidFill>
                  <a:srgbClr val="2563EB"/>
                </a:solidFill>
                <a:latin typeface="Hiragino Mincho ProN"/>
              </a:rPr>
              <a:t>= 粗利仮定 32,500</a:t>
            </a:r>
          </a:p>
        </p:txBody>
      </p:sp>
      <p:sp>
        <p:nvSpPr>
          <p:cNvPr id="17" name="Rectangle 16"/>
          <p:cNvSpPr/>
          <p:nvPr/>
        </p:nvSpPr>
        <p:spPr>
          <a:xfrm>
            <a:off x="8138160" y="1737360"/>
            <a:ext cx="3566160" cy="3200400"/>
          </a:xfrm>
          <a:prstGeom prst="rect">
            <a:avLst/>
          </a:prstGeom>
          <a:solidFill>
            <a:srgbClr val="FDE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874520"/>
            <a:ext cx="3566160" cy="457200"/>
          </a:xfrm>
          <a:prstGeom prst="rect">
            <a:avLst/>
          </a:prstGeom>
          <a:noFill/>
        </p:spPr>
        <p:txBody>
          <a:bodyPr wrap="square" anchor="t" lIns="25400" rIns="25400" tIns="25400" bIns="25400">
            <a:spAutoFit/>
          </a:bodyPr>
          <a:lstStyle/>
          <a:p>
            <a:pPr algn="ctr"/>
            <a:r>
              <a:rPr sz="2000" b="1">
                <a:solidFill>
                  <a:srgbClr val="1F2937"/>
                </a:solidFill>
                <a:latin typeface="Hiragino Mincho ProN"/>
              </a:rPr>
              <a:t>C 群（退院準備期）</a:t>
            </a:r>
          </a:p>
        </p:txBody>
      </p:sp>
      <p:sp>
        <p:nvSpPr>
          <p:cNvPr id="19" name="TextBox 18"/>
          <p:cNvSpPr txBox="1"/>
          <p:nvPr/>
        </p:nvSpPr>
        <p:spPr>
          <a:xfrm>
            <a:off x="8138160" y="2377440"/>
            <a:ext cx="3566160" cy="365760"/>
          </a:xfrm>
          <a:prstGeom prst="rect">
            <a:avLst/>
          </a:prstGeom>
          <a:noFill/>
        </p:spPr>
        <p:txBody>
          <a:bodyPr wrap="square" anchor="t" lIns="25400" rIns="25400" tIns="25400" bIns="25400">
            <a:spAutoFit/>
          </a:bodyPr>
          <a:lstStyle/>
          <a:p>
            <a:pPr algn="ctr"/>
            <a:r>
              <a:rPr sz="1400" b="0">
                <a:solidFill>
                  <a:srgbClr val="6B7280"/>
                </a:solidFill>
                <a:latin typeface="Hiragino Mincho ProN"/>
              </a:rPr>
              <a:t>15 日以降</a:t>
            </a:r>
          </a:p>
        </p:txBody>
      </p:sp>
      <p:sp>
        <p:nvSpPr>
          <p:cNvPr id="20" name="TextBox 19"/>
          <p:cNvSpPr txBox="1"/>
          <p:nvPr/>
        </p:nvSpPr>
        <p:spPr>
          <a:xfrm>
            <a:off x="8138160" y="2834640"/>
            <a:ext cx="3566160" cy="457200"/>
          </a:xfrm>
          <a:prstGeom prst="rect">
            <a:avLst/>
          </a:prstGeom>
          <a:noFill/>
        </p:spPr>
        <p:txBody>
          <a:bodyPr wrap="square" anchor="t" lIns="25400" rIns="25400" tIns="25400" bIns="25400">
            <a:spAutoFit/>
          </a:bodyPr>
          <a:lstStyle/>
          <a:p>
            <a:pPr algn="ctr"/>
            <a:r>
              <a:rPr sz="1600" b="0">
                <a:solidFill>
                  <a:srgbClr val="1F2937"/>
                </a:solidFill>
                <a:latin typeface="Hiragino Mincho ProN"/>
              </a:rPr>
              <a:t>報酬 35,500</a:t>
            </a:r>
          </a:p>
        </p:txBody>
      </p:sp>
      <p:sp>
        <p:nvSpPr>
          <p:cNvPr id="21" name="TextBox 20"/>
          <p:cNvSpPr txBox="1"/>
          <p:nvPr/>
        </p:nvSpPr>
        <p:spPr>
          <a:xfrm>
            <a:off x="8138160" y="3291840"/>
            <a:ext cx="3566160" cy="457200"/>
          </a:xfrm>
          <a:prstGeom prst="rect">
            <a:avLst/>
          </a:prstGeom>
          <a:noFill/>
        </p:spPr>
        <p:txBody>
          <a:bodyPr wrap="square" anchor="t" lIns="25400" rIns="25400" tIns="25400" bIns="25400">
            <a:spAutoFit/>
          </a:bodyPr>
          <a:lstStyle/>
          <a:p>
            <a:pPr algn="ctr"/>
            <a:r>
              <a:rPr sz="1600" b="0">
                <a:solidFill>
                  <a:srgbClr val="DC2626"/>
                </a:solidFill>
                <a:latin typeface="Hiragino Mincho ProN"/>
              </a:rPr>
              <a:t>− 変動費 4,500</a:t>
            </a:r>
          </a:p>
        </p:txBody>
      </p:sp>
      <p:sp>
        <p:nvSpPr>
          <p:cNvPr id="22" name="TextBox 21"/>
          <p:cNvSpPr txBox="1"/>
          <p:nvPr/>
        </p:nvSpPr>
        <p:spPr>
          <a:xfrm>
            <a:off x="8138160" y="3840480"/>
            <a:ext cx="3566160" cy="548640"/>
          </a:xfrm>
          <a:prstGeom prst="rect">
            <a:avLst/>
          </a:prstGeom>
          <a:noFill/>
        </p:spPr>
        <p:txBody>
          <a:bodyPr wrap="square" anchor="t" lIns="25400" rIns="25400" tIns="25400" bIns="25400">
            <a:spAutoFit/>
          </a:bodyPr>
          <a:lstStyle/>
          <a:p>
            <a:pPr algn="ctr"/>
            <a:r>
              <a:rPr sz="2000" b="1">
                <a:solidFill>
                  <a:srgbClr val="2563EB"/>
                </a:solidFill>
                <a:latin typeface="Hiragino Mincho ProN"/>
              </a:rPr>
              <a:t>= 粗利仮定 31,000</a:t>
            </a:r>
          </a:p>
        </p:txBody>
      </p:sp>
      <p:sp>
        <p:nvSpPr>
          <p:cNvPr id="23" name="Rectangle 22"/>
          <p:cNvSpPr/>
          <p:nvPr/>
        </p:nvSpPr>
        <p:spPr>
          <a:xfrm>
            <a:off x="640080" y="5212080"/>
            <a:ext cx="10972800" cy="137160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349240"/>
            <a:ext cx="10607040" cy="1188720"/>
          </a:xfrm>
          <a:prstGeom prst="rect">
            <a:avLst/>
          </a:prstGeom>
          <a:noFill/>
        </p:spPr>
        <p:txBody>
          <a:bodyPr wrap="square">
            <a:spAutoFit/>
          </a:bodyPr>
          <a:lstStyle/>
          <a:p>
            <a:pPr algn="l"/>
            <a:r>
              <a:rPr sz="1400" b="1">
                <a:solidFill>
                  <a:srgbClr val="1F2937"/>
                </a:solidFill>
                <a:latin typeface="Hiragino Mincho ProN"/>
              </a:rPr>
              <a:t>⚠️ この粗利仮定は管理用スコア — 会計上の確定利益ではない</a:t>
            </a:r>
          </a:p>
          <a:p>
            <a:pPr algn="l"/>
            <a:r>
              <a:rPr sz="1300" b="0">
                <a:solidFill>
                  <a:srgbClr val="1F2937"/>
                </a:solidFill>
                <a:latin typeface="Hiragino Mincho ProN"/>
              </a:rPr>
              <a:t>    Layer 1 だけでは出来高（手術等）と制度適合は捕捉できない</a:t>
            </a:r>
          </a:p>
          <a:p>
            <a:pPr algn="l"/>
            <a:r>
              <a:rPr sz="1300" b="0">
                <a:solidFill>
                  <a:srgbClr val="1F2937"/>
                </a:solidFill>
                <a:latin typeface="Hiragino Mincho ProN"/>
              </a:rPr>
              <a:t>    Layer 2/3/4 を併読して初めて貢献の姿が立体的に見える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800" b="1">
                <a:solidFill>
                  <a:srgbClr val="1F2937"/>
                </a:solidFill>
                <a:latin typeface="Hiragino Mincho ProN"/>
              </a:rPr>
              <a:t>Layer 1: 医師別 ポジショニング（散布図）</a:t>
            </a:r>
          </a:p>
        </p:txBody>
      </p:sp>
      <p:pic>
        <p:nvPicPr>
          <p:cNvPr id="4" name="Picture 3" descr="02_scatter_anonymous.png"/>
          <p:cNvPicPr>
            <a:picLocks noChangeAspect="1"/>
          </p:cNvPicPr>
          <p:nvPr/>
        </p:nvPicPr>
        <p:blipFill>
          <a:blip r:embed="rId2"/>
          <a:stretch>
            <a:fillRect/>
          </a:stretch>
        </p:blipFill>
        <p:spPr>
          <a:xfrm>
            <a:off x="640080" y="1097280"/>
            <a:ext cx="10881360" cy="717817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800" b="1">
                <a:solidFill>
                  <a:srgbClr val="1F2937"/>
                </a:solidFill>
                <a:latin typeface="Hiragino Mincho ProN"/>
              </a:rPr>
              <a:t>Layer 1: 病棟別 稼働率寄与率</a:t>
            </a:r>
          </a:p>
        </p:txBody>
      </p:sp>
      <p:pic>
        <p:nvPicPr>
          <p:cNvPr id="4" name="Picture 3" descr="03_ward_ranking_anonymous.png"/>
          <p:cNvPicPr>
            <a:picLocks noChangeAspect="1"/>
          </p:cNvPicPr>
          <p:nvPr/>
        </p:nvPicPr>
        <p:blipFill>
          <a:blip r:embed="rId2"/>
          <a:stretch>
            <a:fillRect/>
          </a:stretch>
        </p:blipFill>
        <p:spPr>
          <a:xfrm>
            <a:off x="457200" y="1097280"/>
            <a:ext cx="11247120" cy="61169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1: 病床日数シェア — 各医師の占有割合</a:t>
            </a:r>
          </a:p>
        </p:txBody>
      </p:sp>
      <p:pic>
        <p:nvPicPr>
          <p:cNvPr id="4" name="Picture 3" descr="04_treemap_anonymous.png"/>
          <p:cNvPicPr>
            <a:picLocks noChangeAspect="1"/>
          </p:cNvPicPr>
          <p:nvPr/>
        </p:nvPicPr>
        <p:blipFill>
          <a:blip r:embed="rId2"/>
          <a:stretch>
            <a:fillRect/>
          </a:stretch>
        </p:blipFill>
        <p:spPr>
          <a:xfrm>
            <a:off x="640080" y="1097280"/>
            <a:ext cx="10881360" cy="5834575"/>
          </a:xfrm>
          <a:prstGeom prst="rect">
            <a:avLst/>
          </a:prstGeom>
        </p:spPr>
      </p:pic>
      <p:sp>
        <p:nvSpPr>
          <p:cNvPr id="5" name="TextBox 4"/>
          <p:cNvSpPr txBox="1"/>
          <p:nvPr/>
        </p:nvSpPr>
        <p:spPr>
          <a:xfrm>
            <a:off x="457200" y="6400800"/>
            <a:ext cx="11247120" cy="365760"/>
          </a:xfrm>
          <a:prstGeom prst="rect">
            <a:avLst/>
          </a:prstGeom>
          <a:noFill/>
        </p:spPr>
        <p:txBody>
          <a:bodyPr wrap="square" anchor="t" lIns="25400" rIns="25400" tIns="25400" bIns="25400">
            <a:spAutoFit/>
          </a:bodyPr>
          <a:lstStyle/>
          <a:p>
            <a:pPr algn="ctr"/>
            <a:r>
              <a:rPr sz="1100" b="0">
                <a:solidFill>
                  <a:srgbClr val="6B7280"/>
                </a:solidFill>
                <a:latin typeface="Hiragino Mincho ProN"/>
              </a:rPr>
              <a:t>※ 参考：管理用スコア合計 8.96 億円相当（コスト ±20% の業界目安、確定利益ではない）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800" b="1">
                <a:solidFill>
                  <a:srgbClr val="1F2937"/>
                </a:solidFill>
                <a:latin typeface="Hiragino Mincho ProN"/>
              </a:rPr>
              <a:t>Layer 1: 病床日数シェアと管理用スコアの関係</a:t>
            </a:r>
          </a:p>
        </p:txBody>
      </p:sp>
      <p:pic>
        <p:nvPicPr>
          <p:cNvPr id="4" name="Picture 3" descr="05_correlation_anonymous.png"/>
          <p:cNvPicPr>
            <a:picLocks noChangeAspect="1"/>
          </p:cNvPicPr>
          <p:nvPr/>
        </p:nvPicPr>
        <p:blipFill>
          <a:blip r:embed="rId2"/>
          <a:stretch>
            <a:fillRect/>
          </a:stretch>
        </p:blipFill>
        <p:spPr>
          <a:xfrm>
            <a:off x="457200" y="1005840"/>
            <a:ext cx="11247120" cy="6531399"/>
          </a:xfrm>
          <a:prstGeom prst="rect">
            <a:avLst/>
          </a:prstGeom>
        </p:spPr>
      </p:pic>
      <p:sp>
        <p:nvSpPr>
          <p:cNvPr id="5" name="Rectangle 4"/>
          <p:cNvSpPr/>
          <p:nvPr/>
        </p:nvSpPr>
        <p:spPr>
          <a:xfrm>
            <a:off x="457200" y="5943600"/>
            <a:ext cx="11247120" cy="77724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035040"/>
            <a:ext cx="10972800" cy="640080"/>
          </a:xfrm>
          <a:prstGeom prst="rect">
            <a:avLst/>
          </a:prstGeom>
          <a:noFill/>
        </p:spPr>
        <p:txBody>
          <a:bodyPr wrap="square">
            <a:spAutoFit/>
          </a:bodyPr>
          <a:lstStyle/>
          <a:p>
            <a:pPr algn="l"/>
            <a:r>
              <a:rPr sz="1300" b="1">
                <a:solidFill>
                  <a:srgbClr val="DC2626"/>
                </a:solidFill>
                <a:latin typeface="Hiragino Mincho ProN"/>
              </a:rPr>
              <a:t>⚠️ r=0.96 は寄与率を使ってスコアを計算しているため統計的に独立ではない</a:t>
            </a:r>
          </a:p>
          <a:p>
            <a:pPr algn="l"/>
            <a:r>
              <a:rPr sz="1200" b="0">
                <a:solidFill>
                  <a:srgbClr val="DC2626"/>
                </a:solidFill>
                <a:latin typeface="Hiragino Mincho ProN"/>
              </a:rPr>
              <a:t>→「単価差より病床日数シェアがスコアを規定する」という説明として読む（独立検証ではない）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2: 出来高上乗せ収益の可能性 — 概要</a:t>
            </a:r>
          </a:p>
        </p:txBody>
      </p:sp>
      <p:sp>
        <p:nvSpPr>
          <p:cNvPr id="4" name="TextBox 3"/>
          <p:cNvSpPr txBox="1"/>
          <p:nvPr/>
        </p:nvSpPr>
        <p:spPr>
          <a:xfrm>
            <a:off x="640080" y="1188720"/>
            <a:ext cx="10972800" cy="5303520"/>
          </a:xfrm>
          <a:prstGeom prst="rect">
            <a:avLst/>
          </a:prstGeom>
          <a:noFill/>
        </p:spPr>
        <p:txBody>
          <a:bodyPr wrap="square">
            <a:spAutoFit/>
          </a:bodyPr>
          <a:lstStyle/>
          <a:p>
            <a:pPr algn="l"/>
            <a:r>
              <a:rPr sz="1800" b="1">
                <a:solidFill>
                  <a:srgbClr val="1F2937"/>
                </a:solidFill>
                <a:latin typeface="Hiragino Mincho ProN"/>
              </a:rPr>
              <a:t>地域包括医療病棟入院料の包括範囲外として、収益に影響する要素:</a:t>
            </a:r>
          </a:p>
          <a:p>
            <a:pPr algn="l"/>
            <a:r>
              <a:rPr sz="1600" b="0">
                <a:solidFill>
                  <a:srgbClr val="1F2937"/>
                </a:solidFill>
                <a:latin typeface="Hiragino Mincho ProN"/>
              </a:rPr>
              <a:t>    手術・麻酔・リハビリテーション・1,000 点以上の処置・特定の検査</a:t>
            </a:r>
          </a:p>
          <a:p>
            <a:pPr algn="l"/>
            <a:r>
              <a:rPr sz="1300" b="0">
                <a:solidFill>
                  <a:srgbClr val="1F2937"/>
                </a:solidFill>
                <a:latin typeface="Hiragino Mincho ProN"/>
              </a:rPr>
              <a:t>    （出典: 厚生労働省「令和 6 年度診療報酬改定の概要 入院 I」）</a:t>
            </a:r>
          </a:p>
          <a:p>
            <a:pPr algn="l"/>
            <a:r>
              <a:rPr sz="1200" b="0">
                <a:solidFill>
                  <a:srgbClr val="1F2937"/>
                </a:solidFill>
                <a:latin typeface="Hiragino Mincho ProN"/>
              </a:rPr>
              <a:t/>
            </a:r>
          </a:p>
          <a:p>
            <a:pPr algn="l"/>
            <a:r>
              <a:rPr sz="1800" b="1">
                <a:solidFill>
                  <a:srgbClr val="1F2937"/>
                </a:solidFill>
                <a:latin typeface="Hiragino Mincho ProN"/>
              </a:rPr>
              <a:t>Layer 1 の病床日数だけでは、これらの出来高貢献を捕捉できない</a:t>
            </a:r>
          </a:p>
          <a:p>
            <a:pPr algn="l"/>
            <a:r>
              <a:rPr sz="1200" b="0">
                <a:solidFill>
                  <a:srgbClr val="1F2937"/>
                </a:solidFill>
                <a:latin typeface="Hiragino Mincho ProN"/>
              </a:rPr>
              <a:t/>
            </a:r>
          </a:p>
          <a:p>
            <a:pPr algn="l"/>
            <a:r>
              <a:rPr sz="1800" b="1">
                <a:solidFill>
                  <a:srgbClr val="1F2937"/>
                </a:solidFill>
                <a:latin typeface="Hiragino Mincho ProN"/>
              </a:rPr>
              <a:t>📌 本資料の Layer 2 は入口指標のみ</a:t>
            </a:r>
          </a:p>
          <a:p>
            <a:pPr algn="l"/>
            <a:r>
              <a:rPr sz="1400" b="0">
                <a:solidFill>
                  <a:srgbClr val="1F2937"/>
                </a:solidFill>
                <a:latin typeface="Hiragino Mincho ProN"/>
              </a:rPr>
              <a:t>    手術あり症例比率を提示。手術料・麻酔料・リハ単位の点数は本資料未反映</a:t>
            </a:r>
          </a:p>
          <a:p>
            <a:pPr algn="l"/>
            <a:r>
              <a:rPr sz="1400" b="0">
                <a:solidFill>
                  <a:srgbClr val="1F2937"/>
                </a:solidFill>
                <a:latin typeface="Hiragino Mincho ProN"/>
              </a:rPr>
              <a:t>    「単価が低い = 経営貢献が小さい」と判断する前に必ず併読する</a:t>
            </a:r>
          </a:p>
          <a:p>
            <a:pPr algn="l"/>
            <a:r>
              <a:rPr sz="1200" b="0">
                <a:solidFill>
                  <a:srgbClr val="1F2937"/>
                </a:solidFill>
                <a:latin typeface="Hiragino Mincho ProN"/>
              </a:rPr>
              <a:t/>
            </a:r>
          </a:p>
          <a:p>
            <a:pPr algn="l"/>
            <a:r>
              <a:rPr sz="1600" b="1">
                <a:solidFill>
                  <a:srgbClr val="1F2937"/>
                </a:solidFill>
                <a:latin typeface="Hiragino Mincho ProN"/>
              </a:rPr>
              <a:t>Stage 2 で点数データを取得し、絶対金額化を段階的に実施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1800" b="1">
                <a:solidFill>
                  <a:srgbClr val="1F2937"/>
                </a:solidFill>
                <a:latin typeface="Hiragino Mincho ProN"/>
              </a:rPr>
              <a:t>Layer 2: 医師別 手術あり症例比率（分析対象 14 医師 1,940 件中の平均 23.4%）</a:t>
            </a:r>
          </a:p>
        </p:txBody>
      </p:sp>
      <p:pic>
        <p:nvPicPr>
          <p:cNvPr id="4" name="Picture 3" descr="08_layer2_surgery_anonymous.png"/>
          <p:cNvPicPr>
            <a:picLocks noChangeAspect="1"/>
          </p:cNvPicPr>
          <p:nvPr/>
        </p:nvPicPr>
        <p:blipFill>
          <a:blip r:embed="rId2"/>
          <a:stretch>
            <a:fillRect/>
          </a:stretch>
        </p:blipFill>
        <p:spPr>
          <a:xfrm>
            <a:off x="457200" y="1005840"/>
            <a:ext cx="11247120" cy="6891333"/>
          </a:xfrm>
          <a:prstGeom prst="rect">
            <a:avLst/>
          </a:prstGeom>
        </p:spPr>
      </p:pic>
      <p:sp>
        <p:nvSpPr>
          <p:cNvPr id="5" name="Rectangle 4"/>
          <p:cNvSpPr/>
          <p:nvPr/>
        </p:nvSpPr>
        <p:spPr>
          <a:xfrm>
            <a:off x="457200" y="6035040"/>
            <a:ext cx="11247120" cy="77724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172200"/>
            <a:ext cx="10972800" cy="548640"/>
          </a:xfrm>
          <a:prstGeom prst="rect">
            <a:avLst/>
          </a:prstGeom>
          <a:noFill/>
        </p:spPr>
        <p:txBody>
          <a:bodyPr wrap="square" anchor="t" lIns="25400" rIns="25400" tIns="25400" bIns="25400">
            <a:spAutoFit/>
          </a:bodyPr>
          <a:lstStyle/>
          <a:p>
            <a:pPr algn="l"/>
            <a:r>
              <a:rPr sz="1400" b="1">
                <a:solidFill>
                  <a:srgbClr val="D97706"/>
                </a:solidFill>
                <a:latin typeface="Hiragino Mincho ProN"/>
              </a:rPr>
              <a:t>💡 手術あり比率 ≥ 40% の医師は「手術・処置型」へ分類。Layer 1 では見えない出来高上乗せの可能性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3: 医師別 制度適合貢献（3 指標）</a:t>
            </a:r>
          </a:p>
        </p:txBody>
      </p:sp>
      <p:pic>
        <p:nvPicPr>
          <p:cNvPr id="4" name="Picture 3" descr="09_layer3_compliance_anonymous.png"/>
          <p:cNvPicPr>
            <a:picLocks noChangeAspect="1"/>
          </p:cNvPicPr>
          <p:nvPr/>
        </p:nvPicPr>
        <p:blipFill>
          <a:blip r:embed="rId2"/>
          <a:stretch>
            <a:fillRect/>
          </a:stretch>
        </p:blipFill>
        <p:spPr>
          <a:xfrm>
            <a:off x="274320" y="1005840"/>
            <a:ext cx="11612880" cy="5250665"/>
          </a:xfrm>
          <a:prstGeom prst="rect">
            <a:avLst/>
          </a:prstGeom>
        </p:spPr>
      </p:pic>
      <p:sp>
        <p:nvSpPr>
          <p:cNvPr id="5" name="Rectangle 4"/>
          <p:cNvSpPr/>
          <p:nvPr/>
        </p:nvSpPr>
        <p:spPr>
          <a:xfrm>
            <a:off x="457200" y="5943600"/>
            <a:ext cx="11247120" cy="77724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080760"/>
            <a:ext cx="10972800" cy="548640"/>
          </a:xfrm>
          <a:prstGeom prst="rect">
            <a:avLst/>
          </a:prstGeom>
          <a:noFill/>
        </p:spPr>
        <p:txBody>
          <a:bodyPr wrap="square" anchor="t" lIns="25400" rIns="25400" tIns="25400" bIns="25400">
            <a:spAutoFit/>
          </a:bodyPr>
          <a:lstStyle/>
          <a:p>
            <a:pPr algn="l"/>
            <a:r>
              <a:rPr sz="1400" b="1">
                <a:solidFill>
                  <a:srgbClr val="10B981"/>
                </a:solidFill>
                <a:latin typeface="Hiragino Mincho ProN"/>
              </a:rPr>
              <a:t>💡 高単価でも施設基準悪化症例 と 単価中等でも制度維持に効く症例 を区別する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3: 当院全体平均と施設基準の対比</a:t>
            </a:r>
          </a:p>
        </p:txBody>
      </p:sp>
      <p:sp>
        <p:nvSpPr>
          <p:cNvPr id="4" name="TextBox 3"/>
          <p:cNvSpPr txBox="1"/>
          <p:nvPr/>
        </p:nvSpPr>
        <p:spPr>
          <a:xfrm>
            <a:off x="640080" y="1188720"/>
            <a:ext cx="10972800" cy="5303520"/>
          </a:xfrm>
          <a:prstGeom prst="rect">
            <a:avLst/>
          </a:prstGeom>
          <a:noFill/>
        </p:spPr>
        <p:txBody>
          <a:bodyPr wrap="square">
            <a:spAutoFit/>
          </a:bodyPr>
          <a:lstStyle/>
          <a:p>
            <a:pPr algn="l"/>
            <a:r>
              <a:rPr sz="1800" b="1">
                <a:solidFill>
                  <a:srgbClr val="1F2937"/>
                </a:solidFill>
                <a:latin typeface="Hiragino Mincho ProN"/>
              </a:rPr>
              <a:t>● 救急車入院比率（参考 proxy、医師別）:</a:t>
            </a:r>
          </a:p>
          <a:p>
            <a:pPr algn="l"/>
            <a:r>
              <a:rPr sz="1600" b="0">
                <a:solidFill>
                  <a:srgbClr val="1F2937"/>
                </a:solidFill>
                <a:latin typeface="Hiragino Mincho ProN"/>
              </a:rPr>
              <a:t>    分析対象平均 15.3%  ／  病棟別 rolling 制度線 15%（参考）</a:t>
            </a:r>
          </a:p>
          <a:p>
            <a:pPr algn="l"/>
            <a:r>
              <a:rPr sz="1300" b="0">
                <a:solidFill>
                  <a:srgbClr val="1F2937"/>
                </a:solidFill>
                <a:latin typeface="Hiragino Mincho ProN"/>
              </a:rPr>
              <a:t>    ※ 制度上の「救急搬送後 15%」判定は病棟別 rolling 3 ヶ月。医師別比較とは別物</a:t>
            </a:r>
          </a:p>
          <a:p>
            <a:pPr algn="l"/>
            <a:r>
              <a:rPr sz="800" b="0">
                <a:solidFill>
                  <a:srgbClr val="1F2937"/>
                </a:solidFill>
                <a:latin typeface="Hiragino Mincho ProN"/>
              </a:rPr>
              <a:t/>
            </a:r>
          </a:p>
          <a:p>
            <a:pPr algn="l"/>
            <a:r>
              <a:rPr sz="1800" b="1">
                <a:solidFill>
                  <a:srgbClr val="1F2937"/>
                </a:solidFill>
                <a:latin typeface="Hiragino Mincho ProN"/>
              </a:rPr>
              <a:t>● 在宅復帰率（自宅+居住系）:</a:t>
            </a:r>
          </a:p>
          <a:p>
            <a:pPr algn="l"/>
            <a:r>
              <a:rPr sz="1600" b="0">
                <a:solidFill>
                  <a:srgbClr val="1F2937"/>
                </a:solidFill>
                <a:latin typeface="Hiragino Mincho ProN"/>
              </a:rPr>
              <a:t>    分析対象平均 88.7%  ／  施設基準 70% 以上</a:t>
            </a:r>
          </a:p>
          <a:p>
            <a:pPr algn="l"/>
            <a:r>
              <a:rPr sz="800" b="0">
                <a:solidFill>
                  <a:srgbClr val="1F2937"/>
                </a:solidFill>
                <a:latin typeface="Hiragino Mincho ProN"/>
              </a:rPr>
              <a:t/>
            </a:r>
          </a:p>
          <a:p>
            <a:pPr algn="l"/>
            <a:r>
              <a:rPr sz="1800" b="1">
                <a:solidFill>
                  <a:srgbClr val="1F2937"/>
                </a:solidFill>
                <a:latin typeface="Hiragino Mincho ProN"/>
              </a:rPr>
              <a:t>● 予定外入院比率（緊急入院全般）:</a:t>
            </a:r>
          </a:p>
          <a:p>
            <a:pPr algn="l"/>
            <a:r>
              <a:rPr sz="1600" b="0">
                <a:solidFill>
                  <a:srgbClr val="1F2937"/>
                </a:solidFill>
                <a:latin typeface="Hiragino Mincho ProN"/>
              </a:rPr>
              <a:t>    分析対象平均 59.7%  ／  参考値（救急受入機能の厚みを示す）</a:t>
            </a:r>
          </a:p>
          <a:p>
            <a:pPr algn="l"/>
            <a:r>
              <a:rPr sz="1200" b="0">
                <a:solidFill>
                  <a:srgbClr val="1F2937"/>
                </a:solidFill>
                <a:latin typeface="Hiragino Mincho ProN"/>
              </a:rPr>
              <a:t/>
            </a:r>
          </a:p>
          <a:p>
            <a:pPr algn="l"/>
            <a:r>
              <a:rPr sz="1400" b="1">
                <a:solidFill>
                  <a:srgbClr val="1F2937"/>
                </a:solidFill>
                <a:latin typeface="Hiragino Mincho ProN"/>
              </a:rPr>
              <a:t>📌 病棟単位 rolling 3 ヶ月での制度判定は既存アプリの「制度管理」セクションで実施中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4: 経営上の解釈 — 5+1 類型の定義</a:t>
            </a:r>
          </a:p>
        </p:txBody>
      </p:sp>
      <p:sp>
        <p:nvSpPr>
          <p:cNvPr id="4" name="TextBox 3"/>
          <p:cNvSpPr txBox="1"/>
          <p:nvPr/>
        </p:nvSpPr>
        <p:spPr>
          <a:xfrm>
            <a:off x="640080" y="1097280"/>
            <a:ext cx="10972800" cy="5486400"/>
          </a:xfrm>
          <a:prstGeom prst="rect">
            <a:avLst/>
          </a:prstGeom>
          <a:noFill/>
        </p:spPr>
        <p:txBody>
          <a:bodyPr wrap="square">
            <a:spAutoFit/>
          </a:bodyPr>
          <a:lstStyle/>
          <a:p>
            <a:pPr algn="l"/>
            <a:r>
              <a:rPr sz="1600" b="1">
                <a:solidFill>
                  <a:srgbClr val="1F2937"/>
                </a:solidFill>
                <a:latin typeface="Hiragino Mincho ProN"/>
              </a:rPr>
              <a:t>Layer 1〜3 を総合して、各医師を「病棟をどのような形で支えているか」で類型化:</a:t>
            </a:r>
          </a:p>
          <a:p>
            <a:pPr algn="l"/>
            <a:r>
              <a:rPr sz="1000" b="0">
                <a:solidFill>
                  <a:srgbClr val="1F2937"/>
                </a:solidFill>
                <a:latin typeface="Hiragino Mincho ProN"/>
              </a:rPr>
              <a:t/>
            </a:r>
          </a:p>
          <a:p>
            <a:pPr algn="l"/>
            <a:r>
              <a:rPr sz="1800" b="1">
                <a:solidFill>
                  <a:srgbClr val="1F2937"/>
                </a:solidFill>
                <a:latin typeface="Hiragino Mincho ProN"/>
              </a:rPr>
              <a:t>① 手術・処置型: 手術あり比率 ≥ 40%</a:t>
            </a:r>
          </a:p>
          <a:p>
            <a:pPr algn="l"/>
            <a:r>
              <a:rPr sz="1300" b="0">
                <a:solidFill>
                  <a:srgbClr val="1F2937"/>
                </a:solidFill>
                <a:latin typeface="Hiragino Mincho ProN"/>
              </a:rPr>
              <a:t>    → 在院は短〜中等でも、手術関連の出来高上乗せが大きい可能性</a:t>
            </a:r>
          </a:p>
          <a:p>
            <a:pPr algn="l"/>
            <a:r>
              <a:rPr sz="1800" b="1">
                <a:solidFill>
                  <a:srgbClr val="1F2937"/>
                </a:solidFill>
                <a:latin typeface="Hiragino Mincho ProN"/>
              </a:rPr>
              <a:t>② 救急・予定外受入基盤型: 救急車入院比率 ≥ 25% かつ 手術 &lt; 30%</a:t>
            </a:r>
          </a:p>
          <a:p>
            <a:pPr algn="l"/>
            <a:r>
              <a:rPr sz="1300" b="0">
                <a:solidFill>
                  <a:srgbClr val="1F2937"/>
                </a:solidFill>
                <a:latin typeface="Hiragino Mincho ProN"/>
              </a:rPr>
              <a:t>    → 救急車入院・予定外入院を多く担当、地域包括病棟の受入機能を支える</a:t>
            </a:r>
          </a:p>
          <a:p>
            <a:pPr algn="l"/>
            <a:r>
              <a:rPr sz="1800" b="1">
                <a:solidFill>
                  <a:srgbClr val="1F2937"/>
                </a:solidFill>
                <a:latin typeface="Hiragino Mincho ProN"/>
              </a:rPr>
              <a:t>③ 長期安定型: 平均在院日数 ≥ 14 日</a:t>
            </a:r>
          </a:p>
          <a:p>
            <a:pPr algn="l"/>
            <a:r>
              <a:rPr sz="1300" b="0">
                <a:solidFill>
                  <a:srgbClr val="1F2937"/>
                </a:solidFill>
                <a:latin typeface="Hiragino Mincho ProN"/>
              </a:rPr>
              <a:t>    → 長めの在院日数で病床日数を支え、稼働率維持に効く</a:t>
            </a:r>
          </a:p>
          <a:p>
            <a:pPr algn="l"/>
            <a:r>
              <a:rPr sz="1800" b="1">
                <a:solidFill>
                  <a:srgbClr val="1F2937"/>
                </a:solidFill>
                <a:latin typeface="Hiragino Mincho ProN"/>
              </a:rPr>
              <a:t>④ リハ・在宅復帰型: 在宅復帰率 ≥ 95% かつ 平均在院 8〜13 日</a:t>
            </a:r>
          </a:p>
          <a:p>
            <a:pPr algn="l"/>
            <a:r>
              <a:rPr sz="1300" b="0">
                <a:solidFill>
                  <a:srgbClr val="1F2937"/>
                </a:solidFill>
                <a:latin typeface="Hiragino Mincho ProN"/>
              </a:rPr>
              <a:t>    → 適切な在院後に高い在宅復帰率、施設基準・退院支援に効く</a:t>
            </a:r>
          </a:p>
          <a:p>
            <a:pPr algn="l"/>
            <a:r>
              <a:rPr sz="1800" b="1">
                <a:solidFill>
                  <a:srgbClr val="1F2937"/>
                </a:solidFill>
                <a:latin typeface="Hiragino Mincho ProN"/>
              </a:rPr>
              <a:t>⑤ 回転供給型: 平均在院日数 ≤ 8 日</a:t>
            </a:r>
          </a:p>
          <a:p>
            <a:pPr algn="l"/>
            <a:r>
              <a:rPr sz="1300" b="0">
                <a:solidFill>
                  <a:srgbClr val="1F2937"/>
                </a:solidFill>
                <a:latin typeface="Hiragino Mincho ProN"/>
              </a:rPr>
              <a:t>    → 短期入院を多く回し、入退院の流れを作る</a:t>
            </a:r>
          </a:p>
          <a:p>
            <a:pPr algn="l"/>
            <a:r>
              <a:rPr sz="1800" b="1">
                <a:solidFill>
                  <a:srgbClr val="1F2937"/>
                </a:solidFill>
                <a:latin typeface="Hiragino Mincho ProN"/>
              </a:rPr>
              <a:t>⑥ 混合型: 上記いずれにも該当せず（複数の役割）</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4: 当院の医師別 タイプ分類（散布図）</a:t>
            </a:r>
          </a:p>
        </p:txBody>
      </p:sp>
      <p:pic>
        <p:nvPicPr>
          <p:cNvPr id="4" name="Picture 3" descr="10_layer4_typing_anonymous.png"/>
          <p:cNvPicPr>
            <a:picLocks noChangeAspect="1"/>
          </p:cNvPicPr>
          <p:nvPr/>
        </p:nvPicPr>
        <p:blipFill>
          <a:blip r:embed="rId2"/>
          <a:stretch>
            <a:fillRect/>
          </a:stretch>
        </p:blipFill>
        <p:spPr>
          <a:xfrm>
            <a:off x="457200" y="1005840"/>
            <a:ext cx="11247120" cy="722643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Layer 4: 当院の医師構成内訳</a:t>
            </a:r>
          </a:p>
        </p:txBody>
      </p:sp>
      <p:sp>
        <p:nvSpPr>
          <p:cNvPr id="4" name="TextBox 3"/>
          <p:cNvSpPr txBox="1"/>
          <p:nvPr/>
        </p:nvSpPr>
        <p:spPr>
          <a:xfrm>
            <a:off x="640080" y="1097280"/>
            <a:ext cx="10972800" cy="5486400"/>
          </a:xfrm>
          <a:prstGeom prst="rect">
            <a:avLst/>
          </a:prstGeom>
          <a:noFill/>
        </p:spPr>
        <p:txBody>
          <a:bodyPr wrap="square">
            <a:spAutoFit/>
          </a:bodyPr>
          <a:lstStyle/>
          <a:p>
            <a:pPr algn="l"/>
            <a:r>
              <a:rPr sz="2000" b="1">
                <a:solidFill>
                  <a:srgbClr val="1F2937"/>
                </a:solidFill>
                <a:latin typeface="Hiragino Mincho ProN"/>
              </a:rPr>
              <a:t>当院 14 名の運営パターン構成:</a:t>
            </a:r>
          </a:p>
          <a:p>
            <a:pPr algn="l"/>
            <a:r>
              <a:rPr sz="800" b="0">
                <a:solidFill>
                  <a:srgbClr val="1F2937"/>
                </a:solidFill>
                <a:latin typeface="Hiragino Mincho ProN"/>
              </a:rPr>
              <a:t/>
            </a:r>
          </a:p>
          <a:p>
            <a:pPr algn="l"/>
            <a:r>
              <a:rPr sz="2000" b="1">
                <a:solidFill>
                  <a:srgbClr val="1F2937"/>
                </a:solidFill>
                <a:latin typeface="Hiragino Mincho ProN"/>
              </a:rPr>
              <a:t>● 手術・処置型: 5 名</a:t>
            </a:r>
          </a:p>
          <a:p>
            <a:pPr algn="l"/>
            <a:r>
              <a:rPr sz="1300" b="0">
                <a:solidFill>
                  <a:srgbClr val="1F2937"/>
                </a:solidFill>
                <a:latin typeface="Hiragino Mincho ProN"/>
              </a:rPr>
              <a:t>    在院は短〜中等でも、手術関連の出来高上乗せが大きい可能性</a:t>
            </a:r>
          </a:p>
          <a:p>
            <a:pPr algn="l"/>
            <a:r>
              <a:rPr sz="600" b="0">
                <a:solidFill>
                  <a:srgbClr val="1F2937"/>
                </a:solidFill>
                <a:latin typeface="Hiragino Mincho ProN"/>
              </a:rPr>
              <a:t/>
            </a:r>
          </a:p>
          <a:p>
            <a:pPr algn="l"/>
            <a:r>
              <a:rPr sz="2000" b="1">
                <a:solidFill>
                  <a:srgbClr val="1F2937"/>
                </a:solidFill>
                <a:latin typeface="Hiragino Mincho ProN"/>
              </a:rPr>
              <a:t>● 救急・予定外受入基盤型: 4 名</a:t>
            </a:r>
          </a:p>
          <a:p>
            <a:pPr algn="l"/>
            <a:r>
              <a:rPr sz="1300" b="0">
                <a:solidFill>
                  <a:srgbClr val="1F2937"/>
                </a:solidFill>
                <a:latin typeface="Hiragino Mincho ProN"/>
              </a:rPr>
              <a:t>    救急車入院・予定外入院を多く担当、地域包括医療病棟の受入機能を支える</a:t>
            </a:r>
          </a:p>
          <a:p>
            <a:pPr algn="l"/>
            <a:r>
              <a:rPr sz="600" b="0">
                <a:solidFill>
                  <a:srgbClr val="1F2937"/>
                </a:solidFill>
                <a:latin typeface="Hiragino Mincho ProN"/>
              </a:rPr>
              <a:t/>
            </a:r>
          </a:p>
          <a:p>
            <a:pPr algn="l"/>
            <a:r>
              <a:rPr sz="2000" b="1">
                <a:solidFill>
                  <a:srgbClr val="1F2937"/>
                </a:solidFill>
                <a:latin typeface="Hiragino Mincho ProN"/>
              </a:rPr>
              <a:t>● 長期安定型: 4 名</a:t>
            </a:r>
          </a:p>
          <a:p>
            <a:pPr algn="l"/>
            <a:r>
              <a:rPr sz="1300" b="0">
                <a:solidFill>
                  <a:srgbClr val="1F2937"/>
                </a:solidFill>
                <a:latin typeface="Hiragino Mincho ProN"/>
              </a:rPr>
              <a:t>    長めの在院日数で病床日数を支え、稼働率維持に効く</a:t>
            </a:r>
          </a:p>
          <a:p>
            <a:pPr algn="l"/>
            <a:r>
              <a:rPr sz="600" b="0">
                <a:solidFill>
                  <a:srgbClr val="1F2937"/>
                </a:solidFill>
                <a:latin typeface="Hiragino Mincho ProN"/>
              </a:rPr>
              <a:t/>
            </a:r>
          </a:p>
          <a:p>
            <a:pPr algn="l"/>
            <a:r>
              <a:rPr sz="2000" b="1">
                <a:solidFill>
                  <a:srgbClr val="1F2937"/>
                </a:solidFill>
                <a:latin typeface="Hiragino Mincho ProN"/>
              </a:rPr>
              <a:t>● 混合型: 1 名</a:t>
            </a:r>
          </a:p>
          <a:p>
            <a:pPr algn="l"/>
            <a:r>
              <a:rPr sz="1300" b="0">
                <a:solidFill>
                  <a:srgbClr val="1F2937"/>
                </a:solidFill>
                <a:latin typeface="Hiragino Mincho ProN"/>
              </a:rPr>
              <a:t>    上記類型に強く該当せず、複数の役割を担う</a:t>
            </a:r>
          </a:p>
          <a:p>
            <a:pPr algn="l"/>
            <a:r>
              <a:rPr sz="600" b="0">
                <a:solidFill>
                  <a:srgbClr val="1F2937"/>
                </a:solidFill>
                <a:latin typeface="Hiragino Mincho ProN"/>
              </a:rPr>
              <a:t/>
            </a:r>
          </a:p>
          <a:p>
            <a:pPr algn="l"/>
            <a:r>
              <a:rPr sz="1000" b="0">
                <a:solidFill>
                  <a:srgbClr val="1F2937"/>
                </a:solidFill>
                <a:latin typeface="Hiragino Mincho ProN"/>
              </a:rPr>
              <a:t/>
            </a:r>
          </a:p>
          <a:p>
            <a:pPr algn="l"/>
            <a:r>
              <a:rPr sz="1600" b="1">
                <a:solidFill>
                  <a:srgbClr val="1F2937"/>
                </a:solidFill>
                <a:latin typeface="Hiragino Mincho ProN"/>
              </a:rPr>
              <a:t>💡 観察: 当院は手術・処置型と救急・予定外受入基盤型が中心、長期安定型がそれを支える構成</a:t>
            </a:r>
          </a:p>
          <a:p>
            <a:pPr algn="l"/>
            <a:r>
              <a:rPr sz="1400" b="0">
                <a:solidFill>
                  <a:srgbClr val="1F2937"/>
                </a:solidFill>
                <a:latin typeface="Hiragino Mincho ProN"/>
              </a:rPr>
              <a:t>        Layer 1 のスコアだけでは見えなかった貢献構造が浮かび上がる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800" b="1">
                <a:solidFill>
                  <a:srgbClr val="1F2937"/>
                </a:solidFill>
                <a:latin typeface="Hiragino Mincho ProN"/>
              </a:rPr>
              <a:t>主な観察 — 経営会議で問うべきこと</a:t>
            </a:r>
          </a:p>
        </p:txBody>
      </p:sp>
      <p:sp>
        <p:nvSpPr>
          <p:cNvPr id="4" name="TextBox 3"/>
          <p:cNvSpPr txBox="1"/>
          <p:nvPr/>
        </p:nvSpPr>
        <p:spPr>
          <a:xfrm>
            <a:off x="640080" y="1097280"/>
            <a:ext cx="10972800" cy="5486400"/>
          </a:xfrm>
          <a:prstGeom prst="rect">
            <a:avLst/>
          </a:prstGeom>
          <a:noFill/>
        </p:spPr>
        <p:txBody>
          <a:bodyPr wrap="square">
            <a:spAutoFit/>
          </a:bodyPr>
          <a:lstStyle/>
          <a:p>
            <a:pPr algn="l"/>
            <a:r>
              <a:rPr sz="1400" b="0">
                <a:solidFill>
                  <a:srgbClr val="1F2937"/>
                </a:solidFill>
                <a:latin typeface="Hiragino Mincho ProN"/>
              </a:rPr>
              <a:t>本資料は順位を見るためのものではありません。次の問いに使います。</a:t>
            </a:r>
          </a:p>
          <a:p>
            <a:pPr algn="l"/>
            <a:r>
              <a:rPr sz="800" b="0">
                <a:solidFill>
                  <a:srgbClr val="1F2937"/>
                </a:solidFill>
                <a:latin typeface="Hiragino Mincho ProN"/>
              </a:rPr>
              <a:t/>
            </a:r>
          </a:p>
          <a:p>
            <a:pPr algn="l"/>
            <a:r>
              <a:rPr sz="1600" b="1">
                <a:solidFill>
                  <a:srgbClr val="1F2937"/>
                </a:solidFill>
                <a:latin typeface="Hiragino Mincho ProN"/>
              </a:rPr>
              <a:t>Q1. 当院は、どの類型の医師群で稼働を支えているか？（Layer 4）</a:t>
            </a:r>
          </a:p>
          <a:p>
            <a:pPr algn="l"/>
            <a:r>
              <a:rPr sz="1600" b="1">
                <a:solidFill>
                  <a:srgbClr val="1F2937"/>
                </a:solidFill>
                <a:latin typeface="Hiragino Mincho ProN"/>
              </a:rPr>
              <a:t>Q2. Layer 1 でスコア低い医師は、本当に経営貢献が小さいのか？</a:t>
            </a:r>
          </a:p>
          <a:p>
            <a:pPr algn="l"/>
            <a:r>
              <a:rPr sz="1300" b="0">
                <a:solidFill>
                  <a:srgbClr val="1F2937"/>
                </a:solidFill>
                <a:latin typeface="Hiragino Mincho ProN"/>
              </a:rPr>
              <a:t>    → Layer 2/3 を併読して、別軸の貢献を確認する</a:t>
            </a:r>
          </a:p>
          <a:p>
            <a:pPr algn="l"/>
            <a:r>
              <a:rPr sz="1600" b="1">
                <a:solidFill>
                  <a:srgbClr val="1F2937"/>
                </a:solidFill>
                <a:latin typeface="Hiragino Mincho ProN"/>
              </a:rPr>
              <a:t>Q3. 5F の単一医師集中（23.3%）は、脆弱性か強みか？</a:t>
            </a:r>
          </a:p>
          <a:p>
            <a:pPr algn="l"/>
            <a:r>
              <a:rPr sz="1300" b="0">
                <a:solidFill>
                  <a:srgbClr val="1F2937"/>
                </a:solidFill>
                <a:latin typeface="Hiragino Mincho ProN"/>
              </a:rPr>
              <a:t>    → 不在時の代替体制をどう組むかが構造課題</a:t>
            </a:r>
          </a:p>
          <a:p>
            <a:pPr algn="l"/>
            <a:r>
              <a:rPr sz="1600" b="1">
                <a:solidFill>
                  <a:srgbClr val="1F2937"/>
                </a:solidFill>
                <a:latin typeface="Hiragino Mincho ProN"/>
              </a:rPr>
              <a:t>Q4. 施設基準を支える症例構成の厚みはどこにあるか？（Layer 3）</a:t>
            </a:r>
          </a:p>
          <a:p>
            <a:pPr algn="l"/>
            <a:r>
              <a:rPr sz="1600" b="1">
                <a:solidFill>
                  <a:srgbClr val="1F2937"/>
                </a:solidFill>
                <a:latin typeface="Hiragino Mincho ProN"/>
              </a:rPr>
              <a:t>Q5. 手術・処置型 5 名の出来高貢献を、現資料は反映できているか？</a:t>
            </a:r>
          </a:p>
          <a:p>
            <a:pPr algn="l"/>
            <a:r>
              <a:rPr sz="1300" b="0">
                <a:solidFill>
                  <a:srgbClr val="1F2937"/>
                </a:solidFill>
                <a:latin typeface="Hiragino Mincho ProN"/>
              </a:rPr>
              <a:t>    → できていない（Stage 2 で点数データ取得して精緻化）</a:t>
            </a:r>
          </a:p>
          <a:p>
            <a:pPr algn="l"/>
            <a:r>
              <a:rPr sz="1600" b="1">
                <a:solidFill>
                  <a:srgbClr val="1F2937"/>
                </a:solidFill>
                <a:latin typeface="Hiragino Mincho ProN"/>
              </a:rPr>
              <a:t>Q6. 回転供給型・リハ・在宅復帰型が 0 名なのは何を意味するか？</a:t>
            </a:r>
          </a:p>
          <a:p>
            <a:pPr algn="l"/>
            <a:r>
              <a:rPr sz="1300" b="0">
                <a:solidFill>
                  <a:srgbClr val="1F2937"/>
                </a:solidFill>
                <a:latin typeface="Hiragino Mincho ProN"/>
              </a:rPr>
              <a:t>    → 「専門化が進んでいない」と断定はできない。閾値依存の heuristic で、</a:t>
            </a:r>
          </a:p>
          <a:p>
            <a:pPr algn="l"/>
            <a:r>
              <a:rPr sz="1300" b="0">
                <a:solidFill>
                  <a:srgbClr val="1F2937"/>
                </a:solidFill>
                <a:latin typeface="Hiragino Mincho ProN"/>
              </a:rPr>
              <a:t>       リハ単位データが CSV 未収録のため判断不能。追加データで再評価が必要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提言 1: 病棟運営構造の継続監視（5F 構造）</a:t>
            </a:r>
          </a:p>
        </p:txBody>
      </p:sp>
      <p:sp>
        <p:nvSpPr>
          <p:cNvPr id="4" name="TextBox 3"/>
          <p:cNvSpPr txBox="1"/>
          <p:nvPr/>
        </p:nvSpPr>
        <p:spPr>
          <a:xfrm>
            <a:off x="640080" y="1371600"/>
            <a:ext cx="10972800" cy="5029200"/>
          </a:xfrm>
          <a:prstGeom prst="rect">
            <a:avLst/>
          </a:prstGeom>
          <a:noFill/>
        </p:spPr>
        <p:txBody>
          <a:bodyPr wrap="square">
            <a:spAutoFit/>
          </a:bodyPr>
          <a:lstStyle/>
          <a:p>
            <a:pPr algn="l"/>
            <a:r>
              <a:rPr sz="1800" b="1">
                <a:solidFill>
                  <a:srgbClr val="1F2937"/>
                </a:solidFill>
                <a:latin typeface="Hiragino Mincho ProN"/>
              </a:rPr>
              <a:t>課題: 5F は寄与率トップの医師（D医師、救急・予定外受入基盤型）に病床日数の 23.3% が集中</a:t>
            </a:r>
          </a:p>
          <a:p>
            <a:pPr algn="l"/>
            <a:r>
              <a:rPr sz="1200" b="0">
                <a:solidFill>
                  <a:srgbClr val="1F2937"/>
                </a:solidFill>
                <a:latin typeface="Hiragino Mincho ProN"/>
              </a:rPr>
              <a:t/>
            </a:r>
          </a:p>
          <a:p>
            <a:pPr algn="l"/>
            <a:r>
              <a:rPr sz="1600" b="1">
                <a:solidFill>
                  <a:srgbClr val="1F2937"/>
                </a:solidFill>
                <a:latin typeface="Hiragino Mincho ProN"/>
              </a:rPr>
              <a:t>→ 個人攻撃ではなく構造リスクとして次の対応を提言:</a:t>
            </a:r>
          </a:p>
          <a:p>
            <a:pPr algn="l"/>
            <a:r>
              <a:rPr sz="1600" b="0">
                <a:solidFill>
                  <a:srgbClr val="1F2937"/>
                </a:solidFill>
                <a:latin typeface="Hiragino Mincho ProN"/>
              </a:rPr>
              <a:t>    ● 5F に主たる病棟を持つ医師の中期的な増員を検討</a:t>
            </a:r>
          </a:p>
          <a:p>
            <a:pPr algn="l"/>
            <a:r>
              <a:rPr sz="1600" b="0">
                <a:solidFill>
                  <a:srgbClr val="1F2937"/>
                </a:solidFill>
                <a:latin typeface="Hiragino Mincho ProN"/>
              </a:rPr>
              <a:t>    ● D医師 の患者バックアップ体制（指示・引継ぎ）の整備</a:t>
            </a:r>
          </a:p>
          <a:p>
            <a:pPr algn="l"/>
            <a:r>
              <a:rPr sz="1600" b="0">
                <a:solidFill>
                  <a:srgbClr val="1F2937"/>
                </a:solidFill>
                <a:latin typeface="Hiragino Mincho ProN"/>
              </a:rPr>
              <a:t>    ● 5F 主治医の月次寄与率を可視化し、依存度を継続監視</a:t>
            </a:r>
          </a:p>
          <a:p>
            <a:pPr algn="l"/>
            <a:r>
              <a:rPr sz="1200" b="0">
                <a:solidFill>
                  <a:srgbClr val="1F2937"/>
                </a:solidFill>
                <a:latin typeface="Hiragino Mincho ProN"/>
              </a:rPr>
              <a:t/>
            </a:r>
          </a:p>
          <a:p>
            <a:pPr algn="l"/>
            <a:r>
              <a:rPr sz="1400" b="0">
                <a:solidFill>
                  <a:srgbClr val="1F2937"/>
                </a:solidFill>
                <a:latin typeface="Hiragino Mincho ProN"/>
              </a:rPr>
              <a:t>● 6F 病棟は寄与率上位 3 名で分散しており、依存リスクは相対的に小さい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提言 2: 制度適合の維持（Layer 3 の月次監視）</a:t>
            </a:r>
          </a:p>
        </p:txBody>
      </p:sp>
      <p:sp>
        <p:nvSpPr>
          <p:cNvPr id="4" name="TextBox 3"/>
          <p:cNvSpPr txBox="1"/>
          <p:nvPr/>
        </p:nvSpPr>
        <p:spPr>
          <a:xfrm>
            <a:off x="640080" y="1371600"/>
            <a:ext cx="10972800" cy="5029200"/>
          </a:xfrm>
          <a:prstGeom prst="rect">
            <a:avLst/>
          </a:prstGeom>
          <a:noFill/>
        </p:spPr>
        <p:txBody>
          <a:bodyPr wrap="square">
            <a:spAutoFit/>
          </a:bodyPr>
          <a:lstStyle/>
          <a:p>
            <a:pPr algn="l"/>
            <a:r>
              <a:rPr sz="1800" b="1">
                <a:solidFill>
                  <a:srgbClr val="1F2937"/>
                </a:solidFill>
                <a:latin typeface="Hiragino Mincho ProN"/>
              </a:rPr>
              <a:t>背景: 2026-06-01 から救急搬送後 15% は本則完全適用（rolling 3 ヶ月）</a:t>
            </a:r>
          </a:p>
          <a:p>
            <a:pPr algn="l"/>
            <a:r>
              <a:rPr sz="1600" b="0">
                <a:solidFill>
                  <a:srgbClr val="1F2937"/>
                </a:solidFill>
                <a:latin typeface="Hiragino Mincho ProN"/>
              </a:rPr>
              <a:t>       在宅復帰 70% は地域包括医療病棟の継続要件</a:t>
            </a:r>
          </a:p>
          <a:p>
            <a:pPr algn="l"/>
            <a:r>
              <a:rPr sz="1200" b="0">
                <a:solidFill>
                  <a:srgbClr val="1F2937"/>
                </a:solidFill>
                <a:latin typeface="Hiragino Mincho ProN"/>
              </a:rPr>
              <a:t/>
            </a:r>
          </a:p>
          <a:p>
            <a:pPr algn="l"/>
            <a:r>
              <a:rPr sz="1800" b="1">
                <a:solidFill>
                  <a:srgbClr val="1F2937"/>
                </a:solidFill>
                <a:latin typeface="Hiragino Mincho ProN"/>
              </a:rPr>
              <a:t>対応:</a:t>
            </a:r>
          </a:p>
          <a:p>
            <a:pPr algn="l"/>
            <a:r>
              <a:rPr sz="1600" b="0">
                <a:solidFill>
                  <a:srgbClr val="1F2937"/>
                </a:solidFill>
                <a:latin typeface="Hiragino Mincho ProN"/>
              </a:rPr>
              <a:t>    ● 病棟別 Layer 3 指標の月次ダッシュボード化（既存アプリ組込み済）</a:t>
            </a:r>
          </a:p>
          <a:p>
            <a:pPr algn="l"/>
            <a:r>
              <a:rPr sz="1600" b="0">
                <a:solidFill>
                  <a:srgbClr val="1F2937"/>
                </a:solidFill>
                <a:latin typeface="Hiragino Mincho ProN"/>
              </a:rPr>
              <a:t>    ● 施設基準下振れ徴候があれば、救急受入比率と在宅復帰調整の介入を検討</a:t>
            </a:r>
          </a:p>
          <a:p>
            <a:pPr algn="l"/>
            <a:r>
              <a:rPr sz="1600" b="0">
                <a:solidFill>
                  <a:srgbClr val="1F2937"/>
                </a:solidFill>
                <a:latin typeface="Hiragino Mincho ProN"/>
              </a:rPr>
              <a:t>    ● ALOS の階段関数（短手 3 Day 5/6 境界）の遵守をベッドコントロールで継続</a:t>
            </a:r>
          </a:p>
          <a:p>
            <a:pPr algn="l"/>
            <a:r>
              <a:rPr sz="1200" b="0">
                <a:solidFill>
                  <a:srgbClr val="1F2937"/>
                </a:solidFill>
                <a:latin typeface="Hiragino Mincho ProN"/>
              </a:rPr>
              <a:t/>
            </a:r>
          </a:p>
          <a:p>
            <a:pPr algn="l"/>
            <a:r>
              <a:rPr sz="1400" b="1">
                <a:solidFill>
                  <a:srgbClr val="1F2937"/>
                </a:solidFill>
                <a:latin typeface="Hiragino Mincho ProN"/>
              </a:rPr>
              <a:t>既存アプリ「📊 今日の運営」「🛡️ 制度管理」セクションで毎日監視可能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提言 3: 必要データの整備（Stage 2）</a:t>
            </a:r>
          </a:p>
        </p:txBody>
      </p:sp>
      <p:sp>
        <p:nvSpPr>
          <p:cNvPr id="4" name="TextBox 3"/>
          <p:cNvSpPr txBox="1"/>
          <p:nvPr/>
        </p:nvSpPr>
        <p:spPr>
          <a:xfrm>
            <a:off x="640080" y="1188720"/>
            <a:ext cx="10972800" cy="5303520"/>
          </a:xfrm>
          <a:prstGeom prst="rect">
            <a:avLst/>
          </a:prstGeom>
          <a:noFill/>
        </p:spPr>
        <p:txBody>
          <a:bodyPr wrap="square">
            <a:spAutoFit/>
          </a:bodyPr>
          <a:lstStyle/>
          <a:p>
            <a:pPr algn="l"/>
            <a:r>
              <a:rPr sz="1600" b="0">
                <a:solidFill>
                  <a:srgbClr val="1F2937"/>
                </a:solidFill>
                <a:latin typeface="Hiragino Mincho ProN"/>
              </a:rPr>
              <a:t>本資料は CSV から計算可能な範囲。事務は患者別コスト計算ができない前提のため、</a:t>
            </a:r>
          </a:p>
          <a:p>
            <a:pPr algn="l"/>
            <a:r>
              <a:rPr sz="1600" b="1">
                <a:solidFill>
                  <a:srgbClr val="1F2937"/>
                </a:solidFill>
                <a:latin typeface="Hiragino Mincho ProN"/>
              </a:rPr>
              <a:t>**事務に重い負担を強いる順序ではなく、請求収入側の集計可能性確認を先行**する。</a:t>
            </a:r>
          </a:p>
          <a:p>
            <a:pPr algn="l"/>
            <a:r>
              <a:rPr sz="800" b="0">
                <a:solidFill>
                  <a:srgbClr val="1F2937"/>
                </a:solidFill>
                <a:latin typeface="Hiragino Mincho ProN"/>
              </a:rPr>
              <a:t/>
            </a:r>
          </a:p>
          <a:p>
            <a:pPr algn="l"/>
            <a:r>
              <a:rPr sz="1800" b="1">
                <a:solidFill>
                  <a:srgbClr val="1F2937"/>
                </a:solidFill>
                <a:latin typeface="Hiragino Mincho ProN"/>
              </a:rPr>
              <a:t>【優先度 1】請求収入側の月次集計可能性確認</a:t>
            </a:r>
          </a:p>
          <a:p>
            <a:pPr algn="l"/>
            <a:r>
              <a:rPr sz="1400" b="0">
                <a:solidFill>
                  <a:srgbClr val="1F2937"/>
                </a:solidFill>
                <a:latin typeface="Hiragino Mincho ProN"/>
              </a:rPr>
              <a:t>    ● 手術料・麻酔料の患者別 月次集計が可能か確認</a:t>
            </a:r>
          </a:p>
          <a:p>
            <a:pPr algn="l"/>
            <a:r>
              <a:rPr sz="1400" b="0">
                <a:solidFill>
                  <a:srgbClr val="1F2937"/>
                </a:solidFill>
                <a:latin typeface="Hiragino Mincho ProN"/>
              </a:rPr>
              <a:t>    ● リハビリ単位数（PT / OT / ST）と リハビリ料の月次集計可能性</a:t>
            </a:r>
          </a:p>
          <a:p>
            <a:pPr algn="l"/>
            <a:r>
              <a:rPr sz="1400" b="0">
                <a:solidFill>
                  <a:srgbClr val="1F2937"/>
                </a:solidFill>
                <a:latin typeface="Hiragino Mincho ProN"/>
              </a:rPr>
              <a:t>    ● 処置加算（中心静脈、人工呼吸器、ドレーン管理）と検査加算</a:t>
            </a:r>
          </a:p>
          <a:p>
            <a:pPr algn="l"/>
            <a:r>
              <a:rPr sz="1300" b="0">
                <a:solidFill>
                  <a:srgbClr val="1F2937"/>
                </a:solidFill>
                <a:latin typeface="Hiragino Mincho ProN"/>
              </a:rPr>
              <a:t>    → 既存の請求データ・レセプトの集計範囲で見える出来高情報を整理</a:t>
            </a:r>
          </a:p>
          <a:p>
            <a:pPr algn="l"/>
            <a:r>
              <a:rPr sz="800" b="0">
                <a:solidFill>
                  <a:srgbClr val="1F2937"/>
                </a:solidFill>
                <a:latin typeface="Hiragino Mincho ProN"/>
              </a:rPr>
              <a:t/>
            </a:r>
          </a:p>
          <a:p>
            <a:pPr algn="l"/>
            <a:r>
              <a:rPr sz="1800" b="1">
                <a:solidFill>
                  <a:srgbClr val="1F2937"/>
                </a:solidFill>
                <a:latin typeface="Hiragino Mincho ProN"/>
              </a:rPr>
              <a:t>【優先度 2】コスト見積もりの精緻化（社内分析）</a:t>
            </a:r>
          </a:p>
          <a:p>
            <a:pPr algn="l"/>
            <a:r>
              <a:rPr sz="1400" b="0">
                <a:solidFill>
                  <a:srgbClr val="1F2937"/>
                </a:solidFill>
                <a:latin typeface="Hiragino Mincho ProN"/>
              </a:rPr>
              <a:t>    ● 優先度 1 が見えてから、当院 DPC データを活用したコスト精緻化を検討</a:t>
            </a:r>
          </a:p>
          <a:p>
            <a:pPr algn="l"/>
            <a:r>
              <a:rPr sz="800" b="0">
                <a:solidFill>
                  <a:srgbClr val="1F2937"/>
                </a:solidFill>
                <a:latin typeface="Hiragino Mincho ProN"/>
              </a:rPr>
              <a:t/>
            </a:r>
          </a:p>
          <a:p>
            <a:pPr algn="l"/>
            <a:r>
              <a:rPr sz="1400" b="1">
                <a:solidFill>
                  <a:srgbClr val="1F2937"/>
                </a:solidFill>
                <a:latin typeface="Hiragino Mincho ProN"/>
              </a:rPr>
              <a:t>📌 事務に対する精密コスト計算依頼ではなく、社内分析として段階的に整備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640080"/>
          </a:xfrm>
          <a:prstGeom prst="rect">
            <a:avLst/>
          </a:prstGeom>
          <a:noFill/>
        </p:spPr>
        <p:txBody>
          <a:bodyPr wrap="square" anchor="t" lIns="25400" rIns="25400" tIns="25400" bIns="25400">
            <a:spAutoFit/>
          </a:bodyPr>
          <a:lstStyle/>
          <a:p>
            <a:pPr algn="l"/>
            <a:r>
              <a:rPr sz="2400" b="1">
                <a:solidFill>
                  <a:srgbClr val="1F2937"/>
                </a:solidFill>
                <a:latin typeface="Hiragino Mincho ProN"/>
              </a:rPr>
              <a:t>提言 4: KPI 月次運用 — 4 層併読の文化</a:t>
            </a:r>
          </a:p>
        </p:txBody>
      </p:sp>
      <p:sp>
        <p:nvSpPr>
          <p:cNvPr id="4" name="TextBox 3"/>
          <p:cNvSpPr txBox="1"/>
          <p:nvPr/>
        </p:nvSpPr>
        <p:spPr>
          <a:xfrm>
            <a:off x="640080" y="1280160"/>
            <a:ext cx="10972800" cy="5212080"/>
          </a:xfrm>
          <a:prstGeom prst="rect">
            <a:avLst/>
          </a:prstGeom>
          <a:noFill/>
        </p:spPr>
        <p:txBody>
          <a:bodyPr wrap="square">
            <a:spAutoFit/>
          </a:bodyPr>
          <a:lstStyle/>
          <a:p>
            <a:pPr algn="l"/>
            <a:r>
              <a:rPr sz="1800" b="1">
                <a:solidFill>
                  <a:srgbClr val="1F2937"/>
                </a:solidFill>
                <a:latin typeface="Hiragino Mincho ProN"/>
              </a:rPr>
              <a:t>「稼働率寄与率（Layer 1）」だけ見ると、Layer 2/3 の貢献が抜け落ちる</a:t>
            </a:r>
          </a:p>
          <a:p>
            <a:pPr algn="l"/>
            <a:r>
              <a:rPr sz="1200" b="0">
                <a:solidFill>
                  <a:srgbClr val="1F2937"/>
                </a:solidFill>
                <a:latin typeface="Hiragino Mincho ProN"/>
              </a:rPr>
              <a:t/>
            </a:r>
          </a:p>
          <a:p>
            <a:pPr algn="l"/>
            <a:r>
              <a:rPr sz="1800" b="1">
                <a:solidFill>
                  <a:srgbClr val="1F2937"/>
                </a:solidFill>
                <a:latin typeface="Hiragino Mincho ProN"/>
              </a:rPr>
              <a:t>運用提言:</a:t>
            </a:r>
          </a:p>
          <a:p>
            <a:pPr algn="l"/>
            <a:r>
              <a:rPr sz="1600" b="0">
                <a:solidFill>
                  <a:srgbClr val="1F2937"/>
                </a:solidFill>
                <a:latin typeface="Hiragino Mincho ProN"/>
              </a:rPr>
              <a:t>    ● 月次会議で Layer 1〜3 の指標を併記して提示</a:t>
            </a:r>
          </a:p>
          <a:p>
            <a:pPr algn="l"/>
            <a:r>
              <a:rPr sz="1600" b="0">
                <a:solidFill>
                  <a:srgbClr val="1F2937"/>
                </a:solidFill>
                <a:latin typeface="Hiragino Mincho ProN"/>
              </a:rPr>
              <a:t>    ● 順位ではなく Layer 4 散布図で「タイプ構成」として議論</a:t>
            </a:r>
          </a:p>
          <a:p>
            <a:pPr algn="l"/>
            <a:r>
              <a:rPr sz="1600" b="0">
                <a:solidFill>
                  <a:srgbClr val="1F2937"/>
                </a:solidFill>
                <a:latin typeface="Hiragino Mincho ProN"/>
              </a:rPr>
              <a:t>    ● 既存ベッドコントロールアプリに月次自動更新機能を組込み（次フェーズ）</a:t>
            </a:r>
          </a:p>
          <a:p>
            <a:pPr algn="l"/>
            <a:r>
              <a:rPr sz="1600" b="0">
                <a:solidFill>
                  <a:srgbClr val="1F2937"/>
                </a:solidFill>
                <a:latin typeface="Hiragino Mincho ProN"/>
              </a:rPr>
              <a:t>    ● 四半期に 1 回、Stage 2 データ取込み状況をレビュー</a:t>
            </a:r>
          </a:p>
          <a:p>
            <a:pPr algn="l"/>
            <a:r>
              <a:rPr sz="1200" b="0">
                <a:solidFill>
                  <a:srgbClr val="1F2937"/>
                </a:solidFill>
                <a:latin typeface="Hiragino Mincho ProN"/>
              </a:rPr>
              <a:t/>
            </a:r>
          </a:p>
          <a:p>
            <a:pPr algn="l"/>
            <a:r>
              <a:rPr sz="1600" b="1">
                <a:solidFill>
                  <a:srgbClr val="1F2937"/>
                </a:solidFill>
                <a:latin typeface="Hiragino Mincho ProN"/>
              </a:rPr>
              <a:t>⚠️ 倫理的配慮:</a:t>
            </a:r>
          </a:p>
          <a:p>
            <a:pPr algn="l"/>
            <a:r>
              <a:rPr sz="1300" b="0">
                <a:solidFill>
                  <a:srgbClr val="1F2937"/>
                </a:solidFill>
                <a:latin typeface="Hiragino Mincho ProN"/>
              </a:rPr>
              <a:t>    患者選別・適応外入院・在院延長の誘因にしてはならない</a:t>
            </a:r>
          </a:p>
          <a:p>
            <a:pPr algn="l"/>
            <a:r>
              <a:rPr sz="1300" b="0">
                <a:solidFill>
                  <a:srgbClr val="1F2937"/>
                </a:solidFill>
                <a:latin typeface="Hiragino Mincho ProN"/>
              </a:rPr>
              <a:t>    「適応のある患者を、適切な期間で治療し、自宅復帰を支援する」が大前提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0"/>
            <a:ext cx="11247120" cy="1371600"/>
          </a:xfrm>
          <a:prstGeom prst="rect">
            <a:avLst/>
          </a:prstGeom>
          <a:noFill/>
        </p:spPr>
        <p:txBody>
          <a:bodyPr wrap="square" anchor="t" lIns="25400" rIns="25400" tIns="25400" bIns="25400">
            <a:spAutoFit/>
          </a:bodyPr>
          <a:lstStyle/>
          <a:p>
            <a:pPr algn="ctr"/>
            <a:r>
              <a:rPr sz="6000" b="1">
                <a:solidFill>
                  <a:srgbClr val="1F2937"/>
                </a:solidFill>
                <a:latin typeface="Hiragino Mincho ProN"/>
              </a:rPr>
              <a:t>ご質問・ご討議</a:t>
            </a:r>
          </a:p>
        </p:txBody>
      </p:sp>
      <p:sp>
        <p:nvSpPr>
          <p:cNvPr id="4" name="TextBox 3"/>
          <p:cNvSpPr txBox="1"/>
          <p:nvPr/>
        </p:nvSpPr>
        <p:spPr>
          <a:xfrm>
            <a:off x="457200" y="4114800"/>
            <a:ext cx="11247120" cy="640080"/>
          </a:xfrm>
          <a:prstGeom prst="rect">
            <a:avLst/>
          </a:prstGeom>
          <a:noFill/>
        </p:spPr>
        <p:txBody>
          <a:bodyPr wrap="square" anchor="t" lIns="25400" rIns="25400" tIns="25400" bIns="25400">
            <a:spAutoFit/>
          </a:bodyPr>
          <a:lstStyle/>
          <a:p>
            <a:pPr algn="ctr"/>
            <a:r>
              <a:rPr sz="1800" b="0">
                <a:solidFill>
                  <a:srgbClr val="6B7280"/>
                </a:solidFill>
                <a:latin typeface="Hiragino Mincho ProN"/>
              </a:rPr>
              <a:t>おもろまちメディカルセンター</a:t>
            </a:r>
          </a:p>
        </p:txBody>
      </p:sp>
      <p:sp>
        <p:nvSpPr>
          <p:cNvPr id="5" name="TextBox 4"/>
          <p:cNvSpPr txBox="1"/>
          <p:nvPr/>
        </p:nvSpPr>
        <p:spPr>
          <a:xfrm>
            <a:off x="457200" y="4572000"/>
            <a:ext cx="11247120" cy="640080"/>
          </a:xfrm>
          <a:prstGeom prst="rect">
            <a:avLst/>
          </a:prstGeom>
          <a:noFill/>
        </p:spPr>
        <p:txBody>
          <a:bodyPr wrap="square" anchor="t" lIns="25400" rIns="25400" tIns="25400" bIns="25400">
            <a:spAutoFit/>
          </a:bodyPr>
          <a:lstStyle/>
          <a:p>
            <a:pPr algn="ctr"/>
            <a:r>
              <a:rPr sz="1400" b="0">
                <a:solidFill>
                  <a:srgbClr val="6B7280"/>
                </a:solidFill>
                <a:latin typeface="Hiragino Mincho ProN"/>
              </a:rPr>
              <a:t>副院長 久保田 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