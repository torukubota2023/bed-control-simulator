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635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606040"/>
            <a:ext cx="12188952" cy="2540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725912" cy="1005840"/>
          </a:xfrm>
          <a:prstGeom prst="rect">
            <a:avLst/>
          </a:prstGeom>
          <a:noFill/>
        </p:spPr>
        <p:txBody>
          <a:bodyPr wrap="square">
            <a:spAutoFit/>
          </a:bodyPr>
          <a:lstStyle/>
          <a:p>
            <a:pPr algn="ctr"/>
            <a:r>
              <a:rPr sz="3600" b="1" i="0">
                <a:solidFill>
                  <a:srgbClr val="FFFFFF"/>
                </a:solidFill>
              </a:rPr>
              <a:t>複雑性PTSD（C-PTSD）の診断と治療</a:t>
            </a:r>
          </a:p>
        </p:txBody>
      </p:sp>
      <p:sp>
        <p:nvSpPr>
          <p:cNvPr id="6" name="TextBox 5"/>
          <p:cNvSpPr txBox="1"/>
          <p:nvPr/>
        </p:nvSpPr>
        <p:spPr>
          <a:xfrm>
            <a:off x="731520" y="2103120"/>
            <a:ext cx="10725912" cy="548640"/>
          </a:xfrm>
          <a:prstGeom prst="rect">
            <a:avLst/>
          </a:prstGeom>
          <a:noFill/>
        </p:spPr>
        <p:txBody>
          <a:bodyPr wrap="square">
            <a:spAutoFit/>
          </a:bodyPr>
          <a:lstStyle/>
          <a:p>
            <a:pPr algn="ctr"/>
            <a:r>
              <a:rPr sz="2000" b="0" i="0">
                <a:solidFill>
                  <a:srgbClr val="A8C4E8"/>
                </a:solidFill>
              </a:rPr>
              <a:t>内科・総合診療医が知っておくべき実践知識</a:t>
            </a:r>
          </a:p>
        </p:txBody>
      </p:sp>
      <p:sp>
        <p:nvSpPr>
          <p:cNvPr id="7" name="TextBox 6"/>
          <p:cNvSpPr txBox="1"/>
          <p:nvPr/>
        </p:nvSpPr>
        <p:spPr>
          <a:xfrm>
            <a:off x="731520" y="2926080"/>
            <a:ext cx="10725912" cy="457200"/>
          </a:xfrm>
          <a:prstGeom prst="rect">
            <a:avLst/>
          </a:prstGeom>
          <a:noFill/>
        </p:spPr>
        <p:txBody>
          <a:bodyPr wrap="square">
            <a:spAutoFit/>
          </a:bodyPr>
          <a:lstStyle/>
          <a:p>
            <a:pPr algn="ctr"/>
            <a:r>
              <a:rPr sz="1600" b="0" i="0">
                <a:solidFill>
                  <a:srgbClr val="80A8D0"/>
                </a:solidFill>
              </a:rPr>
              <a:t>30分レクチャー  ｜  対象：研修医〜若手医師</a:t>
            </a:r>
          </a:p>
        </p:txBody>
      </p:sp>
      <p:sp>
        <p:nvSpPr>
          <p:cNvPr id="8" name="TextBox 7"/>
          <p:cNvSpPr txBox="1"/>
          <p:nvPr/>
        </p:nvSpPr>
        <p:spPr>
          <a:xfrm>
            <a:off x="731520" y="3429000"/>
            <a:ext cx="10725912" cy="365760"/>
          </a:xfrm>
          <a:prstGeom prst="rect">
            <a:avLst/>
          </a:prstGeom>
          <a:noFill/>
        </p:spPr>
        <p:txBody>
          <a:bodyPr wrap="square">
            <a:spAutoFit/>
          </a:bodyPr>
          <a:lstStyle/>
          <a:p>
            <a:pPr algn="ctr"/>
            <a:r>
              <a:rPr sz="1300" b="0" i="0">
                <a:solidFill>
                  <a:srgbClr val="80A8D0"/>
                </a:solidFill>
              </a:rPr>
              <a:t>おもろまちメディカルセンター  副院長・内科/呼吸器内科</a:t>
            </a:r>
          </a:p>
        </p:txBody>
      </p:sp>
      <p:sp>
        <p:nvSpPr>
          <p:cNvPr id="9" name="TextBox 8"/>
          <p:cNvSpPr txBox="1"/>
          <p:nvPr/>
        </p:nvSpPr>
        <p:spPr>
          <a:xfrm>
            <a:off x="731520" y="3840480"/>
            <a:ext cx="10725912" cy="365760"/>
          </a:xfrm>
          <a:prstGeom prst="rect">
            <a:avLst/>
          </a:prstGeom>
          <a:noFill/>
        </p:spPr>
        <p:txBody>
          <a:bodyPr wrap="square">
            <a:spAutoFit/>
          </a:bodyPr>
          <a:lstStyle/>
          <a:p>
            <a:pPr algn="ctr"/>
            <a:r>
              <a:rPr sz="1300" b="0" i="0">
                <a:solidFill>
                  <a:srgbClr val="80A8D0"/>
                </a:solidFill>
              </a:rPr>
              <a:t>2026-03-20</a:t>
            </a:r>
          </a:p>
        </p:txBody>
      </p:sp>
      <p:sp>
        <p:nvSpPr>
          <p:cNvPr id="10" name="TextBox 9"/>
          <p:cNvSpPr txBox="1"/>
          <p:nvPr/>
        </p:nvSpPr>
        <p:spPr>
          <a:xfrm>
            <a:off x="731520" y="5029200"/>
            <a:ext cx="10725912" cy="457200"/>
          </a:xfrm>
          <a:prstGeom prst="rect">
            <a:avLst/>
          </a:prstGeom>
          <a:noFill/>
        </p:spPr>
        <p:txBody>
          <a:bodyPr wrap="square">
            <a:spAutoFit/>
          </a:bodyPr>
          <a:lstStyle/>
          <a:p>
            <a:pPr algn="ctr"/>
            <a:r>
              <a:rPr sz="1300" b="0" i="1">
                <a:solidFill>
                  <a:srgbClr val="007A87"/>
                </a:solidFill>
              </a:rPr>
              <a:t>EMDR  ｜  DBT-PTSD  ｜  TF-CBT  ｜  IFS  ｜  薬物療法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症例提示</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オープニング｜1.5分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 / 17</a:t>
            </a:r>
          </a:p>
        </p:txBody>
      </p:sp>
      <p:sp>
        <p:nvSpPr>
          <p:cNvPr id="9" name="Rectangle 8"/>
          <p:cNvSpPr/>
          <p:nvPr/>
        </p:nvSpPr>
        <p:spPr>
          <a:xfrm>
            <a:off x="320040" y="1417320"/>
            <a:ext cx="7132320" cy="2651760"/>
          </a:xfrm>
          <a:prstGeom prst="rect">
            <a:avLst/>
          </a:prstGeom>
          <a:solidFill>
            <a:srgbClr val="FFFFFF"/>
          </a:solidFill>
          <a:ln w="25400">
            <a:solidFill>
              <a:srgbClr val="1A2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417320"/>
            <a:ext cx="7132320" cy="38404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35608"/>
            <a:ext cx="4572000" cy="347472"/>
          </a:xfrm>
          <a:prstGeom prst="rect">
            <a:avLst/>
          </a:prstGeom>
          <a:noFill/>
        </p:spPr>
        <p:txBody>
          <a:bodyPr wrap="square">
            <a:spAutoFit/>
          </a:bodyPr>
          <a:lstStyle/>
          <a:p>
            <a:pPr algn="l"/>
            <a:r>
              <a:rPr sz="1600" b="1" i="0">
                <a:solidFill>
                  <a:srgbClr val="FFFFFF"/>
                </a:solidFill>
              </a:rPr>
              <a:t>【症例】40代女性</a:t>
            </a:r>
          </a:p>
        </p:txBody>
      </p:sp>
      <p:sp>
        <p:nvSpPr>
          <p:cNvPr id="12" name="TextBox 11"/>
          <p:cNvSpPr txBox="1"/>
          <p:nvPr/>
        </p:nvSpPr>
        <p:spPr>
          <a:xfrm>
            <a:off x="502920" y="1874519"/>
            <a:ext cx="6766560" cy="2103120"/>
          </a:xfrm>
          <a:prstGeom prst="rect">
            <a:avLst/>
          </a:prstGeom>
          <a:noFill/>
        </p:spPr>
        <p:txBody>
          <a:bodyPr wrap="square">
            <a:spAutoFit/>
          </a:bodyPr>
          <a:lstStyle/>
          <a:p>
            <a:pPr>
              <a:spcBef>
                <a:spcPts val="400"/>
              </a:spcBef>
            </a:pPr>
            <a:r>
              <a:rPr sz="1500">
                <a:solidFill>
                  <a:srgbClr val="1C1C2E"/>
                </a:solidFill>
              </a:rPr>
              <a:t>▶  主訴：慢性腰痛・不眠・「原因不明の疲労」</a:t>
            </a:r>
          </a:p>
          <a:p>
            <a:pPr>
              <a:spcBef>
                <a:spcPts val="400"/>
              </a:spcBef>
            </a:pPr>
            <a:r>
              <a:rPr sz="1500">
                <a:solidFill>
                  <a:srgbClr val="1C1C2E"/>
                </a:solidFill>
              </a:rPr>
              <a:t>▶  整形外科 → 消化器内科 → 心療内科 と転々</a:t>
            </a:r>
          </a:p>
          <a:p>
            <a:pPr>
              <a:spcBef>
                <a:spcPts val="400"/>
              </a:spcBef>
            </a:pPr>
            <a:r>
              <a:rPr sz="1500">
                <a:solidFill>
                  <a:srgbClr val="1C1C2E"/>
                </a:solidFill>
              </a:rPr>
              <a:t>▶  現在 6つ目の外来受診</a:t>
            </a:r>
          </a:p>
          <a:p>
            <a:pPr>
              <a:spcBef>
                <a:spcPts val="400"/>
              </a:spcBef>
            </a:pPr>
            <a:r>
              <a:rPr sz="1500">
                <a:solidFill>
                  <a:srgbClr val="1C1C2E"/>
                </a:solidFill>
              </a:rPr>
              <a:t>▶  カルテ記載：「感情的になりやすい」「信頼関係構築困難」「アドヒアランス不良」</a:t>
            </a:r>
          </a:p>
        </p:txBody>
      </p:sp>
      <p:sp>
        <p:nvSpPr>
          <p:cNvPr id="13" name="Rectangle 12"/>
          <p:cNvSpPr/>
          <p:nvPr/>
        </p:nvSpPr>
        <p:spPr>
          <a:xfrm>
            <a:off x="7680960" y="1417320"/>
            <a:ext cx="4160520" cy="2651760"/>
          </a:xfrm>
          <a:prstGeom prst="rect">
            <a:avLst/>
          </a:prstGeom>
          <a:solidFill>
            <a:srgbClr val="FFFFFF"/>
          </a:solidFill>
          <a:ln w="254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1600200"/>
            <a:ext cx="3840480" cy="1005840"/>
          </a:xfrm>
          <a:prstGeom prst="rect">
            <a:avLst/>
          </a:prstGeom>
          <a:noFill/>
        </p:spPr>
        <p:txBody>
          <a:bodyPr wrap="square">
            <a:spAutoFit/>
          </a:bodyPr>
          <a:lstStyle/>
          <a:p>
            <a:pPr algn="ctr"/>
            <a:r>
              <a:rPr sz="1700" b="1" i="0">
                <a:solidFill>
                  <a:srgbClr val="007A87"/>
                </a:solidFill>
              </a:rPr>
              <a:t>この患者が抱えているのは
何でしょうか？</a:t>
            </a:r>
          </a:p>
        </p:txBody>
      </p:sp>
      <p:sp>
        <p:nvSpPr>
          <p:cNvPr id="15" name="TextBox 14"/>
          <p:cNvSpPr txBox="1"/>
          <p:nvPr/>
        </p:nvSpPr>
        <p:spPr>
          <a:xfrm>
            <a:off x="7818120" y="2606040"/>
            <a:ext cx="3840480" cy="1005840"/>
          </a:xfrm>
          <a:prstGeom prst="rect">
            <a:avLst/>
          </a:prstGeom>
          <a:noFill/>
        </p:spPr>
        <p:txBody>
          <a:bodyPr wrap="square">
            <a:spAutoFit/>
          </a:bodyPr>
          <a:lstStyle/>
          <a:p>
            <a:pPr algn="ctr"/>
            <a:r>
              <a:rPr sz="1500" b="0" i="0">
                <a:solidFill>
                  <a:srgbClr val="6B7A99"/>
                </a:solidFill>
              </a:rPr>
              <a:t>うつ病？
慢性疼痛症？
パーソナリティ障害？</a:t>
            </a:r>
          </a:p>
        </p:txBody>
      </p:sp>
      <p:sp>
        <p:nvSpPr>
          <p:cNvPr id="16" name="Rectangle 15"/>
          <p:cNvSpPr/>
          <p:nvPr/>
        </p:nvSpPr>
        <p:spPr>
          <a:xfrm>
            <a:off x="320040" y="4251960"/>
            <a:ext cx="11548872" cy="86868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315968"/>
            <a:ext cx="11183112" cy="731520"/>
          </a:xfrm>
          <a:prstGeom prst="rect">
            <a:avLst/>
          </a:prstGeom>
          <a:noFill/>
        </p:spPr>
        <p:txBody>
          <a:bodyPr wrap="square">
            <a:spAutoFit/>
          </a:bodyPr>
          <a:lstStyle/>
          <a:p>
            <a:pPr algn="ctr"/>
            <a:r>
              <a:rPr sz="1800" b="1" i="0">
                <a:solidFill>
                  <a:srgbClr val="FFFFFF"/>
                </a:solidFill>
              </a:rPr>
              <a:t>実は DV歴10年以上。これらは複雑性PTSD（C-PTSD）のサインです。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C-PTSDとは何か</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オープニング｜1.5分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2 / 17</a:t>
            </a:r>
          </a:p>
        </p:txBody>
      </p:sp>
      <p:sp>
        <p:nvSpPr>
          <p:cNvPr id="9" name="Rectangle 8"/>
          <p:cNvSpPr/>
          <p:nvPr/>
        </p:nvSpPr>
        <p:spPr>
          <a:xfrm>
            <a:off x="320040" y="1417320"/>
            <a:ext cx="5303520" cy="228600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5029200" cy="320040"/>
          </a:xfrm>
          <a:prstGeom prst="rect">
            <a:avLst/>
          </a:prstGeom>
          <a:noFill/>
        </p:spPr>
        <p:txBody>
          <a:bodyPr wrap="square">
            <a:spAutoFit/>
          </a:bodyPr>
          <a:lstStyle/>
          <a:p>
            <a:pPr algn="l"/>
            <a:r>
              <a:rPr sz="1400" b="1" i="0">
                <a:solidFill>
                  <a:srgbClr val="007A87"/>
                </a:solidFill>
              </a:rPr>
              <a:t>定義・背景</a:t>
            </a:r>
          </a:p>
        </p:txBody>
      </p:sp>
      <p:sp>
        <p:nvSpPr>
          <p:cNvPr id="11" name="TextBox 10"/>
          <p:cNvSpPr txBox="1"/>
          <p:nvPr/>
        </p:nvSpPr>
        <p:spPr>
          <a:xfrm>
            <a:off x="457200" y="1828800"/>
            <a:ext cx="5029200" cy="1737360"/>
          </a:xfrm>
          <a:prstGeom prst="rect">
            <a:avLst/>
          </a:prstGeom>
          <a:noFill/>
        </p:spPr>
        <p:txBody>
          <a:bodyPr wrap="square">
            <a:spAutoFit/>
          </a:bodyPr>
          <a:lstStyle/>
          <a:p>
            <a:pPr>
              <a:spcBef>
                <a:spcPts val="300"/>
              </a:spcBef>
            </a:pPr>
            <a:r>
              <a:rPr sz="1500">
                <a:solidFill>
                  <a:srgbClr val="1C1C2E"/>
                </a:solidFill>
              </a:rPr>
              <a:t>●  2018年 ICD-11 に独立疾患単位として正式収載</a:t>
            </a:r>
          </a:p>
          <a:p>
            <a:pPr>
              <a:spcBef>
                <a:spcPts val="300"/>
              </a:spcBef>
            </a:pPr>
            <a:r>
              <a:rPr sz="1500">
                <a:solidFill>
                  <a:srgbClr val="1C1C2E"/>
                </a:solidFill>
              </a:rPr>
              <a:t>●  DSM-5 にはまだ独立した診断名なし</a:t>
            </a:r>
          </a:p>
          <a:p>
            <a:pPr>
              <a:spcBef>
                <a:spcPts val="300"/>
              </a:spcBef>
            </a:pPr>
            <a:r>
              <a:rPr sz="1500">
                <a:solidFill>
                  <a:srgbClr val="1C1C2E"/>
                </a:solidFill>
              </a:rPr>
              <a:t>●  原因：反復・長期・逃れにくいトラウマ</a:t>
            </a:r>
          </a:p>
          <a:p>
            <a:pPr>
              <a:spcBef>
                <a:spcPts val="300"/>
              </a:spcBef>
            </a:pPr>
            <a:r>
              <a:rPr sz="1500">
                <a:solidFill>
                  <a:srgbClr val="1C1C2E"/>
                </a:solidFill>
              </a:rPr>
              <a:t>●  　幼少期虐待 / DV / 人身売買 / 拷問 / 難民経験</a:t>
            </a:r>
          </a:p>
        </p:txBody>
      </p:sp>
      <p:sp>
        <p:nvSpPr>
          <p:cNvPr id="12" name="Rectangle 11"/>
          <p:cNvSpPr/>
          <p:nvPr/>
        </p:nvSpPr>
        <p:spPr>
          <a:xfrm>
            <a:off x="5852160" y="1417320"/>
            <a:ext cx="5989320" cy="228600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1508760"/>
            <a:ext cx="2560320" cy="365760"/>
          </a:xfrm>
          <a:prstGeom prst="rect">
            <a:avLst/>
          </a:prstGeom>
          <a:noFill/>
        </p:spPr>
        <p:txBody>
          <a:bodyPr wrap="square">
            <a:spAutoFit/>
          </a:bodyPr>
          <a:lstStyle/>
          <a:p>
            <a:pPr algn="l"/>
            <a:r>
              <a:rPr sz="1400" b="1" i="0">
                <a:solidFill>
                  <a:srgbClr val="007A87"/>
                </a:solidFill>
              </a:rPr>
              <a:t>通常 PTSD</a:t>
            </a:r>
          </a:p>
        </p:txBody>
      </p:sp>
      <p:sp>
        <p:nvSpPr>
          <p:cNvPr id="14" name="TextBox 13"/>
          <p:cNvSpPr txBox="1"/>
          <p:nvPr/>
        </p:nvSpPr>
        <p:spPr>
          <a:xfrm>
            <a:off x="5989320" y="1874519"/>
            <a:ext cx="2560320" cy="822960"/>
          </a:xfrm>
          <a:prstGeom prst="rect">
            <a:avLst/>
          </a:prstGeom>
          <a:noFill/>
        </p:spPr>
        <p:txBody>
          <a:bodyPr wrap="square">
            <a:spAutoFit/>
          </a:bodyPr>
          <a:lstStyle/>
          <a:p>
            <a:pPr algn="l"/>
            <a:r>
              <a:rPr sz="1300" b="0" i="0">
                <a:solidFill>
                  <a:srgbClr val="1C1C2E"/>
                </a:solidFill>
              </a:rPr>
              <a:t>再体験
回避
過覚醒</a:t>
            </a:r>
          </a:p>
        </p:txBody>
      </p:sp>
      <p:sp>
        <p:nvSpPr>
          <p:cNvPr id="15" name="TextBox 14"/>
          <p:cNvSpPr txBox="1"/>
          <p:nvPr/>
        </p:nvSpPr>
        <p:spPr>
          <a:xfrm>
            <a:off x="8503920" y="2103120"/>
            <a:ext cx="548640" cy="457200"/>
          </a:xfrm>
          <a:prstGeom prst="rect">
            <a:avLst/>
          </a:prstGeom>
          <a:noFill/>
        </p:spPr>
        <p:txBody>
          <a:bodyPr wrap="square">
            <a:spAutoFit/>
          </a:bodyPr>
          <a:lstStyle/>
          <a:p>
            <a:pPr algn="ctr"/>
            <a:r>
              <a:rPr sz="3200" b="1" i="0">
                <a:solidFill>
                  <a:srgbClr val="E84A5F"/>
                </a:solidFill>
              </a:rPr>
              <a:t>＋</a:t>
            </a:r>
          </a:p>
        </p:txBody>
      </p:sp>
      <p:sp>
        <p:nvSpPr>
          <p:cNvPr id="16" name="Rectangle 15"/>
          <p:cNvSpPr/>
          <p:nvPr/>
        </p:nvSpPr>
        <p:spPr>
          <a:xfrm>
            <a:off x="9006840" y="1508760"/>
            <a:ext cx="2606040" cy="2057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1554480"/>
            <a:ext cx="2468880" cy="411480"/>
          </a:xfrm>
          <a:prstGeom prst="rect">
            <a:avLst/>
          </a:prstGeom>
          <a:noFill/>
        </p:spPr>
        <p:txBody>
          <a:bodyPr wrap="square">
            <a:spAutoFit/>
          </a:bodyPr>
          <a:lstStyle/>
          <a:p>
            <a:pPr algn="l"/>
            <a:r>
              <a:rPr sz="1300" b="1" i="0">
                <a:solidFill>
                  <a:srgbClr val="FFFFFF"/>
                </a:solidFill>
              </a:rPr>
              <a:t>DSO（自己組織化の障害）</a:t>
            </a:r>
          </a:p>
        </p:txBody>
      </p:sp>
      <p:sp>
        <p:nvSpPr>
          <p:cNvPr id="18" name="TextBox 17"/>
          <p:cNvSpPr txBox="1"/>
          <p:nvPr/>
        </p:nvSpPr>
        <p:spPr>
          <a:xfrm>
            <a:off x="9052560" y="1965960"/>
            <a:ext cx="2468880" cy="914400"/>
          </a:xfrm>
          <a:prstGeom prst="rect">
            <a:avLst/>
          </a:prstGeom>
          <a:noFill/>
        </p:spPr>
        <p:txBody>
          <a:bodyPr wrap="square">
            <a:spAutoFit/>
          </a:bodyPr>
          <a:lstStyle/>
          <a:p>
            <a:pPr algn="l"/>
            <a:r>
              <a:rPr sz="1300" b="1" i="0">
                <a:solidFill>
                  <a:srgbClr val="FFC107"/>
                </a:solidFill>
              </a:rPr>
              <a:t>① 情動調節困難
② 否定的自己概念
③ 対人関係障害</a:t>
            </a:r>
          </a:p>
        </p:txBody>
      </p:sp>
      <p:sp>
        <p:nvSpPr>
          <p:cNvPr id="19" name="Rectangle 18"/>
          <p:cNvSpPr/>
          <p:nvPr/>
        </p:nvSpPr>
        <p:spPr>
          <a:xfrm>
            <a:off x="320040" y="3886200"/>
            <a:ext cx="11548872" cy="64008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931920"/>
            <a:ext cx="11183112" cy="548640"/>
          </a:xfrm>
          <a:prstGeom prst="rect">
            <a:avLst/>
          </a:prstGeom>
          <a:noFill/>
        </p:spPr>
        <p:txBody>
          <a:bodyPr wrap="square">
            <a:spAutoFit/>
          </a:bodyPr>
          <a:lstStyle/>
          <a:p>
            <a:pPr algn="ctr"/>
            <a:r>
              <a:rPr sz="1700" b="1" i="0">
                <a:solidFill>
                  <a:srgbClr val="FFFFFF"/>
                </a:solidFill>
              </a:rPr>
              <a:t>「通常PTSDとは症状の構造が異なる」——この理解が治療選択のすべての出発点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ICD-11診断基準：DSO（自己組織化の障害）</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第1章：C-PTSDを理解する｜2分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3 / 17</a:t>
            </a:r>
          </a:p>
        </p:txBody>
      </p:sp>
      <p:sp>
        <p:nvSpPr>
          <p:cNvPr id="9" name="Rectangle 8"/>
          <p:cNvSpPr/>
          <p:nvPr/>
        </p:nvSpPr>
        <p:spPr>
          <a:xfrm>
            <a:off x="320040" y="1417320"/>
            <a:ext cx="3657600" cy="3291840"/>
          </a:xfrm>
          <a:prstGeom prst="rect">
            <a:avLst/>
          </a:prstGeom>
          <a:solidFill>
            <a:srgbClr val="FFFFFF"/>
          </a:solidFill>
          <a:ln w="19050">
            <a:solidFill>
              <a:srgbClr val="6B7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3383280" cy="365760"/>
          </a:xfrm>
          <a:prstGeom prst="rect">
            <a:avLst/>
          </a:prstGeom>
          <a:noFill/>
        </p:spPr>
        <p:txBody>
          <a:bodyPr wrap="square">
            <a:spAutoFit/>
          </a:bodyPr>
          <a:lstStyle/>
          <a:p>
            <a:pPr algn="l"/>
            <a:r>
              <a:rPr sz="1400" b="1" i="0">
                <a:solidFill>
                  <a:srgbClr val="6B7A99"/>
                </a:solidFill>
              </a:rPr>
              <a:t>通常 PTSD（共通症状）</a:t>
            </a:r>
          </a:p>
        </p:txBody>
      </p:sp>
      <p:sp>
        <p:nvSpPr>
          <p:cNvPr id="11" name="TextBox 10"/>
          <p:cNvSpPr txBox="1"/>
          <p:nvPr/>
        </p:nvSpPr>
        <p:spPr>
          <a:xfrm>
            <a:off x="457200" y="1965960"/>
            <a:ext cx="3383280" cy="548640"/>
          </a:xfrm>
          <a:prstGeom prst="rect">
            <a:avLst/>
          </a:prstGeom>
          <a:noFill/>
        </p:spPr>
        <p:txBody>
          <a:bodyPr wrap="square">
            <a:spAutoFit/>
          </a:bodyPr>
          <a:lstStyle/>
          <a:p>
            <a:pPr algn="l"/>
            <a:r>
              <a:rPr sz="1400" b="0" i="0">
                <a:solidFill>
                  <a:srgbClr val="1C1C2E"/>
                </a:solidFill>
              </a:rPr>
              <a:t>✓  再体験（フラッシュバック・悪夢）</a:t>
            </a:r>
          </a:p>
        </p:txBody>
      </p:sp>
      <p:sp>
        <p:nvSpPr>
          <p:cNvPr id="12" name="TextBox 11"/>
          <p:cNvSpPr txBox="1"/>
          <p:nvPr/>
        </p:nvSpPr>
        <p:spPr>
          <a:xfrm>
            <a:off x="457200" y="2606039"/>
            <a:ext cx="3383280" cy="548640"/>
          </a:xfrm>
          <a:prstGeom prst="rect">
            <a:avLst/>
          </a:prstGeom>
          <a:noFill/>
        </p:spPr>
        <p:txBody>
          <a:bodyPr wrap="square">
            <a:spAutoFit/>
          </a:bodyPr>
          <a:lstStyle/>
          <a:p>
            <a:pPr algn="l"/>
            <a:r>
              <a:rPr sz="1400" b="0" i="0">
                <a:solidFill>
                  <a:srgbClr val="1C1C2E"/>
                </a:solidFill>
              </a:rPr>
              <a:t>✓  回避</a:t>
            </a:r>
          </a:p>
        </p:txBody>
      </p:sp>
      <p:sp>
        <p:nvSpPr>
          <p:cNvPr id="13" name="TextBox 12"/>
          <p:cNvSpPr txBox="1"/>
          <p:nvPr/>
        </p:nvSpPr>
        <p:spPr>
          <a:xfrm>
            <a:off x="457200" y="3246120"/>
            <a:ext cx="3383280" cy="548640"/>
          </a:xfrm>
          <a:prstGeom prst="rect">
            <a:avLst/>
          </a:prstGeom>
          <a:noFill/>
        </p:spPr>
        <p:txBody>
          <a:bodyPr wrap="square">
            <a:spAutoFit/>
          </a:bodyPr>
          <a:lstStyle/>
          <a:p>
            <a:pPr algn="l"/>
            <a:r>
              <a:rPr sz="1400" b="0" i="0">
                <a:solidFill>
                  <a:srgbClr val="1C1C2E"/>
                </a:solidFill>
              </a:rPr>
              <a:t>✓  過覚醒（過度の警戒・易驚愕）</a:t>
            </a:r>
          </a:p>
        </p:txBody>
      </p:sp>
      <p:sp>
        <p:nvSpPr>
          <p:cNvPr id="14" name="TextBox 13"/>
          <p:cNvSpPr txBox="1"/>
          <p:nvPr/>
        </p:nvSpPr>
        <p:spPr>
          <a:xfrm>
            <a:off x="4114800" y="2560320"/>
            <a:ext cx="731520" cy="731520"/>
          </a:xfrm>
          <a:prstGeom prst="rect">
            <a:avLst/>
          </a:prstGeom>
          <a:noFill/>
        </p:spPr>
        <p:txBody>
          <a:bodyPr wrap="square">
            <a:spAutoFit/>
          </a:bodyPr>
          <a:lstStyle/>
          <a:p>
            <a:pPr algn="ctr"/>
            <a:r>
              <a:rPr sz="4000" b="1" i="0">
                <a:solidFill>
                  <a:srgbClr val="E84A5F"/>
                </a:solidFill>
              </a:rPr>
              <a:t>＋</a:t>
            </a:r>
          </a:p>
        </p:txBody>
      </p:sp>
      <p:sp>
        <p:nvSpPr>
          <p:cNvPr id="15" name="Rectangle 14"/>
          <p:cNvSpPr/>
          <p:nvPr/>
        </p:nvSpPr>
        <p:spPr>
          <a:xfrm>
            <a:off x="5029200" y="1417320"/>
            <a:ext cx="6812280" cy="100584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1463040"/>
            <a:ext cx="4572000" cy="365760"/>
          </a:xfrm>
          <a:prstGeom prst="rect">
            <a:avLst/>
          </a:prstGeom>
          <a:noFill/>
        </p:spPr>
        <p:txBody>
          <a:bodyPr wrap="square">
            <a:spAutoFit/>
          </a:bodyPr>
          <a:lstStyle/>
          <a:p>
            <a:pPr algn="l"/>
            <a:r>
              <a:rPr sz="1600" b="1" i="0">
                <a:solidFill>
                  <a:srgbClr val="FFFFFF"/>
                </a:solidFill>
              </a:rPr>
              <a:t>DSO ③1  情動調節困難</a:t>
            </a:r>
          </a:p>
        </p:txBody>
      </p:sp>
      <p:sp>
        <p:nvSpPr>
          <p:cNvPr id="17" name="TextBox 16"/>
          <p:cNvSpPr txBox="1"/>
          <p:nvPr/>
        </p:nvSpPr>
        <p:spPr>
          <a:xfrm>
            <a:off x="5166360" y="1828800"/>
            <a:ext cx="6492240" cy="502920"/>
          </a:xfrm>
          <a:prstGeom prst="rect">
            <a:avLst/>
          </a:prstGeom>
          <a:noFill/>
        </p:spPr>
        <p:txBody>
          <a:bodyPr wrap="square">
            <a:spAutoFit/>
          </a:bodyPr>
          <a:lstStyle/>
          <a:p>
            <a:pPr algn="l"/>
            <a:r>
              <a:rPr sz="1300" b="0" i="0">
                <a:solidFill>
                  <a:srgbClr val="FFFFCC"/>
                </a:solidFill>
              </a:rPr>
              <a:t>感情の爆発 ↔ 感情の麻痺
激しい感情の振れ幅</a:t>
            </a:r>
          </a:p>
        </p:txBody>
      </p:sp>
      <p:sp>
        <p:nvSpPr>
          <p:cNvPr id="18" name="Rectangle 17"/>
          <p:cNvSpPr/>
          <p:nvPr/>
        </p:nvSpPr>
        <p:spPr>
          <a:xfrm>
            <a:off x="5029200" y="2514600"/>
            <a:ext cx="6812280"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60" y="2560320"/>
            <a:ext cx="4572000" cy="365760"/>
          </a:xfrm>
          <a:prstGeom prst="rect">
            <a:avLst/>
          </a:prstGeom>
          <a:noFill/>
        </p:spPr>
        <p:txBody>
          <a:bodyPr wrap="square">
            <a:spAutoFit/>
          </a:bodyPr>
          <a:lstStyle/>
          <a:p>
            <a:pPr algn="l"/>
            <a:r>
              <a:rPr sz="1600" b="1" i="0">
                <a:solidFill>
                  <a:srgbClr val="FFFFFF"/>
                </a:solidFill>
              </a:rPr>
              <a:t>DSO ③2  否定的自己概念</a:t>
            </a:r>
          </a:p>
        </p:txBody>
      </p:sp>
      <p:sp>
        <p:nvSpPr>
          <p:cNvPr id="20" name="TextBox 19"/>
          <p:cNvSpPr txBox="1"/>
          <p:nvPr/>
        </p:nvSpPr>
        <p:spPr>
          <a:xfrm>
            <a:off x="5166360" y="2926080"/>
            <a:ext cx="6492240" cy="502920"/>
          </a:xfrm>
          <a:prstGeom prst="rect">
            <a:avLst/>
          </a:prstGeom>
          <a:noFill/>
        </p:spPr>
        <p:txBody>
          <a:bodyPr wrap="square">
            <a:spAutoFit/>
          </a:bodyPr>
          <a:lstStyle/>
          <a:p>
            <a:pPr algn="l"/>
            <a:r>
              <a:rPr sz="1300" b="0" i="0">
                <a:solidFill>
                  <a:srgbClr val="FFFFCC"/>
                </a:solidFill>
              </a:rPr>
              <a:t>「自分はダメだ」「穢れている」
深い自責・羞恥・無力感</a:t>
            </a:r>
          </a:p>
        </p:txBody>
      </p:sp>
      <p:sp>
        <p:nvSpPr>
          <p:cNvPr id="21" name="Rectangle 20"/>
          <p:cNvSpPr/>
          <p:nvPr/>
        </p:nvSpPr>
        <p:spPr>
          <a:xfrm>
            <a:off x="5029200" y="3611880"/>
            <a:ext cx="6812280" cy="10058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3657600"/>
            <a:ext cx="4572000" cy="365760"/>
          </a:xfrm>
          <a:prstGeom prst="rect">
            <a:avLst/>
          </a:prstGeom>
          <a:noFill/>
        </p:spPr>
        <p:txBody>
          <a:bodyPr wrap="square">
            <a:spAutoFit/>
          </a:bodyPr>
          <a:lstStyle/>
          <a:p>
            <a:pPr algn="l"/>
            <a:r>
              <a:rPr sz="1600" b="1" i="0">
                <a:solidFill>
                  <a:srgbClr val="FFFFFF"/>
                </a:solidFill>
              </a:rPr>
              <a:t>DSO ③3  対人関係障害</a:t>
            </a:r>
          </a:p>
        </p:txBody>
      </p:sp>
      <p:sp>
        <p:nvSpPr>
          <p:cNvPr id="23" name="TextBox 22"/>
          <p:cNvSpPr txBox="1"/>
          <p:nvPr/>
        </p:nvSpPr>
        <p:spPr>
          <a:xfrm>
            <a:off x="5166360" y="4023360"/>
            <a:ext cx="6492240" cy="502920"/>
          </a:xfrm>
          <a:prstGeom prst="rect">
            <a:avLst/>
          </a:prstGeom>
          <a:noFill/>
        </p:spPr>
        <p:txBody>
          <a:bodyPr wrap="square">
            <a:spAutoFit/>
          </a:bodyPr>
          <a:lstStyle/>
          <a:p>
            <a:pPr algn="l"/>
            <a:r>
              <a:rPr sz="1300" b="0" i="0">
                <a:solidFill>
                  <a:srgbClr val="FFFFCC"/>
                </a:solidFill>
              </a:rPr>
              <a:t>人を信じることが極めて困難
親密さへの恐怖・孤立</a:t>
            </a:r>
          </a:p>
        </p:txBody>
      </p:sp>
      <p:sp>
        <p:nvSpPr>
          <p:cNvPr id="24" name="Rectangle 23"/>
          <p:cNvSpPr/>
          <p:nvPr/>
        </p:nvSpPr>
        <p:spPr>
          <a:xfrm>
            <a:off x="320040" y="4754880"/>
            <a:ext cx="11548872" cy="822960"/>
          </a:xfrm>
          <a:prstGeom prst="rect">
            <a:avLst/>
          </a:prstGeom>
          <a:solidFill>
            <a:srgbClr val="F4F7FC"/>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18888"/>
            <a:ext cx="11183112" cy="685800"/>
          </a:xfrm>
          <a:prstGeom prst="rect">
            <a:avLst/>
          </a:prstGeom>
          <a:noFill/>
        </p:spPr>
        <p:txBody>
          <a:bodyPr wrap="square">
            <a:spAutoFit/>
          </a:bodyPr>
          <a:lstStyle/>
          <a:p>
            <a:pPr algn="l"/>
            <a:r>
              <a:rPr sz="1300" b="0" i="1">
                <a:solidFill>
                  <a:srgbClr val="1C1C2E"/>
                </a:solidFill>
              </a:rPr>
              <a:t>症例に当てはめると：「感情的になりやすい」＝情動調節困難 ／ 「信頼構築困難」＝対人関係障害 ／ 「アドヒアランス不良」＝否定的自己概念からの無力感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通常PTSDとC-PTSDの臨床的な違い</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第1章：C-PTSDを理解する｜2分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4 / 17</a:t>
            </a:r>
          </a:p>
        </p:txBody>
      </p:sp>
      <p:sp>
        <p:nvSpPr>
          <p:cNvPr id="9" name="Rectangle 8"/>
          <p:cNvSpPr/>
          <p:nvPr/>
        </p:nvSpPr>
        <p:spPr>
          <a:xfrm>
            <a:off x="320040" y="1417320"/>
            <a:ext cx="11548872" cy="41148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435608"/>
            <a:ext cx="2834640" cy="365760"/>
          </a:xfrm>
          <a:prstGeom prst="rect">
            <a:avLst/>
          </a:prstGeom>
          <a:noFill/>
        </p:spPr>
        <p:txBody>
          <a:bodyPr wrap="square">
            <a:spAutoFit/>
          </a:bodyPr>
          <a:lstStyle/>
          <a:p>
            <a:pPr algn="l"/>
            <a:r>
              <a:rPr sz="1400" b="1" i="0">
                <a:solidFill>
                  <a:srgbClr val="FFFFFF"/>
                </a:solidFill>
              </a:rPr>
              <a:t>比較項目</a:t>
            </a:r>
          </a:p>
        </p:txBody>
      </p:sp>
      <p:sp>
        <p:nvSpPr>
          <p:cNvPr id="11" name="TextBox 10"/>
          <p:cNvSpPr txBox="1"/>
          <p:nvPr/>
        </p:nvSpPr>
        <p:spPr>
          <a:xfrm>
            <a:off x="3383280" y="1435608"/>
            <a:ext cx="4297680" cy="365760"/>
          </a:xfrm>
          <a:prstGeom prst="rect">
            <a:avLst/>
          </a:prstGeom>
          <a:noFill/>
        </p:spPr>
        <p:txBody>
          <a:bodyPr wrap="square">
            <a:spAutoFit/>
          </a:bodyPr>
          <a:lstStyle/>
          <a:p>
            <a:pPr algn="l"/>
            <a:r>
              <a:rPr sz="1400" b="1" i="0">
                <a:solidFill>
                  <a:srgbClr val="FFFFFF"/>
                </a:solidFill>
              </a:rPr>
              <a:t>通常 PTSD</a:t>
            </a:r>
          </a:p>
        </p:txBody>
      </p:sp>
      <p:sp>
        <p:nvSpPr>
          <p:cNvPr id="12" name="TextBox 11"/>
          <p:cNvSpPr txBox="1"/>
          <p:nvPr/>
        </p:nvSpPr>
        <p:spPr>
          <a:xfrm>
            <a:off x="7863840" y="1435608"/>
            <a:ext cx="4023360" cy="365760"/>
          </a:xfrm>
          <a:prstGeom prst="rect">
            <a:avLst/>
          </a:prstGeom>
          <a:noFill/>
        </p:spPr>
        <p:txBody>
          <a:bodyPr wrap="square">
            <a:spAutoFit/>
          </a:bodyPr>
          <a:lstStyle/>
          <a:p>
            <a:pPr algn="l"/>
            <a:r>
              <a:rPr sz="1400" b="1" i="0">
                <a:solidFill>
                  <a:srgbClr val="FFFFFF"/>
                </a:solidFill>
              </a:rPr>
              <a:t>複雑性 PTSD</a:t>
            </a:r>
          </a:p>
        </p:txBody>
      </p:sp>
      <p:sp>
        <p:nvSpPr>
          <p:cNvPr id="13" name="Rectangle 12"/>
          <p:cNvSpPr/>
          <p:nvPr/>
        </p:nvSpPr>
        <p:spPr>
          <a:xfrm>
            <a:off x="320040" y="1828800"/>
            <a:ext cx="11548872" cy="621792"/>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901952"/>
            <a:ext cx="2834640" cy="502920"/>
          </a:xfrm>
          <a:prstGeom prst="rect">
            <a:avLst/>
          </a:prstGeom>
          <a:noFill/>
        </p:spPr>
        <p:txBody>
          <a:bodyPr wrap="square">
            <a:spAutoFit/>
          </a:bodyPr>
          <a:lstStyle/>
          <a:p>
            <a:pPr algn="l"/>
            <a:r>
              <a:rPr sz="1300" b="0" i="0">
                <a:solidFill>
                  <a:srgbClr val="1C1C2E"/>
                </a:solidFill>
              </a:rPr>
              <a:t>トラウマの性質</a:t>
            </a:r>
          </a:p>
        </p:txBody>
      </p:sp>
      <p:sp>
        <p:nvSpPr>
          <p:cNvPr id="15" name="TextBox 14"/>
          <p:cNvSpPr txBox="1"/>
          <p:nvPr/>
        </p:nvSpPr>
        <p:spPr>
          <a:xfrm>
            <a:off x="3383280" y="1901952"/>
            <a:ext cx="4297680" cy="502920"/>
          </a:xfrm>
          <a:prstGeom prst="rect">
            <a:avLst/>
          </a:prstGeom>
          <a:noFill/>
        </p:spPr>
        <p:txBody>
          <a:bodyPr wrap="square">
            <a:spAutoFit/>
          </a:bodyPr>
          <a:lstStyle/>
          <a:p>
            <a:pPr algn="l"/>
            <a:r>
              <a:rPr sz="1300" b="0" i="0">
                <a:solidFill>
                  <a:srgbClr val="1C1C2E"/>
                </a:solidFill>
              </a:rPr>
              <a:t>一回性・限定的</a:t>
            </a:r>
          </a:p>
        </p:txBody>
      </p:sp>
      <p:sp>
        <p:nvSpPr>
          <p:cNvPr id="16" name="TextBox 15"/>
          <p:cNvSpPr txBox="1"/>
          <p:nvPr/>
        </p:nvSpPr>
        <p:spPr>
          <a:xfrm>
            <a:off x="7863840" y="1901952"/>
            <a:ext cx="4023360" cy="502920"/>
          </a:xfrm>
          <a:prstGeom prst="rect">
            <a:avLst/>
          </a:prstGeom>
          <a:noFill/>
        </p:spPr>
        <p:txBody>
          <a:bodyPr wrap="square">
            <a:spAutoFit/>
          </a:bodyPr>
          <a:lstStyle/>
          <a:p>
            <a:pPr algn="l"/>
            <a:r>
              <a:rPr sz="1300" b="0" i="0">
                <a:solidFill>
                  <a:srgbClr val="1C1C2E"/>
                </a:solidFill>
              </a:rPr>
              <a:t>反復・長期・逃れられない</a:t>
            </a:r>
          </a:p>
        </p:txBody>
      </p:sp>
      <p:sp>
        <p:nvSpPr>
          <p:cNvPr id="17" name="Rectangle 16"/>
          <p:cNvSpPr/>
          <p:nvPr/>
        </p:nvSpPr>
        <p:spPr>
          <a:xfrm>
            <a:off x="320040" y="2487168"/>
            <a:ext cx="1154887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560320"/>
            <a:ext cx="2834640" cy="502920"/>
          </a:xfrm>
          <a:prstGeom prst="rect">
            <a:avLst/>
          </a:prstGeom>
          <a:noFill/>
        </p:spPr>
        <p:txBody>
          <a:bodyPr wrap="square">
            <a:spAutoFit/>
          </a:bodyPr>
          <a:lstStyle/>
          <a:p>
            <a:pPr algn="l"/>
            <a:r>
              <a:rPr sz="1300" b="0" i="0">
                <a:solidFill>
                  <a:srgbClr val="1C1C2E"/>
                </a:solidFill>
              </a:rPr>
              <a:t>自己感覚</a:t>
            </a:r>
          </a:p>
        </p:txBody>
      </p:sp>
      <p:sp>
        <p:nvSpPr>
          <p:cNvPr id="19" name="TextBox 18"/>
          <p:cNvSpPr txBox="1"/>
          <p:nvPr/>
        </p:nvSpPr>
        <p:spPr>
          <a:xfrm>
            <a:off x="3383280" y="2560320"/>
            <a:ext cx="4297680" cy="502920"/>
          </a:xfrm>
          <a:prstGeom prst="rect">
            <a:avLst/>
          </a:prstGeom>
          <a:noFill/>
        </p:spPr>
        <p:txBody>
          <a:bodyPr wrap="square">
            <a:spAutoFit/>
          </a:bodyPr>
          <a:lstStyle/>
          <a:p>
            <a:pPr algn="l"/>
            <a:r>
              <a:rPr sz="1300" b="0" i="0">
                <a:solidFill>
                  <a:srgbClr val="1C1C2E"/>
                </a:solidFill>
              </a:rPr>
              <a:t>比較的保たれる</a:t>
            </a:r>
          </a:p>
        </p:txBody>
      </p:sp>
      <p:sp>
        <p:nvSpPr>
          <p:cNvPr id="20" name="TextBox 19"/>
          <p:cNvSpPr txBox="1"/>
          <p:nvPr/>
        </p:nvSpPr>
        <p:spPr>
          <a:xfrm>
            <a:off x="7863840" y="2560320"/>
            <a:ext cx="4023360" cy="502920"/>
          </a:xfrm>
          <a:prstGeom prst="rect">
            <a:avLst/>
          </a:prstGeom>
          <a:noFill/>
        </p:spPr>
        <p:txBody>
          <a:bodyPr wrap="square">
            <a:spAutoFit/>
          </a:bodyPr>
          <a:lstStyle/>
          <a:p>
            <a:pPr algn="l"/>
            <a:r>
              <a:rPr sz="1300" b="0" i="0">
                <a:solidFill>
                  <a:srgbClr val="1C1C2E"/>
                </a:solidFill>
              </a:rPr>
              <a:t>根本から傷ついている</a:t>
            </a:r>
          </a:p>
        </p:txBody>
      </p:sp>
      <p:sp>
        <p:nvSpPr>
          <p:cNvPr id="21" name="Rectangle 20"/>
          <p:cNvSpPr/>
          <p:nvPr/>
        </p:nvSpPr>
        <p:spPr>
          <a:xfrm>
            <a:off x="320040" y="3145536"/>
            <a:ext cx="11548872" cy="621792"/>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218688"/>
            <a:ext cx="2834640" cy="502920"/>
          </a:xfrm>
          <a:prstGeom prst="rect">
            <a:avLst/>
          </a:prstGeom>
          <a:noFill/>
        </p:spPr>
        <p:txBody>
          <a:bodyPr wrap="square">
            <a:spAutoFit/>
          </a:bodyPr>
          <a:lstStyle/>
          <a:p>
            <a:pPr algn="l"/>
            <a:r>
              <a:rPr sz="1300" b="0" i="0">
                <a:solidFill>
                  <a:srgbClr val="1C1C2E"/>
                </a:solidFill>
              </a:rPr>
              <a:t>対人関係</a:t>
            </a:r>
          </a:p>
        </p:txBody>
      </p:sp>
      <p:sp>
        <p:nvSpPr>
          <p:cNvPr id="23" name="TextBox 22"/>
          <p:cNvSpPr txBox="1"/>
          <p:nvPr/>
        </p:nvSpPr>
        <p:spPr>
          <a:xfrm>
            <a:off x="3383280" y="3218688"/>
            <a:ext cx="4297680" cy="502920"/>
          </a:xfrm>
          <a:prstGeom prst="rect">
            <a:avLst/>
          </a:prstGeom>
          <a:noFill/>
        </p:spPr>
        <p:txBody>
          <a:bodyPr wrap="square">
            <a:spAutoFit/>
          </a:bodyPr>
          <a:lstStyle/>
          <a:p>
            <a:pPr algn="l"/>
            <a:r>
              <a:rPr sz="1300" b="0" i="0">
                <a:solidFill>
                  <a:srgbClr val="1C1C2E"/>
                </a:solidFill>
              </a:rPr>
              <a:t>特定のトリガーで悪化</a:t>
            </a:r>
          </a:p>
        </p:txBody>
      </p:sp>
      <p:sp>
        <p:nvSpPr>
          <p:cNvPr id="24" name="TextBox 23"/>
          <p:cNvSpPr txBox="1"/>
          <p:nvPr/>
        </p:nvSpPr>
        <p:spPr>
          <a:xfrm>
            <a:off x="7863840" y="3218688"/>
            <a:ext cx="4023360" cy="502920"/>
          </a:xfrm>
          <a:prstGeom prst="rect">
            <a:avLst/>
          </a:prstGeom>
          <a:noFill/>
        </p:spPr>
        <p:txBody>
          <a:bodyPr wrap="square">
            <a:spAutoFit/>
          </a:bodyPr>
          <a:lstStyle/>
          <a:p>
            <a:pPr algn="l"/>
            <a:r>
              <a:rPr sz="1300" b="0" i="0">
                <a:solidFill>
                  <a:srgbClr val="1C1C2E"/>
                </a:solidFill>
              </a:rPr>
              <a:t>全般的に障害されている</a:t>
            </a:r>
          </a:p>
        </p:txBody>
      </p:sp>
      <p:sp>
        <p:nvSpPr>
          <p:cNvPr id="25" name="Rectangle 24"/>
          <p:cNvSpPr/>
          <p:nvPr/>
        </p:nvSpPr>
        <p:spPr>
          <a:xfrm>
            <a:off x="320040" y="3803904"/>
            <a:ext cx="1154887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3877056"/>
            <a:ext cx="2834640" cy="502920"/>
          </a:xfrm>
          <a:prstGeom prst="rect">
            <a:avLst/>
          </a:prstGeom>
          <a:noFill/>
        </p:spPr>
        <p:txBody>
          <a:bodyPr wrap="square">
            <a:spAutoFit/>
          </a:bodyPr>
          <a:lstStyle/>
          <a:p>
            <a:pPr algn="l"/>
            <a:r>
              <a:rPr sz="1300" b="0" i="0">
                <a:solidFill>
                  <a:srgbClr val="1C1C2E"/>
                </a:solidFill>
              </a:rPr>
              <a:t>解離症状</a:t>
            </a:r>
          </a:p>
        </p:txBody>
      </p:sp>
      <p:sp>
        <p:nvSpPr>
          <p:cNvPr id="27" name="TextBox 26"/>
          <p:cNvSpPr txBox="1"/>
          <p:nvPr/>
        </p:nvSpPr>
        <p:spPr>
          <a:xfrm>
            <a:off x="3383280" y="3877056"/>
            <a:ext cx="4297680" cy="502920"/>
          </a:xfrm>
          <a:prstGeom prst="rect">
            <a:avLst/>
          </a:prstGeom>
          <a:noFill/>
        </p:spPr>
        <p:txBody>
          <a:bodyPr wrap="square">
            <a:spAutoFit/>
          </a:bodyPr>
          <a:lstStyle/>
          <a:p>
            <a:pPr algn="l"/>
            <a:r>
              <a:rPr sz="1300" b="0" i="0">
                <a:solidFill>
                  <a:srgbClr val="1C1C2E"/>
                </a:solidFill>
              </a:rPr>
              <a:t>軽度〜中等度</a:t>
            </a:r>
          </a:p>
        </p:txBody>
      </p:sp>
      <p:sp>
        <p:nvSpPr>
          <p:cNvPr id="28" name="TextBox 27"/>
          <p:cNvSpPr txBox="1"/>
          <p:nvPr/>
        </p:nvSpPr>
        <p:spPr>
          <a:xfrm>
            <a:off x="7863840" y="3877056"/>
            <a:ext cx="4023360" cy="502920"/>
          </a:xfrm>
          <a:prstGeom prst="rect">
            <a:avLst/>
          </a:prstGeom>
          <a:noFill/>
        </p:spPr>
        <p:txBody>
          <a:bodyPr wrap="square">
            <a:spAutoFit/>
          </a:bodyPr>
          <a:lstStyle/>
          <a:p>
            <a:pPr algn="l"/>
            <a:r>
              <a:rPr sz="1300" b="0" i="0">
                <a:solidFill>
                  <a:srgbClr val="1C1C2E"/>
                </a:solidFill>
              </a:rPr>
              <a:t>高頻度・重篤</a:t>
            </a:r>
          </a:p>
        </p:txBody>
      </p:sp>
      <p:sp>
        <p:nvSpPr>
          <p:cNvPr id="29" name="Rectangle 28"/>
          <p:cNvSpPr/>
          <p:nvPr/>
        </p:nvSpPr>
        <p:spPr>
          <a:xfrm>
            <a:off x="320040" y="4462272"/>
            <a:ext cx="11548872" cy="621792"/>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4535424"/>
            <a:ext cx="2834640" cy="502920"/>
          </a:xfrm>
          <a:prstGeom prst="rect">
            <a:avLst/>
          </a:prstGeom>
          <a:noFill/>
        </p:spPr>
        <p:txBody>
          <a:bodyPr wrap="square">
            <a:spAutoFit/>
          </a:bodyPr>
          <a:lstStyle/>
          <a:p>
            <a:pPr algn="l"/>
            <a:r>
              <a:rPr sz="1300" b="1" i="0">
                <a:solidFill>
                  <a:srgbClr val="FFFFFF"/>
                </a:solidFill>
              </a:rPr>
              <a:t>治療反応</a:t>
            </a:r>
          </a:p>
        </p:txBody>
      </p:sp>
      <p:sp>
        <p:nvSpPr>
          <p:cNvPr id="31" name="TextBox 30"/>
          <p:cNvSpPr txBox="1"/>
          <p:nvPr/>
        </p:nvSpPr>
        <p:spPr>
          <a:xfrm>
            <a:off x="3383280" y="4535424"/>
            <a:ext cx="4297680" cy="502920"/>
          </a:xfrm>
          <a:prstGeom prst="rect">
            <a:avLst/>
          </a:prstGeom>
          <a:noFill/>
        </p:spPr>
        <p:txBody>
          <a:bodyPr wrap="square">
            <a:spAutoFit/>
          </a:bodyPr>
          <a:lstStyle/>
          <a:p>
            <a:pPr algn="l"/>
            <a:r>
              <a:rPr sz="1300" b="0" i="0">
                <a:solidFill>
                  <a:srgbClr val="FFFFFF"/>
                </a:solidFill>
              </a:rPr>
              <a:t>標準PTSD治療で効く</a:t>
            </a:r>
          </a:p>
        </p:txBody>
      </p:sp>
      <p:sp>
        <p:nvSpPr>
          <p:cNvPr id="32" name="TextBox 31"/>
          <p:cNvSpPr txBox="1"/>
          <p:nvPr/>
        </p:nvSpPr>
        <p:spPr>
          <a:xfrm>
            <a:off x="7863840" y="4535424"/>
            <a:ext cx="4023360" cy="502920"/>
          </a:xfrm>
          <a:prstGeom prst="rect">
            <a:avLst/>
          </a:prstGeom>
          <a:noFill/>
        </p:spPr>
        <p:txBody>
          <a:bodyPr wrap="square">
            <a:spAutoFit/>
          </a:bodyPr>
          <a:lstStyle/>
          <a:p>
            <a:pPr algn="l"/>
            <a:r>
              <a:rPr sz="1300" b="1" i="0">
                <a:solidFill>
                  <a:srgbClr val="FFFFFF"/>
                </a:solidFill>
              </a:rPr>
              <a:t>フェーズ準備なしには効きにくい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C-PTSDが見落とされやすい場面</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第1章：C-PTSDを理解する｜1分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5 / 17</a:t>
            </a:r>
          </a:p>
        </p:txBody>
      </p:sp>
      <p:sp>
        <p:nvSpPr>
          <p:cNvPr id="9" name="Rectangle 8"/>
          <p:cNvSpPr/>
          <p:nvPr/>
        </p:nvSpPr>
        <p:spPr>
          <a:xfrm>
            <a:off x="320040" y="1417320"/>
            <a:ext cx="3749039" cy="3200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3474720" cy="365760"/>
          </a:xfrm>
          <a:prstGeom prst="rect">
            <a:avLst/>
          </a:prstGeom>
          <a:noFill/>
        </p:spPr>
        <p:txBody>
          <a:bodyPr wrap="square">
            <a:spAutoFit/>
          </a:bodyPr>
          <a:lstStyle/>
          <a:p>
            <a:pPr algn="l"/>
            <a:r>
              <a:rPr sz="1600" b="1" i="0">
                <a:solidFill>
                  <a:srgbClr val="FFFFFF"/>
                </a:solidFill>
              </a:rPr>
              <a:t>内科外来</a:t>
            </a:r>
          </a:p>
        </p:txBody>
      </p:sp>
      <p:sp>
        <p:nvSpPr>
          <p:cNvPr id="11" name="TextBox 10"/>
          <p:cNvSpPr txBox="1"/>
          <p:nvPr/>
        </p:nvSpPr>
        <p:spPr>
          <a:xfrm>
            <a:off x="457200" y="1965960"/>
            <a:ext cx="3474720" cy="2377440"/>
          </a:xfrm>
          <a:prstGeom prst="rect">
            <a:avLst/>
          </a:prstGeom>
          <a:noFill/>
        </p:spPr>
        <p:txBody>
          <a:bodyPr wrap="square">
            <a:spAutoFit/>
          </a:bodyPr>
          <a:lstStyle/>
          <a:p>
            <a:pPr algn="l"/>
            <a:r>
              <a:rPr sz="1400" b="0" i="0">
                <a:solidFill>
                  <a:srgbClr val="FFFFFF"/>
                </a:solidFill>
              </a:rPr>
              <a:t>慢性疼痛（腰痛・頭痛）・原因不明の身体症状
機能性身体症状・身体表現性障害の診断がついている</a:t>
            </a:r>
          </a:p>
        </p:txBody>
      </p:sp>
      <p:sp>
        <p:nvSpPr>
          <p:cNvPr id="12" name="Rectangle 11"/>
          <p:cNvSpPr/>
          <p:nvPr/>
        </p:nvSpPr>
        <p:spPr>
          <a:xfrm>
            <a:off x="4297679" y="1417320"/>
            <a:ext cx="3749039" cy="32004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39" y="1508760"/>
            <a:ext cx="3474720" cy="365760"/>
          </a:xfrm>
          <a:prstGeom prst="rect">
            <a:avLst/>
          </a:prstGeom>
          <a:noFill/>
        </p:spPr>
        <p:txBody>
          <a:bodyPr wrap="square">
            <a:spAutoFit/>
          </a:bodyPr>
          <a:lstStyle/>
          <a:p>
            <a:pPr algn="l"/>
            <a:r>
              <a:rPr sz="1600" b="1" i="0">
                <a:solidFill>
                  <a:srgbClr val="FFFFFF"/>
                </a:solidFill>
              </a:rPr>
              <a:t>精神科外来</a:t>
            </a:r>
          </a:p>
        </p:txBody>
      </p:sp>
      <p:sp>
        <p:nvSpPr>
          <p:cNvPr id="14" name="TextBox 13"/>
          <p:cNvSpPr txBox="1"/>
          <p:nvPr/>
        </p:nvSpPr>
        <p:spPr>
          <a:xfrm>
            <a:off x="4434839" y="1965960"/>
            <a:ext cx="3474720" cy="2377440"/>
          </a:xfrm>
          <a:prstGeom prst="rect">
            <a:avLst/>
          </a:prstGeom>
          <a:noFill/>
        </p:spPr>
        <p:txBody>
          <a:bodyPr wrap="square">
            <a:spAutoFit/>
          </a:bodyPr>
          <a:lstStyle/>
          <a:p>
            <a:pPr algn="l"/>
            <a:r>
              <a:rPr sz="1400" b="0" i="0">
                <a:solidFill>
                  <a:srgbClr val="FFFFFF"/>
                </a:solidFill>
              </a:rPr>
              <a:t>「治療抵抗性うつ病」として複数の抗うつ薬を試されている</a:t>
            </a:r>
          </a:p>
        </p:txBody>
      </p:sp>
      <p:sp>
        <p:nvSpPr>
          <p:cNvPr id="15" name="Rectangle 14"/>
          <p:cNvSpPr/>
          <p:nvPr/>
        </p:nvSpPr>
        <p:spPr>
          <a:xfrm>
            <a:off x="8275319" y="1417320"/>
            <a:ext cx="3749039" cy="320040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9" y="1508760"/>
            <a:ext cx="3474720" cy="365760"/>
          </a:xfrm>
          <a:prstGeom prst="rect">
            <a:avLst/>
          </a:prstGeom>
          <a:noFill/>
        </p:spPr>
        <p:txBody>
          <a:bodyPr wrap="square">
            <a:spAutoFit/>
          </a:bodyPr>
          <a:lstStyle/>
          <a:p>
            <a:pPr algn="l"/>
            <a:r>
              <a:rPr sz="1600" b="1" i="0">
                <a:solidFill>
                  <a:srgbClr val="FFFFFF"/>
                </a:solidFill>
              </a:rPr>
              <a:t>要注意</a:t>
            </a:r>
          </a:p>
        </p:txBody>
      </p:sp>
      <p:sp>
        <p:nvSpPr>
          <p:cNvPr id="17" name="TextBox 16"/>
          <p:cNvSpPr txBox="1"/>
          <p:nvPr/>
        </p:nvSpPr>
        <p:spPr>
          <a:xfrm>
            <a:off x="8412479" y="1965960"/>
            <a:ext cx="3474720" cy="2377440"/>
          </a:xfrm>
          <a:prstGeom prst="rect">
            <a:avLst/>
          </a:prstGeom>
          <a:noFill/>
        </p:spPr>
        <p:txBody>
          <a:bodyPr wrap="square">
            <a:spAutoFit/>
          </a:bodyPr>
          <a:lstStyle/>
          <a:p>
            <a:pPr algn="l"/>
            <a:r>
              <a:rPr sz="1400" b="0" i="0">
                <a:solidFill>
                  <a:srgbClr val="FFFFFF"/>
                </a:solidFill>
              </a:rPr>
              <a:t>「境界性パーソナリティ障害（BPD）」診断に埋没している
BPDの多くは幼少期虐待歴を持ち、C-PTSDとの重複が非常に多い</a:t>
            </a:r>
          </a:p>
        </p:txBody>
      </p:sp>
      <p:sp>
        <p:nvSpPr>
          <p:cNvPr id="18" name="Rectangle 17"/>
          <p:cNvSpPr/>
          <p:nvPr/>
        </p:nvSpPr>
        <p:spPr>
          <a:xfrm>
            <a:off x="320040" y="4754880"/>
            <a:ext cx="11548872" cy="77724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818888"/>
            <a:ext cx="11183112" cy="640080"/>
          </a:xfrm>
          <a:prstGeom prst="rect">
            <a:avLst/>
          </a:prstGeom>
          <a:noFill/>
        </p:spPr>
        <p:txBody>
          <a:bodyPr wrap="square">
            <a:spAutoFit/>
          </a:bodyPr>
          <a:lstStyle/>
          <a:p>
            <a:pPr algn="ctr"/>
            <a:r>
              <a:rPr sz="1800" b="1" i="0">
                <a:solidFill>
                  <a:srgbClr val="1A2F5E"/>
                </a:solidFill>
              </a:rPr>
              <a:t>「問題患者」として切り捨てないこと——反復トラウマの既往を必ず問診で確認する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フェーズ基盤型アプローチの全体像（ISTSS 2018）</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第2章：治療の原則｜2分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6 / 17  ｜  PMID: 31283056（Bisson JI et al., J Trauma Stress, 2019）</a:t>
            </a:r>
          </a:p>
        </p:txBody>
      </p:sp>
      <p:sp>
        <p:nvSpPr>
          <p:cNvPr id="9" name="Rectangle 8"/>
          <p:cNvSpPr/>
          <p:nvPr/>
        </p:nvSpPr>
        <p:spPr>
          <a:xfrm>
            <a:off x="320040" y="1417320"/>
            <a:ext cx="11521440" cy="5029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44752"/>
            <a:ext cx="11247120" cy="457200"/>
          </a:xfrm>
          <a:prstGeom prst="rect">
            <a:avLst/>
          </a:prstGeom>
          <a:noFill/>
        </p:spPr>
        <p:txBody>
          <a:bodyPr wrap="square">
            <a:spAutoFit/>
          </a:bodyPr>
          <a:lstStyle/>
          <a:p>
            <a:pPr algn="l"/>
            <a:r>
              <a:rPr sz="1300" b="1" i="0">
                <a:solidFill>
                  <a:srgbClr val="FFFFFF"/>
                </a:solidFill>
              </a:rPr>
              <a:t>根拠：ISTSSガイドライン 2018 ｜ 361件のRCT ＋ 208件のメタ解析に基づく最も包括的な指針（PMID: 31283056）</a:t>
            </a:r>
          </a:p>
        </p:txBody>
      </p:sp>
      <p:sp>
        <p:nvSpPr>
          <p:cNvPr id="11" name="Rectangle 10"/>
          <p:cNvSpPr/>
          <p:nvPr/>
        </p:nvSpPr>
        <p:spPr>
          <a:xfrm>
            <a:off x="320040" y="2057400"/>
            <a:ext cx="2788920" cy="29260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121408"/>
            <a:ext cx="2560320" cy="320040"/>
          </a:xfrm>
          <a:prstGeom prst="rect">
            <a:avLst/>
          </a:prstGeom>
          <a:noFill/>
        </p:spPr>
        <p:txBody>
          <a:bodyPr wrap="square">
            <a:spAutoFit/>
          </a:bodyPr>
          <a:lstStyle/>
          <a:p>
            <a:pPr algn="l"/>
            <a:r>
              <a:rPr sz="1300" b="0" i="0">
                <a:solidFill>
                  <a:srgbClr val="FFFFFF"/>
                </a:solidFill>
              </a:rPr>
              <a:t>Phase 1</a:t>
            </a:r>
          </a:p>
        </p:txBody>
      </p:sp>
      <p:sp>
        <p:nvSpPr>
          <p:cNvPr id="13" name="TextBox 12"/>
          <p:cNvSpPr txBox="1"/>
          <p:nvPr/>
        </p:nvSpPr>
        <p:spPr>
          <a:xfrm>
            <a:off x="411480" y="2423160"/>
            <a:ext cx="2560320" cy="685800"/>
          </a:xfrm>
          <a:prstGeom prst="rect">
            <a:avLst/>
          </a:prstGeom>
          <a:noFill/>
        </p:spPr>
        <p:txBody>
          <a:bodyPr wrap="square">
            <a:spAutoFit/>
          </a:bodyPr>
          <a:lstStyle/>
          <a:p>
            <a:pPr algn="l"/>
            <a:r>
              <a:rPr sz="1600" b="1" i="0">
                <a:solidFill>
                  <a:srgbClr val="FFFFFF"/>
                </a:solidFill>
              </a:rPr>
              <a:t>安全確立
Safety</a:t>
            </a:r>
          </a:p>
        </p:txBody>
      </p:sp>
      <p:sp>
        <p:nvSpPr>
          <p:cNvPr id="14" name="TextBox 13"/>
          <p:cNvSpPr txBox="1"/>
          <p:nvPr/>
        </p:nvSpPr>
        <p:spPr>
          <a:xfrm>
            <a:off x="411480" y="3154680"/>
            <a:ext cx="2560320" cy="1645920"/>
          </a:xfrm>
          <a:prstGeom prst="rect">
            <a:avLst/>
          </a:prstGeom>
          <a:noFill/>
        </p:spPr>
        <p:txBody>
          <a:bodyPr wrap="square">
            <a:spAutoFit/>
          </a:bodyPr>
          <a:lstStyle/>
          <a:p>
            <a:pPr algn="l"/>
            <a:r>
              <a:rPr sz="1300" b="0" i="0">
                <a:solidFill>
                  <a:srgbClr val="FFFFCC"/>
                </a:solidFill>
              </a:rPr>
              <a:t>DV継続中か確認
社会資源の整備
シェルター・法的介入</a:t>
            </a:r>
          </a:p>
        </p:txBody>
      </p:sp>
      <p:sp>
        <p:nvSpPr>
          <p:cNvPr id="15" name="TextBox 14"/>
          <p:cNvSpPr txBox="1"/>
          <p:nvPr/>
        </p:nvSpPr>
        <p:spPr>
          <a:xfrm>
            <a:off x="2926080" y="3108960"/>
            <a:ext cx="365760" cy="457200"/>
          </a:xfrm>
          <a:prstGeom prst="rect">
            <a:avLst/>
          </a:prstGeom>
          <a:noFill/>
        </p:spPr>
        <p:txBody>
          <a:bodyPr wrap="square">
            <a:spAutoFit/>
          </a:bodyPr>
          <a:lstStyle/>
          <a:p>
            <a:pPr algn="ctr"/>
            <a:r>
              <a:rPr sz="2800" b="1" i="0">
                <a:solidFill>
                  <a:srgbClr val="1C1C2E"/>
                </a:solidFill>
              </a:rPr>
              <a:t>→</a:t>
            </a:r>
          </a:p>
        </p:txBody>
      </p:sp>
      <p:sp>
        <p:nvSpPr>
          <p:cNvPr id="16" name="Rectangle 15"/>
          <p:cNvSpPr/>
          <p:nvPr/>
        </p:nvSpPr>
        <p:spPr>
          <a:xfrm>
            <a:off x="3291840" y="2057400"/>
            <a:ext cx="2788920" cy="292608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121408"/>
            <a:ext cx="2560320" cy="320040"/>
          </a:xfrm>
          <a:prstGeom prst="rect">
            <a:avLst/>
          </a:prstGeom>
          <a:noFill/>
        </p:spPr>
        <p:txBody>
          <a:bodyPr wrap="square">
            <a:spAutoFit/>
          </a:bodyPr>
          <a:lstStyle/>
          <a:p>
            <a:pPr algn="l"/>
            <a:r>
              <a:rPr sz="1300" b="0" i="0">
                <a:solidFill>
                  <a:srgbClr val="FFFFFF"/>
                </a:solidFill>
              </a:rPr>
              <a:t>Phase 2</a:t>
            </a:r>
          </a:p>
        </p:txBody>
      </p:sp>
      <p:sp>
        <p:nvSpPr>
          <p:cNvPr id="18" name="TextBox 17"/>
          <p:cNvSpPr txBox="1"/>
          <p:nvPr/>
        </p:nvSpPr>
        <p:spPr>
          <a:xfrm>
            <a:off x="3383280" y="2423160"/>
            <a:ext cx="2560320" cy="685800"/>
          </a:xfrm>
          <a:prstGeom prst="rect">
            <a:avLst/>
          </a:prstGeom>
          <a:noFill/>
        </p:spPr>
        <p:txBody>
          <a:bodyPr wrap="square">
            <a:spAutoFit/>
          </a:bodyPr>
          <a:lstStyle/>
          <a:p>
            <a:pPr algn="l"/>
            <a:r>
              <a:rPr sz="1600" b="1" i="0">
                <a:solidFill>
                  <a:srgbClr val="FFFFFF"/>
                </a:solidFill>
              </a:rPr>
              <a:t>安定化
Stabilization</a:t>
            </a:r>
          </a:p>
        </p:txBody>
      </p:sp>
      <p:sp>
        <p:nvSpPr>
          <p:cNvPr id="19" name="TextBox 18"/>
          <p:cNvSpPr txBox="1"/>
          <p:nvPr/>
        </p:nvSpPr>
        <p:spPr>
          <a:xfrm>
            <a:off x="3383280" y="3154680"/>
            <a:ext cx="2560320" cy="1645920"/>
          </a:xfrm>
          <a:prstGeom prst="rect">
            <a:avLst/>
          </a:prstGeom>
          <a:noFill/>
        </p:spPr>
        <p:txBody>
          <a:bodyPr wrap="square">
            <a:spAutoFit/>
          </a:bodyPr>
          <a:lstStyle/>
          <a:p>
            <a:pPr algn="l"/>
            <a:r>
              <a:rPr sz="1300" b="0" i="0">
                <a:solidFill>
                  <a:srgbClr val="FFFFCC"/>
                </a:solidFill>
              </a:rPr>
              <a:t>グラウンディング
感情調節スキル
マインドフルネス</a:t>
            </a:r>
          </a:p>
        </p:txBody>
      </p:sp>
      <p:sp>
        <p:nvSpPr>
          <p:cNvPr id="20" name="TextBox 19"/>
          <p:cNvSpPr txBox="1"/>
          <p:nvPr/>
        </p:nvSpPr>
        <p:spPr>
          <a:xfrm>
            <a:off x="5897880" y="3108960"/>
            <a:ext cx="365760" cy="457200"/>
          </a:xfrm>
          <a:prstGeom prst="rect">
            <a:avLst/>
          </a:prstGeom>
          <a:noFill/>
        </p:spPr>
        <p:txBody>
          <a:bodyPr wrap="square">
            <a:spAutoFit/>
          </a:bodyPr>
          <a:lstStyle/>
          <a:p>
            <a:pPr algn="ctr"/>
            <a:r>
              <a:rPr sz="2800" b="1" i="0">
                <a:solidFill>
                  <a:srgbClr val="1C1C2E"/>
                </a:solidFill>
              </a:rPr>
              <a:t>→</a:t>
            </a:r>
          </a:p>
        </p:txBody>
      </p:sp>
      <p:sp>
        <p:nvSpPr>
          <p:cNvPr id="21" name="Rectangle 20"/>
          <p:cNvSpPr/>
          <p:nvPr/>
        </p:nvSpPr>
        <p:spPr>
          <a:xfrm>
            <a:off x="6263640" y="2057400"/>
            <a:ext cx="2788920" cy="292608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121408"/>
            <a:ext cx="2560320" cy="320040"/>
          </a:xfrm>
          <a:prstGeom prst="rect">
            <a:avLst/>
          </a:prstGeom>
          <a:noFill/>
        </p:spPr>
        <p:txBody>
          <a:bodyPr wrap="square">
            <a:spAutoFit/>
          </a:bodyPr>
          <a:lstStyle/>
          <a:p>
            <a:pPr algn="l"/>
            <a:r>
              <a:rPr sz="1300" b="0" i="0">
                <a:solidFill>
                  <a:srgbClr val="FFFFFF"/>
                </a:solidFill>
              </a:rPr>
              <a:t>Phase 3</a:t>
            </a:r>
          </a:p>
        </p:txBody>
      </p:sp>
      <p:sp>
        <p:nvSpPr>
          <p:cNvPr id="23" name="TextBox 22"/>
          <p:cNvSpPr txBox="1"/>
          <p:nvPr/>
        </p:nvSpPr>
        <p:spPr>
          <a:xfrm>
            <a:off x="6355080" y="2423160"/>
            <a:ext cx="2560320" cy="685800"/>
          </a:xfrm>
          <a:prstGeom prst="rect">
            <a:avLst/>
          </a:prstGeom>
          <a:noFill/>
        </p:spPr>
        <p:txBody>
          <a:bodyPr wrap="square">
            <a:spAutoFit/>
          </a:bodyPr>
          <a:lstStyle/>
          <a:p>
            <a:pPr algn="l"/>
            <a:r>
              <a:rPr sz="1600" b="1" i="0">
                <a:solidFill>
                  <a:srgbClr val="FFFFFF"/>
                </a:solidFill>
              </a:rPr>
              <a:t>トラウマ処理
Trauma Processing</a:t>
            </a:r>
          </a:p>
        </p:txBody>
      </p:sp>
      <p:sp>
        <p:nvSpPr>
          <p:cNvPr id="24" name="TextBox 23"/>
          <p:cNvSpPr txBox="1"/>
          <p:nvPr/>
        </p:nvSpPr>
        <p:spPr>
          <a:xfrm>
            <a:off x="6355080" y="3154680"/>
            <a:ext cx="2560320" cy="1645920"/>
          </a:xfrm>
          <a:prstGeom prst="rect">
            <a:avLst/>
          </a:prstGeom>
          <a:noFill/>
        </p:spPr>
        <p:txBody>
          <a:bodyPr wrap="square">
            <a:spAutoFit/>
          </a:bodyPr>
          <a:lstStyle/>
          <a:p>
            <a:pPr algn="l"/>
            <a:r>
              <a:rPr sz="1300" b="0" i="0">
                <a:solidFill>
                  <a:srgbClr val="FFFFCC"/>
                </a:solidFill>
              </a:rPr>
              <a:t>EMDR
PE / CPT
DBT-PTSD</a:t>
            </a:r>
          </a:p>
        </p:txBody>
      </p:sp>
      <p:sp>
        <p:nvSpPr>
          <p:cNvPr id="25" name="TextBox 24"/>
          <p:cNvSpPr txBox="1"/>
          <p:nvPr/>
        </p:nvSpPr>
        <p:spPr>
          <a:xfrm>
            <a:off x="8869680" y="3108960"/>
            <a:ext cx="365760" cy="457200"/>
          </a:xfrm>
          <a:prstGeom prst="rect">
            <a:avLst/>
          </a:prstGeom>
          <a:noFill/>
        </p:spPr>
        <p:txBody>
          <a:bodyPr wrap="square">
            <a:spAutoFit/>
          </a:bodyPr>
          <a:lstStyle/>
          <a:p>
            <a:pPr algn="ctr"/>
            <a:r>
              <a:rPr sz="2800" b="1" i="0">
                <a:solidFill>
                  <a:srgbClr val="1C1C2E"/>
                </a:solidFill>
              </a:rPr>
              <a:t>→</a:t>
            </a:r>
          </a:p>
        </p:txBody>
      </p:sp>
      <p:sp>
        <p:nvSpPr>
          <p:cNvPr id="26" name="Rectangle 25"/>
          <p:cNvSpPr/>
          <p:nvPr/>
        </p:nvSpPr>
        <p:spPr>
          <a:xfrm>
            <a:off x="9235440" y="2057400"/>
            <a:ext cx="2788920" cy="292608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121408"/>
            <a:ext cx="2560320" cy="320040"/>
          </a:xfrm>
          <a:prstGeom prst="rect">
            <a:avLst/>
          </a:prstGeom>
          <a:noFill/>
        </p:spPr>
        <p:txBody>
          <a:bodyPr wrap="square">
            <a:spAutoFit/>
          </a:bodyPr>
          <a:lstStyle/>
          <a:p>
            <a:pPr algn="l"/>
            <a:r>
              <a:rPr sz="1300" b="0" i="0">
                <a:solidFill>
                  <a:srgbClr val="FFFFFF"/>
                </a:solidFill>
              </a:rPr>
              <a:t>Phase 4</a:t>
            </a:r>
          </a:p>
        </p:txBody>
      </p:sp>
      <p:sp>
        <p:nvSpPr>
          <p:cNvPr id="28" name="TextBox 27"/>
          <p:cNvSpPr txBox="1"/>
          <p:nvPr/>
        </p:nvSpPr>
        <p:spPr>
          <a:xfrm>
            <a:off x="9326880" y="2423160"/>
            <a:ext cx="2560320" cy="685800"/>
          </a:xfrm>
          <a:prstGeom prst="rect">
            <a:avLst/>
          </a:prstGeom>
          <a:noFill/>
        </p:spPr>
        <p:txBody>
          <a:bodyPr wrap="square">
            <a:spAutoFit/>
          </a:bodyPr>
          <a:lstStyle/>
          <a:p>
            <a:pPr algn="l"/>
            <a:r>
              <a:rPr sz="1600" b="1" i="0">
                <a:solidFill>
                  <a:srgbClr val="FFFFFF"/>
                </a:solidFill>
              </a:rPr>
              <a:t>社会統合
Reintegration</a:t>
            </a:r>
          </a:p>
        </p:txBody>
      </p:sp>
      <p:sp>
        <p:nvSpPr>
          <p:cNvPr id="29" name="TextBox 28"/>
          <p:cNvSpPr txBox="1"/>
          <p:nvPr/>
        </p:nvSpPr>
        <p:spPr>
          <a:xfrm>
            <a:off x="9326880" y="3154680"/>
            <a:ext cx="2560320" cy="1645920"/>
          </a:xfrm>
          <a:prstGeom prst="rect">
            <a:avLst/>
          </a:prstGeom>
          <a:noFill/>
        </p:spPr>
        <p:txBody>
          <a:bodyPr wrap="square">
            <a:spAutoFit/>
          </a:bodyPr>
          <a:lstStyle/>
          <a:p>
            <a:pPr algn="l"/>
            <a:r>
              <a:rPr sz="1300" b="0" i="0">
                <a:solidFill>
                  <a:srgbClr val="FFFFCC"/>
                </a:solidFill>
              </a:rPr>
              <a:t>対人スキル訓練
職場復帰
コミュニティ参加</a:t>
            </a:r>
          </a:p>
        </p:txBody>
      </p:sp>
      <p:sp>
        <p:nvSpPr>
          <p:cNvPr id="30" name="Rectangle 29"/>
          <p:cNvSpPr/>
          <p:nvPr/>
        </p:nvSpPr>
        <p:spPr>
          <a:xfrm>
            <a:off x="320040" y="5120640"/>
            <a:ext cx="11548872" cy="548640"/>
          </a:xfrm>
          <a:prstGeom prst="rect">
            <a:avLst/>
          </a:prstGeom>
          <a:solidFill>
            <a:srgbClr val="F4F7FC"/>
          </a:solidFill>
          <a:ln w="2540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166360"/>
            <a:ext cx="11183112" cy="457200"/>
          </a:xfrm>
          <a:prstGeom prst="rect">
            <a:avLst/>
          </a:prstGeom>
          <a:noFill/>
        </p:spPr>
        <p:txBody>
          <a:bodyPr wrap="square">
            <a:spAutoFit/>
          </a:bodyPr>
          <a:lstStyle/>
          <a:p>
            <a:pPr algn="l"/>
            <a:r>
              <a:rPr sz="1600" b="1" i="0">
                <a:solidFill>
                  <a:srgbClr val="E84A5F"/>
                </a:solidFill>
              </a:rPr>
              <a:t>⚠  この順番を守ることが C-PTSD 治療の鉄則。Phase 3 を急いではいけない。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なぜ急いでトラウマ処理をしてはいけないか</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第2章：治療の原則｜2分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7 / 17</a:t>
            </a:r>
          </a:p>
        </p:txBody>
      </p:sp>
      <p:sp>
        <p:nvSpPr>
          <p:cNvPr id="9" name="TextBox 8"/>
          <p:cNvSpPr txBox="1"/>
          <p:nvPr/>
        </p:nvSpPr>
        <p:spPr>
          <a:xfrm>
            <a:off x="365760" y="1463040"/>
            <a:ext cx="11457432" cy="457200"/>
          </a:xfrm>
          <a:prstGeom prst="rect">
            <a:avLst/>
          </a:prstGeom>
          <a:noFill/>
        </p:spPr>
        <p:txBody>
          <a:bodyPr wrap="square">
            <a:spAutoFit/>
          </a:bodyPr>
          <a:lstStyle/>
          <a:p>
            <a:pPr algn="l"/>
            <a:r>
              <a:rPr sz="1700" b="1" i="0">
                <a:solidFill>
                  <a:srgbClr val="1A2F5E"/>
                </a:solidFill>
              </a:rPr>
              <a:t>感情調節スキルが不十分な状態でトラウマ記憶を掘り起こすと…</a:t>
            </a:r>
          </a:p>
        </p:txBody>
      </p:sp>
      <p:sp>
        <p:nvSpPr>
          <p:cNvPr id="10" name="Rectangle 9"/>
          <p:cNvSpPr/>
          <p:nvPr/>
        </p:nvSpPr>
        <p:spPr>
          <a:xfrm>
            <a:off x="320040" y="1965960"/>
            <a:ext cx="5577840" cy="1234440"/>
          </a:xfrm>
          <a:prstGeom prst="rect">
            <a:avLst/>
          </a:prstGeom>
          <a:solidFill>
            <a:srgbClr val="FFFFFF"/>
          </a:solidFill>
          <a:ln w="1905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029968"/>
            <a:ext cx="5303520" cy="384048"/>
          </a:xfrm>
          <a:prstGeom prst="rect">
            <a:avLst/>
          </a:prstGeom>
          <a:noFill/>
        </p:spPr>
        <p:txBody>
          <a:bodyPr wrap="square">
            <a:spAutoFit/>
          </a:bodyPr>
          <a:lstStyle/>
          <a:p>
            <a:pPr algn="l"/>
            <a:r>
              <a:rPr sz="1500" b="1" i="0">
                <a:solidFill>
                  <a:srgbClr val="E84A5F"/>
                </a:solidFill>
              </a:rPr>
              <a:t>❌  解離の悪化</a:t>
            </a:r>
          </a:p>
        </p:txBody>
      </p:sp>
      <p:sp>
        <p:nvSpPr>
          <p:cNvPr id="12" name="TextBox 11"/>
          <p:cNvSpPr txBox="1"/>
          <p:nvPr/>
        </p:nvSpPr>
        <p:spPr>
          <a:xfrm>
            <a:off x="457200" y="2414016"/>
            <a:ext cx="5303520" cy="548640"/>
          </a:xfrm>
          <a:prstGeom prst="rect">
            <a:avLst/>
          </a:prstGeom>
          <a:noFill/>
        </p:spPr>
        <p:txBody>
          <a:bodyPr wrap="square">
            <a:spAutoFit/>
          </a:bodyPr>
          <a:lstStyle/>
          <a:p>
            <a:pPr algn="l"/>
            <a:r>
              <a:rPr sz="1300" b="0" i="0">
                <a:solidFill>
                  <a:srgbClr val="1C1C2E"/>
                </a:solidFill>
              </a:rPr>
              <a:t>現実感が失われ、診察中に「消えて」しまう</a:t>
            </a:r>
          </a:p>
        </p:txBody>
      </p:sp>
      <p:sp>
        <p:nvSpPr>
          <p:cNvPr id="13" name="Rectangle 12"/>
          <p:cNvSpPr/>
          <p:nvPr/>
        </p:nvSpPr>
        <p:spPr>
          <a:xfrm>
            <a:off x="6126479" y="1965960"/>
            <a:ext cx="5577840" cy="1234440"/>
          </a:xfrm>
          <a:prstGeom prst="rect">
            <a:avLst/>
          </a:prstGeom>
          <a:solidFill>
            <a:srgbClr val="FFFFFF"/>
          </a:solidFill>
          <a:ln w="1905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029968"/>
            <a:ext cx="5303520" cy="384048"/>
          </a:xfrm>
          <a:prstGeom prst="rect">
            <a:avLst/>
          </a:prstGeom>
          <a:noFill/>
        </p:spPr>
        <p:txBody>
          <a:bodyPr wrap="square">
            <a:spAutoFit/>
          </a:bodyPr>
          <a:lstStyle/>
          <a:p>
            <a:pPr algn="l"/>
            <a:r>
              <a:rPr sz="1500" b="1" i="0">
                <a:solidFill>
                  <a:srgbClr val="E84A5F"/>
                </a:solidFill>
              </a:rPr>
              <a:t>❌  自傷・希死念慮の増悪</a:t>
            </a:r>
          </a:p>
        </p:txBody>
      </p:sp>
      <p:sp>
        <p:nvSpPr>
          <p:cNvPr id="15" name="TextBox 14"/>
          <p:cNvSpPr txBox="1"/>
          <p:nvPr/>
        </p:nvSpPr>
        <p:spPr>
          <a:xfrm>
            <a:off x="6263640" y="2414016"/>
            <a:ext cx="5303520" cy="548640"/>
          </a:xfrm>
          <a:prstGeom prst="rect">
            <a:avLst/>
          </a:prstGeom>
          <a:noFill/>
        </p:spPr>
        <p:txBody>
          <a:bodyPr wrap="square">
            <a:spAutoFit/>
          </a:bodyPr>
          <a:lstStyle/>
          <a:p>
            <a:pPr algn="l"/>
            <a:r>
              <a:rPr sz="1300" b="0" i="0">
                <a:solidFill>
                  <a:srgbClr val="1C1C2E"/>
                </a:solidFill>
              </a:rPr>
              <a:t>感情の洪水を調節できず、自傷行為が悪化</a:t>
            </a:r>
          </a:p>
        </p:txBody>
      </p:sp>
      <p:sp>
        <p:nvSpPr>
          <p:cNvPr id="16" name="Rectangle 15"/>
          <p:cNvSpPr/>
          <p:nvPr/>
        </p:nvSpPr>
        <p:spPr>
          <a:xfrm>
            <a:off x="320040" y="3383280"/>
            <a:ext cx="5577840" cy="1234440"/>
          </a:xfrm>
          <a:prstGeom prst="rect">
            <a:avLst/>
          </a:prstGeom>
          <a:solidFill>
            <a:srgbClr val="FFFFFF"/>
          </a:solidFill>
          <a:ln w="1905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447288"/>
            <a:ext cx="5303520" cy="384048"/>
          </a:xfrm>
          <a:prstGeom prst="rect">
            <a:avLst/>
          </a:prstGeom>
          <a:noFill/>
        </p:spPr>
        <p:txBody>
          <a:bodyPr wrap="square">
            <a:spAutoFit/>
          </a:bodyPr>
          <a:lstStyle/>
          <a:p>
            <a:pPr algn="l"/>
            <a:r>
              <a:rPr sz="1500" b="1" i="0">
                <a:solidFill>
                  <a:srgbClr val="E84A5F"/>
                </a:solidFill>
              </a:rPr>
              <a:t>❌  治療関係の崩壊</a:t>
            </a:r>
          </a:p>
        </p:txBody>
      </p:sp>
      <p:sp>
        <p:nvSpPr>
          <p:cNvPr id="18" name="TextBox 17"/>
          <p:cNvSpPr txBox="1"/>
          <p:nvPr/>
        </p:nvSpPr>
        <p:spPr>
          <a:xfrm>
            <a:off x="457200" y="3831336"/>
            <a:ext cx="5303520" cy="548640"/>
          </a:xfrm>
          <a:prstGeom prst="rect">
            <a:avLst/>
          </a:prstGeom>
          <a:noFill/>
        </p:spPr>
        <p:txBody>
          <a:bodyPr wrap="square">
            <a:spAutoFit/>
          </a:bodyPr>
          <a:lstStyle/>
          <a:p>
            <a:pPr algn="l"/>
            <a:r>
              <a:rPr sz="1300" b="0" i="0">
                <a:solidFill>
                  <a:srgbClr val="1C1C2E"/>
                </a:solidFill>
              </a:rPr>
              <a:t>セラピストへの不信感・怒りが爆発する</a:t>
            </a:r>
          </a:p>
        </p:txBody>
      </p:sp>
      <p:sp>
        <p:nvSpPr>
          <p:cNvPr id="19" name="Rectangle 18"/>
          <p:cNvSpPr/>
          <p:nvPr/>
        </p:nvSpPr>
        <p:spPr>
          <a:xfrm>
            <a:off x="6126479" y="3383280"/>
            <a:ext cx="5577840" cy="1234440"/>
          </a:xfrm>
          <a:prstGeom prst="rect">
            <a:avLst/>
          </a:prstGeom>
          <a:solidFill>
            <a:srgbClr val="E84A5F"/>
          </a:solidFill>
          <a:ln w="1905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447288"/>
            <a:ext cx="5303520" cy="384048"/>
          </a:xfrm>
          <a:prstGeom prst="rect">
            <a:avLst/>
          </a:prstGeom>
          <a:noFill/>
        </p:spPr>
        <p:txBody>
          <a:bodyPr wrap="square">
            <a:spAutoFit/>
          </a:bodyPr>
          <a:lstStyle/>
          <a:p>
            <a:pPr algn="l"/>
            <a:r>
              <a:rPr sz="1500" b="1" i="0">
                <a:solidFill>
                  <a:srgbClr val="FFFFFF"/>
                </a:solidFill>
              </a:rPr>
              <a:t>❌  治療脱落</a:t>
            </a:r>
          </a:p>
        </p:txBody>
      </p:sp>
      <p:sp>
        <p:nvSpPr>
          <p:cNvPr id="21" name="TextBox 20"/>
          <p:cNvSpPr txBox="1"/>
          <p:nvPr/>
        </p:nvSpPr>
        <p:spPr>
          <a:xfrm>
            <a:off x="6263640" y="3831336"/>
            <a:ext cx="5303520" cy="548640"/>
          </a:xfrm>
          <a:prstGeom prst="rect">
            <a:avLst/>
          </a:prstGeom>
          <a:noFill/>
        </p:spPr>
        <p:txBody>
          <a:bodyPr wrap="square">
            <a:spAutoFit/>
          </a:bodyPr>
          <a:lstStyle/>
          <a:p>
            <a:pPr algn="l"/>
            <a:r>
              <a:rPr sz="1300" b="0" i="0">
                <a:solidFill>
                  <a:srgbClr val="FFFFFF"/>
                </a:solidFill>
              </a:rPr>
              <a:t>DBT-PTSD vs CPT 比較RCTでCPT群の39%が脱落</a:t>
            </a:r>
          </a:p>
        </p:txBody>
      </p:sp>
      <p:sp>
        <p:nvSpPr>
          <p:cNvPr id="22" name="Rectangle 21"/>
          <p:cNvSpPr/>
          <p:nvPr/>
        </p:nvSpPr>
        <p:spPr>
          <a:xfrm>
            <a:off x="320040" y="4892040"/>
            <a:ext cx="11548872" cy="6858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956048"/>
            <a:ext cx="11183112" cy="548640"/>
          </a:xfrm>
          <a:prstGeom prst="rect">
            <a:avLst/>
          </a:prstGeom>
          <a:noFill/>
        </p:spPr>
        <p:txBody>
          <a:bodyPr wrap="square">
            <a:spAutoFit/>
          </a:bodyPr>
          <a:lstStyle/>
          <a:p>
            <a:pPr algn="ctr"/>
            <a:r>
              <a:rPr sz="2200" b="1" i="0">
                <a:solidFill>
                  <a:srgbClr val="FFFFFF"/>
                </a:solidFill>
              </a:rPr>
              <a:t>「急がば回れ」—— これが C-PTSD 治療の核心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フェーズ1〜4の実際</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第2章：治療の原則｜1分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8 / 17</a:t>
            </a:r>
          </a:p>
        </p:txBody>
      </p:sp>
      <p:sp>
        <p:nvSpPr>
          <p:cNvPr id="9" name="Rectangle 8"/>
          <p:cNvSpPr/>
          <p:nvPr/>
        </p:nvSpPr>
        <p:spPr>
          <a:xfrm>
            <a:off x="320040" y="1417320"/>
            <a:ext cx="2788920" cy="4114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481328"/>
            <a:ext cx="2560320" cy="457200"/>
          </a:xfrm>
          <a:prstGeom prst="rect">
            <a:avLst/>
          </a:prstGeom>
          <a:noFill/>
        </p:spPr>
        <p:txBody>
          <a:bodyPr wrap="square">
            <a:spAutoFit/>
          </a:bodyPr>
          <a:lstStyle/>
          <a:p>
            <a:pPr algn="l"/>
            <a:r>
              <a:rPr sz="1400" b="1" i="0">
                <a:solidFill>
                  <a:srgbClr val="FFFFFF"/>
                </a:solidFill>
              </a:rPr>
              <a:t>Phase 1  安全確立</a:t>
            </a:r>
          </a:p>
        </p:txBody>
      </p:sp>
      <p:sp>
        <p:nvSpPr>
          <p:cNvPr id="11" name="TextBox 10"/>
          <p:cNvSpPr txBox="1"/>
          <p:nvPr/>
        </p:nvSpPr>
        <p:spPr>
          <a:xfrm>
            <a:off x="411480" y="2011680"/>
            <a:ext cx="2560320" cy="731520"/>
          </a:xfrm>
          <a:prstGeom prst="rect">
            <a:avLst/>
          </a:prstGeom>
          <a:noFill/>
        </p:spPr>
        <p:txBody>
          <a:bodyPr wrap="square">
            <a:spAutoFit/>
          </a:bodyPr>
          <a:lstStyle/>
          <a:p>
            <a:pPr algn="l"/>
            <a:r>
              <a:rPr sz="1300" b="0" i="0">
                <a:solidFill>
                  <a:srgbClr val="FFFFFF"/>
                </a:solidFill>
              </a:rPr>
              <a:t>• DV・ホームレス・自傷の有無確認</a:t>
            </a:r>
          </a:p>
        </p:txBody>
      </p:sp>
      <p:sp>
        <p:nvSpPr>
          <p:cNvPr id="12" name="TextBox 11"/>
          <p:cNvSpPr txBox="1"/>
          <p:nvPr/>
        </p:nvSpPr>
        <p:spPr>
          <a:xfrm>
            <a:off x="411480" y="2834640"/>
            <a:ext cx="2560320" cy="731520"/>
          </a:xfrm>
          <a:prstGeom prst="rect">
            <a:avLst/>
          </a:prstGeom>
          <a:noFill/>
        </p:spPr>
        <p:txBody>
          <a:bodyPr wrap="square">
            <a:spAutoFit/>
          </a:bodyPr>
          <a:lstStyle/>
          <a:p>
            <a:pPr algn="l"/>
            <a:r>
              <a:rPr sz="1300" b="0" i="0">
                <a:solidFill>
                  <a:srgbClr val="FFFFFF"/>
                </a:solidFill>
              </a:rPr>
              <a:t>• シェルターや法的介入の手配</a:t>
            </a:r>
          </a:p>
        </p:txBody>
      </p:sp>
      <p:sp>
        <p:nvSpPr>
          <p:cNvPr id="13" name="TextBox 12"/>
          <p:cNvSpPr txBox="1"/>
          <p:nvPr/>
        </p:nvSpPr>
        <p:spPr>
          <a:xfrm>
            <a:off x="411480" y="3657600"/>
            <a:ext cx="2560320" cy="731520"/>
          </a:xfrm>
          <a:prstGeom prst="rect">
            <a:avLst/>
          </a:prstGeom>
          <a:noFill/>
        </p:spPr>
        <p:txBody>
          <a:bodyPr wrap="square">
            <a:spAutoFit/>
          </a:bodyPr>
          <a:lstStyle/>
          <a:p>
            <a:pPr algn="l"/>
            <a:r>
              <a:rPr sz="1300" b="0" i="0">
                <a:solidFill>
                  <a:srgbClr val="FFFFFF"/>
                </a:solidFill>
              </a:rPr>
              <a:t>• 社会的資源（行政・NPO）の整備</a:t>
            </a:r>
          </a:p>
        </p:txBody>
      </p:sp>
      <p:sp>
        <p:nvSpPr>
          <p:cNvPr id="14" name="Rectangle 13"/>
          <p:cNvSpPr/>
          <p:nvPr/>
        </p:nvSpPr>
        <p:spPr>
          <a:xfrm>
            <a:off x="3291840" y="1417320"/>
            <a:ext cx="2788920" cy="41148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481328"/>
            <a:ext cx="2560320" cy="457200"/>
          </a:xfrm>
          <a:prstGeom prst="rect">
            <a:avLst/>
          </a:prstGeom>
          <a:noFill/>
        </p:spPr>
        <p:txBody>
          <a:bodyPr wrap="square">
            <a:spAutoFit/>
          </a:bodyPr>
          <a:lstStyle/>
          <a:p>
            <a:pPr algn="l"/>
            <a:r>
              <a:rPr sz="1400" b="1" i="0">
                <a:solidFill>
                  <a:srgbClr val="FFFFFF"/>
                </a:solidFill>
              </a:rPr>
              <a:t>Phase 2  安定化</a:t>
            </a:r>
          </a:p>
        </p:txBody>
      </p:sp>
      <p:sp>
        <p:nvSpPr>
          <p:cNvPr id="16" name="TextBox 15"/>
          <p:cNvSpPr txBox="1"/>
          <p:nvPr/>
        </p:nvSpPr>
        <p:spPr>
          <a:xfrm>
            <a:off x="3383280" y="2011680"/>
            <a:ext cx="2560320" cy="731520"/>
          </a:xfrm>
          <a:prstGeom prst="rect">
            <a:avLst/>
          </a:prstGeom>
          <a:noFill/>
        </p:spPr>
        <p:txBody>
          <a:bodyPr wrap="square">
            <a:spAutoFit/>
          </a:bodyPr>
          <a:lstStyle/>
          <a:p>
            <a:pPr algn="l"/>
            <a:r>
              <a:rPr sz="1300" b="0" i="0">
                <a:solidFill>
                  <a:srgbClr val="FFFFFF"/>
                </a:solidFill>
              </a:rPr>
              <a:t>• グラウンディング（「今ここにいる」感覚の訓練）</a:t>
            </a:r>
          </a:p>
        </p:txBody>
      </p:sp>
      <p:sp>
        <p:nvSpPr>
          <p:cNvPr id="17" name="TextBox 16"/>
          <p:cNvSpPr txBox="1"/>
          <p:nvPr/>
        </p:nvSpPr>
        <p:spPr>
          <a:xfrm>
            <a:off x="3383280" y="2834640"/>
            <a:ext cx="2560320" cy="731520"/>
          </a:xfrm>
          <a:prstGeom prst="rect">
            <a:avLst/>
          </a:prstGeom>
          <a:noFill/>
        </p:spPr>
        <p:txBody>
          <a:bodyPr wrap="square">
            <a:spAutoFit/>
          </a:bodyPr>
          <a:lstStyle/>
          <a:p>
            <a:pPr algn="l"/>
            <a:r>
              <a:rPr sz="1300" b="0" i="0">
                <a:solidFill>
                  <a:srgbClr val="FFFFFF"/>
                </a:solidFill>
              </a:rPr>
              <a:t>• 感情日記・感情のラベリング</a:t>
            </a:r>
          </a:p>
        </p:txBody>
      </p:sp>
      <p:sp>
        <p:nvSpPr>
          <p:cNvPr id="18" name="TextBox 17"/>
          <p:cNvSpPr txBox="1"/>
          <p:nvPr/>
        </p:nvSpPr>
        <p:spPr>
          <a:xfrm>
            <a:off x="3383280" y="3657600"/>
            <a:ext cx="2560320" cy="731520"/>
          </a:xfrm>
          <a:prstGeom prst="rect">
            <a:avLst/>
          </a:prstGeom>
          <a:noFill/>
        </p:spPr>
        <p:txBody>
          <a:bodyPr wrap="square">
            <a:spAutoFit/>
          </a:bodyPr>
          <a:lstStyle/>
          <a:p>
            <a:pPr algn="l"/>
            <a:r>
              <a:rPr sz="1300" b="0" i="0">
                <a:solidFill>
                  <a:srgbClr val="FFFFFF"/>
                </a:solidFill>
              </a:rPr>
              <a:t>• マインドフルネス・呼吸法</a:t>
            </a:r>
          </a:p>
        </p:txBody>
      </p:sp>
      <p:sp>
        <p:nvSpPr>
          <p:cNvPr id="19" name="Rectangle 18"/>
          <p:cNvSpPr/>
          <p:nvPr/>
        </p:nvSpPr>
        <p:spPr>
          <a:xfrm>
            <a:off x="6263640" y="1417320"/>
            <a:ext cx="2788920" cy="411480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481328"/>
            <a:ext cx="2560320" cy="457200"/>
          </a:xfrm>
          <a:prstGeom prst="rect">
            <a:avLst/>
          </a:prstGeom>
          <a:noFill/>
        </p:spPr>
        <p:txBody>
          <a:bodyPr wrap="square">
            <a:spAutoFit/>
          </a:bodyPr>
          <a:lstStyle/>
          <a:p>
            <a:pPr algn="l"/>
            <a:r>
              <a:rPr sz="1400" b="1" i="0">
                <a:solidFill>
                  <a:srgbClr val="FFFFFF"/>
                </a:solidFill>
              </a:rPr>
              <a:t>Phase 3  トラウマ処理</a:t>
            </a:r>
          </a:p>
        </p:txBody>
      </p:sp>
      <p:sp>
        <p:nvSpPr>
          <p:cNvPr id="21" name="TextBox 20"/>
          <p:cNvSpPr txBox="1"/>
          <p:nvPr/>
        </p:nvSpPr>
        <p:spPr>
          <a:xfrm>
            <a:off x="6355080" y="2011680"/>
            <a:ext cx="2560320" cy="731520"/>
          </a:xfrm>
          <a:prstGeom prst="rect">
            <a:avLst/>
          </a:prstGeom>
          <a:noFill/>
        </p:spPr>
        <p:txBody>
          <a:bodyPr wrap="square">
            <a:spAutoFit/>
          </a:bodyPr>
          <a:lstStyle/>
          <a:p>
            <a:pPr algn="l"/>
            <a:r>
              <a:rPr sz="1300" b="0" i="0">
                <a:solidFill>
                  <a:srgbClr val="FFFFFF"/>
                </a:solidFill>
              </a:rPr>
              <a:t>• EMDR（眼球運動による脱感作と再処理）</a:t>
            </a:r>
          </a:p>
        </p:txBody>
      </p:sp>
      <p:sp>
        <p:nvSpPr>
          <p:cNvPr id="22" name="TextBox 21"/>
          <p:cNvSpPr txBox="1"/>
          <p:nvPr/>
        </p:nvSpPr>
        <p:spPr>
          <a:xfrm>
            <a:off x="6355080" y="2834640"/>
            <a:ext cx="2560320" cy="731520"/>
          </a:xfrm>
          <a:prstGeom prst="rect">
            <a:avLst/>
          </a:prstGeom>
          <a:noFill/>
        </p:spPr>
        <p:txBody>
          <a:bodyPr wrap="square">
            <a:spAutoFit/>
          </a:bodyPr>
          <a:lstStyle/>
          <a:p>
            <a:pPr algn="l"/>
            <a:r>
              <a:rPr sz="1300" b="0" i="0">
                <a:solidFill>
                  <a:srgbClr val="FFFFFF"/>
                </a:solidFill>
              </a:rPr>
              <a:t>• PE（持続エクスポージャー）</a:t>
            </a:r>
          </a:p>
        </p:txBody>
      </p:sp>
      <p:sp>
        <p:nvSpPr>
          <p:cNvPr id="23" name="TextBox 22"/>
          <p:cNvSpPr txBox="1"/>
          <p:nvPr/>
        </p:nvSpPr>
        <p:spPr>
          <a:xfrm>
            <a:off x="6355080" y="3657600"/>
            <a:ext cx="2560320" cy="731520"/>
          </a:xfrm>
          <a:prstGeom prst="rect">
            <a:avLst/>
          </a:prstGeom>
          <a:noFill/>
        </p:spPr>
        <p:txBody>
          <a:bodyPr wrap="square">
            <a:spAutoFit/>
          </a:bodyPr>
          <a:lstStyle/>
          <a:p>
            <a:pPr algn="l"/>
            <a:r>
              <a:rPr sz="1300" b="0" i="0">
                <a:solidFill>
                  <a:srgbClr val="FFFFFF"/>
                </a:solidFill>
              </a:rPr>
              <a:t>• CPT / DBT-PTSD</a:t>
            </a:r>
          </a:p>
        </p:txBody>
      </p:sp>
      <p:sp>
        <p:nvSpPr>
          <p:cNvPr id="24" name="Rectangle 23"/>
          <p:cNvSpPr/>
          <p:nvPr/>
        </p:nvSpPr>
        <p:spPr>
          <a:xfrm>
            <a:off x="9235440" y="1417320"/>
            <a:ext cx="2788920" cy="41148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1481328"/>
            <a:ext cx="2560320" cy="457200"/>
          </a:xfrm>
          <a:prstGeom prst="rect">
            <a:avLst/>
          </a:prstGeom>
          <a:noFill/>
        </p:spPr>
        <p:txBody>
          <a:bodyPr wrap="square">
            <a:spAutoFit/>
          </a:bodyPr>
          <a:lstStyle/>
          <a:p>
            <a:pPr algn="l"/>
            <a:r>
              <a:rPr sz="1400" b="1" i="0">
                <a:solidFill>
                  <a:srgbClr val="FFFFFF"/>
                </a:solidFill>
              </a:rPr>
              <a:t>Phase 4  社会統合</a:t>
            </a:r>
          </a:p>
        </p:txBody>
      </p:sp>
      <p:sp>
        <p:nvSpPr>
          <p:cNvPr id="26" name="TextBox 25"/>
          <p:cNvSpPr txBox="1"/>
          <p:nvPr/>
        </p:nvSpPr>
        <p:spPr>
          <a:xfrm>
            <a:off x="9326880" y="2011680"/>
            <a:ext cx="2560320" cy="731520"/>
          </a:xfrm>
          <a:prstGeom prst="rect">
            <a:avLst/>
          </a:prstGeom>
          <a:noFill/>
        </p:spPr>
        <p:txBody>
          <a:bodyPr wrap="square">
            <a:spAutoFit/>
          </a:bodyPr>
          <a:lstStyle/>
          <a:p>
            <a:pPr algn="l"/>
            <a:r>
              <a:rPr sz="1300" b="0" i="0">
                <a:solidFill>
                  <a:srgbClr val="FFFFFF"/>
                </a:solidFill>
              </a:rPr>
              <a:t>• 対人スキルトレーニング</a:t>
            </a:r>
          </a:p>
        </p:txBody>
      </p:sp>
      <p:sp>
        <p:nvSpPr>
          <p:cNvPr id="27" name="TextBox 26"/>
          <p:cNvSpPr txBox="1"/>
          <p:nvPr/>
        </p:nvSpPr>
        <p:spPr>
          <a:xfrm>
            <a:off x="9326880" y="2834640"/>
            <a:ext cx="2560320" cy="731520"/>
          </a:xfrm>
          <a:prstGeom prst="rect">
            <a:avLst/>
          </a:prstGeom>
          <a:noFill/>
        </p:spPr>
        <p:txBody>
          <a:bodyPr wrap="square">
            <a:spAutoFit/>
          </a:bodyPr>
          <a:lstStyle/>
          <a:p>
            <a:pPr algn="l"/>
            <a:r>
              <a:rPr sz="1300" b="0" i="0">
                <a:solidFill>
                  <a:srgbClr val="FFFFFF"/>
                </a:solidFill>
              </a:rPr>
              <a:t>• 職場復帰・就労支援</a:t>
            </a:r>
          </a:p>
        </p:txBody>
      </p:sp>
      <p:sp>
        <p:nvSpPr>
          <p:cNvPr id="28" name="TextBox 27"/>
          <p:cNvSpPr txBox="1"/>
          <p:nvPr/>
        </p:nvSpPr>
        <p:spPr>
          <a:xfrm>
            <a:off x="9326880" y="3657600"/>
            <a:ext cx="2560320" cy="731520"/>
          </a:xfrm>
          <a:prstGeom prst="rect">
            <a:avLst/>
          </a:prstGeom>
          <a:noFill/>
        </p:spPr>
        <p:txBody>
          <a:bodyPr wrap="square">
            <a:spAutoFit/>
          </a:bodyPr>
          <a:lstStyle/>
          <a:p>
            <a:pPr algn="l"/>
            <a:r>
              <a:rPr sz="1300" b="0" i="0">
                <a:solidFill>
                  <a:srgbClr val="FFFFFF"/>
                </a:solidFill>
              </a:rPr>
              <a:t>• コミュニティ参加・ピアサポート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EMDR — 眼球運動による脱感作と再処理</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第3章：各治療法のエビデンス｜2分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9 / 17  ｜  PMID: 30857567（Karatzias T et al., Psychological Medicine, 2019）</a:t>
            </a:r>
          </a:p>
        </p:txBody>
      </p:sp>
      <p:sp>
        <p:nvSpPr>
          <p:cNvPr id="9" name="Rectangle 8"/>
          <p:cNvSpPr/>
          <p:nvPr/>
        </p:nvSpPr>
        <p:spPr>
          <a:xfrm>
            <a:off x="320040" y="1417320"/>
            <a:ext cx="4114800" cy="25603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00200"/>
            <a:ext cx="3840480" cy="594360"/>
          </a:xfrm>
          <a:prstGeom prst="rect">
            <a:avLst/>
          </a:prstGeom>
          <a:noFill/>
        </p:spPr>
        <p:txBody>
          <a:bodyPr wrap="square">
            <a:spAutoFit/>
          </a:bodyPr>
          <a:lstStyle/>
          <a:p>
            <a:pPr algn="ctr"/>
            <a:r>
              <a:rPr sz="1400" b="0" i="0">
                <a:solidFill>
                  <a:srgbClr val="FFFFFF"/>
                </a:solidFill>
              </a:rPr>
              <a:t>効果量
Hedges' g</a:t>
            </a:r>
          </a:p>
        </p:txBody>
      </p:sp>
      <p:sp>
        <p:nvSpPr>
          <p:cNvPr id="11" name="TextBox 10"/>
          <p:cNvSpPr txBox="1"/>
          <p:nvPr/>
        </p:nvSpPr>
        <p:spPr>
          <a:xfrm>
            <a:off x="457200" y="2103120"/>
            <a:ext cx="3840480" cy="1005840"/>
          </a:xfrm>
          <a:prstGeom prst="rect">
            <a:avLst/>
          </a:prstGeom>
          <a:noFill/>
        </p:spPr>
        <p:txBody>
          <a:bodyPr wrap="square">
            <a:spAutoFit/>
          </a:bodyPr>
          <a:lstStyle/>
          <a:p>
            <a:pPr algn="ctr"/>
            <a:r>
              <a:rPr sz="5200" b="1" i="0">
                <a:solidFill>
                  <a:srgbClr val="FFC107"/>
                </a:solidFill>
              </a:rPr>
              <a:t>−1.26</a:t>
            </a:r>
          </a:p>
        </p:txBody>
      </p:sp>
      <p:sp>
        <p:nvSpPr>
          <p:cNvPr id="12" name="TextBox 11"/>
          <p:cNvSpPr txBox="1"/>
          <p:nvPr/>
        </p:nvSpPr>
        <p:spPr>
          <a:xfrm>
            <a:off x="457200" y="3063240"/>
            <a:ext cx="3840480" cy="365760"/>
          </a:xfrm>
          <a:prstGeom prst="rect">
            <a:avLst/>
          </a:prstGeom>
          <a:noFill/>
        </p:spPr>
        <p:txBody>
          <a:bodyPr wrap="square">
            <a:spAutoFit/>
          </a:bodyPr>
          <a:lstStyle/>
          <a:p>
            <a:pPr algn="ctr"/>
            <a:r>
              <a:rPr sz="1300" b="0" i="0">
                <a:solidFill>
                  <a:srgbClr val="FFFFFF"/>
                </a:solidFill>
              </a:rPr>
              <a:t>非常に大きな効果量</a:t>
            </a:r>
          </a:p>
        </p:txBody>
      </p:sp>
      <p:sp>
        <p:nvSpPr>
          <p:cNvPr id="13" name="TextBox 12"/>
          <p:cNvSpPr txBox="1"/>
          <p:nvPr/>
        </p:nvSpPr>
        <p:spPr>
          <a:xfrm>
            <a:off x="457200" y="3383280"/>
            <a:ext cx="3840480" cy="365760"/>
          </a:xfrm>
          <a:prstGeom prst="rect">
            <a:avLst/>
          </a:prstGeom>
          <a:noFill/>
        </p:spPr>
        <p:txBody>
          <a:bodyPr wrap="square">
            <a:spAutoFit/>
          </a:bodyPr>
          <a:lstStyle/>
          <a:p>
            <a:pPr algn="ctr"/>
            <a:r>
              <a:rPr sz="1100" b="0" i="0">
                <a:solidFill>
                  <a:srgbClr val="A0D8E8"/>
                </a:solidFill>
              </a:rPr>
              <a:t>RCT 51件メタ解析（Karatzias 2019）</a:t>
            </a:r>
          </a:p>
        </p:txBody>
      </p:sp>
      <p:sp>
        <p:nvSpPr>
          <p:cNvPr id="14" name="Rectangle 13"/>
          <p:cNvSpPr/>
          <p:nvPr/>
        </p:nvSpPr>
        <p:spPr>
          <a:xfrm>
            <a:off x="4663440" y="1417320"/>
            <a:ext cx="7178040" cy="141732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1508760"/>
            <a:ext cx="6903720" cy="320040"/>
          </a:xfrm>
          <a:prstGeom prst="rect">
            <a:avLst/>
          </a:prstGeom>
          <a:noFill/>
        </p:spPr>
        <p:txBody>
          <a:bodyPr wrap="square">
            <a:spAutoFit/>
          </a:bodyPr>
          <a:lstStyle/>
          <a:p>
            <a:pPr algn="l"/>
            <a:r>
              <a:rPr sz="1400" b="1" i="0">
                <a:solidFill>
                  <a:srgbClr val="007A87"/>
                </a:solidFill>
              </a:rPr>
              <a:t>主な知見</a:t>
            </a:r>
          </a:p>
        </p:txBody>
      </p:sp>
      <p:sp>
        <p:nvSpPr>
          <p:cNvPr id="16" name="TextBox 15"/>
          <p:cNvSpPr txBox="1"/>
          <p:nvPr/>
        </p:nvSpPr>
        <p:spPr>
          <a:xfrm>
            <a:off x="4800600" y="1828800"/>
            <a:ext cx="6903720" cy="868680"/>
          </a:xfrm>
          <a:prstGeom prst="rect">
            <a:avLst/>
          </a:prstGeom>
          <a:noFill/>
        </p:spPr>
        <p:txBody>
          <a:bodyPr wrap="square">
            <a:spAutoFit/>
          </a:bodyPr>
          <a:lstStyle/>
          <a:p>
            <a:pPr>
              <a:spcBef>
                <a:spcPts val="300"/>
              </a:spcBef>
            </a:pPr>
            <a:r>
              <a:rPr sz="1500">
                <a:solidFill>
                  <a:srgbClr val="1C1C2E"/>
                </a:solidFill>
              </a:rPr>
              <a:t>●  否定的自己概念・対人関係にも中等度〜大の効果量（k=4）</a:t>
            </a:r>
          </a:p>
          <a:p>
            <a:pPr>
              <a:spcBef>
                <a:spcPts val="300"/>
              </a:spcBef>
            </a:pPr>
            <a:r>
              <a:rPr sz="1500">
                <a:solidFill>
                  <a:srgbClr val="1C1C2E"/>
                </a:solidFill>
              </a:rPr>
              <a:t>●  青年C-PTSDへの3ヶ月EMDRで全指標が有意改善（Rolling 2024）</a:t>
            </a:r>
          </a:p>
        </p:txBody>
      </p:sp>
      <p:sp>
        <p:nvSpPr>
          <p:cNvPr id="17" name="Rectangle 16"/>
          <p:cNvSpPr/>
          <p:nvPr/>
        </p:nvSpPr>
        <p:spPr>
          <a:xfrm>
            <a:off x="4663440" y="2926080"/>
            <a:ext cx="7178040" cy="1051560"/>
          </a:xfrm>
          <a:prstGeom prst="rect">
            <a:avLst/>
          </a:prstGeom>
          <a:solidFill>
            <a:srgbClr val="FFFFFF"/>
          </a:solidFill>
          <a:ln w="1905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999232"/>
            <a:ext cx="4572000" cy="347472"/>
          </a:xfrm>
          <a:prstGeom prst="rect">
            <a:avLst/>
          </a:prstGeom>
          <a:noFill/>
        </p:spPr>
        <p:txBody>
          <a:bodyPr wrap="square">
            <a:spAutoFit/>
          </a:bodyPr>
          <a:lstStyle/>
          <a:p>
            <a:pPr algn="l"/>
            <a:r>
              <a:rPr sz="1300" b="1" i="0">
                <a:solidFill>
                  <a:srgbClr val="E84A5F"/>
                </a:solidFill>
              </a:rPr>
              <a:t>⚠  限界・注意点</a:t>
            </a:r>
          </a:p>
        </p:txBody>
      </p:sp>
      <p:sp>
        <p:nvSpPr>
          <p:cNvPr id="19" name="TextBox 18"/>
          <p:cNvSpPr txBox="1"/>
          <p:nvPr/>
        </p:nvSpPr>
        <p:spPr>
          <a:xfrm>
            <a:off x="4800600" y="3337560"/>
            <a:ext cx="6858000" cy="594360"/>
          </a:xfrm>
          <a:prstGeom prst="rect">
            <a:avLst/>
          </a:prstGeom>
          <a:noFill/>
        </p:spPr>
        <p:txBody>
          <a:bodyPr wrap="square">
            <a:spAutoFit/>
          </a:bodyPr>
          <a:lstStyle/>
          <a:p>
            <a:pPr algn="l"/>
            <a:r>
              <a:rPr sz="1300" b="0" i="0">
                <a:solidFill>
                  <a:srgbClr val="1C1C2E"/>
                </a:solidFill>
              </a:rPr>
              <a:t>解離症状が顕著な症例では効果が著しく低下
幼少期発症トラウマほど効果が下がる傾向
→ 解離安定化介入を必ず先行させること</a:t>
            </a:r>
          </a:p>
        </p:txBody>
      </p:sp>
      <p:sp>
        <p:nvSpPr>
          <p:cNvPr id="20" name="Rectangle 19"/>
          <p:cNvSpPr/>
          <p:nvPr/>
        </p:nvSpPr>
        <p:spPr>
          <a:xfrm>
            <a:off x="320040" y="4114800"/>
            <a:ext cx="1154887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160520"/>
            <a:ext cx="11183112" cy="411480"/>
          </a:xfrm>
          <a:prstGeom prst="rect">
            <a:avLst/>
          </a:prstGeom>
          <a:noFill/>
        </p:spPr>
        <p:txBody>
          <a:bodyPr wrap="square">
            <a:spAutoFit/>
          </a:bodyPr>
          <a:lstStyle/>
          <a:p>
            <a:pPr algn="ctr"/>
            <a:r>
              <a:rPr sz="1500" b="1" i="0">
                <a:solidFill>
                  <a:srgbClr val="FFFFFF"/>
                </a:solidFill>
              </a:rPr>
              <a:t>「解離がある → まず安定化 → その後EMDR」の順番を守る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TF-CBT / PE / CPT — 強力だが脱落率に注意</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第3章：各治療法のエビデンス｜2分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10 / 17  ｜  PMID: 40737648（Korovynskyi I et al., 2025）/ PMID: 32697288（Bohus M et al., 2020）</a:t>
            </a:r>
          </a:p>
        </p:txBody>
      </p:sp>
      <p:sp>
        <p:nvSpPr>
          <p:cNvPr id="9" name="Rectangle 8"/>
          <p:cNvSpPr/>
          <p:nvPr/>
        </p:nvSpPr>
        <p:spPr>
          <a:xfrm>
            <a:off x="320040" y="1417320"/>
            <a:ext cx="2560320" cy="22860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508760"/>
            <a:ext cx="2377440" cy="548640"/>
          </a:xfrm>
          <a:prstGeom prst="rect">
            <a:avLst/>
          </a:prstGeom>
          <a:noFill/>
        </p:spPr>
        <p:txBody>
          <a:bodyPr wrap="square">
            <a:spAutoFit/>
          </a:bodyPr>
          <a:lstStyle/>
          <a:p>
            <a:pPr algn="ctr"/>
            <a:r>
              <a:rPr sz="1400" b="1" i="0">
                <a:solidFill>
                  <a:srgbClr val="FFFFFF"/>
                </a:solidFill>
              </a:rPr>
              <a:t>PE
持続エクスポージャー</a:t>
            </a:r>
          </a:p>
        </p:txBody>
      </p:sp>
      <p:sp>
        <p:nvSpPr>
          <p:cNvPr id="11" name="TextBox 10"/>
          <p:cNvSpPr txBox="1"/>
          <p:nvPr/>
        </p:nvSpPr>
        <p:spPr>
          <a:xfrm>
            <a:off x="411480" y="2057400"/>
            <a:ext cx="2377440" cy="640080"/>
          </a:xfrm>
          <a:prstGeom prst="rect">
            <a:avLst/>
          </a:prstGeom>
          <a:noFill/>
        </p:spPr>
        <p:txBody>
          <a:bodyPr wrap="square">
            <a:spAutoFit/>
          </a:bodyPr>
          <a:lstStyle/>
          <a:p>
            <a:pPr algn="ctr"/>
            <a:r>
              <a:rPr sz="3000" b="1" i="0">
                <a:solidFill>
                  <a:srgbClr val="FFC107"/>
                </a:solidFill>
              </a:rPr>
              <a:t>d = 1.24</a:t>
            </a:r>
          </a:p>
        </p:txBody>
      </p:sp>
      <p:sp>
        <p:nvSpPr>
          <p:cNvPr id="12" name="TextBox 11"/>
          <p:cNvSpPr txBox="1"/>
          <p:nvPr/>
        </p:nvSpPr>
        <p:spPr>
          <a:xfrm>
            <a:off x="411480" y="2697480"/>
            <a:ext cx="2377440" cy="365760"/>
          </a:xfrm>
          <a:prstGeom prst="rect">
            <a:avLst/>
          </a:prstGeom>
          <a:noFill/>
        </p:spPr>
        <p:txBody>
          <a:bodyPr wrap="square">
            <a:spAutoFit/>
          </a:bodyPr>
          <a:lstStyle/>
          <a:p>
            <a:pPr algn="ctr"/>
            <a:r>
              <a:rPr sz="1400" b="0" i="0">
                <a:solidFill>
                  <a:srgbClr val="A0D0FF"/>
                </a:solidFill>
              </a:rPr>
              <a:t>反応率 68%</a:t>
            </a:r>
          </a:p>
        </p:txBody>
      </p:sp>
      <p:sp>
        <p:nvSpPr>
          <p:cNvPr id="13" name="Rectangle 12"/>
          <p:cNvSpPr/>
          <p:nvPr/>
        </p:nvSpPr>
        <p:spPr>
          <a:xfrm>
            <a:off x="3063240" y="1417320"/>
            <a:ext cx="2560320" cy="22860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4680" y="1508760"/>
            <a:ext cx="2377440" cy="548640"/>
          </a:xfrm>
          <a:prstGeom prst="rect">
            <a:avLst/>
          </a:prstGeom>
          <a:noFill/>
        </p:spPr>
        <p:txBody>
          <a:bodyPr wrap="square">
            <a:spAutoFit/>
          </a:bodyPr>
          <a:lstStyle/>
          <a:p>
            <a:pPr algn="ctr"/>
            <a:r>
              <a:rPr sz="1400" b="1" i="0">
                <a:solidFill>
                  <a:srgbClr val="FFFFFF"/>
                </a:solidFill>
              </a:rPr>
              <a:t>CPT
認知処理療法</a:t>
            </a:r>
          </a:p>
        </p:txBody>
      </p:sp>
      <p:sp>
        <p:nvSpPr>
          <p:cNvPr id="15" name="TextBox 14"/>
          <p:cNvSpPr txBox="1"/>
          <p:nvPr/>
        </p:nvSpPr>
        <p:spPr>
          <a:xfrm>
            <a:off x="3154680" y="2057400"/>
            <a:ext cx="2377440" cy="640080"/>
          </a:xfrm>
          <a:prstGeom prst="rect">
            <a:avLst/>
          </a:prstGeom>
          <a:noFill/>
        </p:spPr>
        <p:txBody>
          <a:bodyPr wrap="square">
            <a:spAutoFit/>
          </a:bodyPr>
          <a:lstStyle/>
          <a:p>
            <a:pPr algn="ctr"/>
            <a:r>
              <a:rPr sz="3000" b="1" i="0">
                <a:solidFill>
                  <a:srgbClr val="FFC107"/>
                </a:solidFill>
              </a:rPr>
              <a:t>d = 1.16</a:t>
            </a:r>
          </a:p>
        </p:txBody>
      </p:sp>
      <p:sp>
        <p:nvSpPr>
          <p:cNvPr id="16" name="TextBox 15"/>
          <p:cNvSpPr txBox="1"/>
          <p:nvPr/>
        </p:nvSpPr>
        <p:spPr>
          <a:xfrm>
            <a:off x="3154680" y="2697480"/>
            <a:ext cx="2377440" cy="365760"/>
          </a:xfrm>
          <a:prstGeom prst="rect">
            <a:avLst/>
          </a:prstGeom>
          <a:noFill/>
        </p:spPr>
        <p:txBody>
          <a:bodyPr wrap="square">
            <a:spAutoFit/>
          </a:bodyPr>
          <a:lstStyle/>
          <a:p>
            <a:pPr algn="ctr"/>
            <a:r>
              <a:rPr sz="1400" b="0" i="0">
                <a:solidFill>
                  <a:srgbClr val="A0D0FF"/>
                </a:solidFill>
              </a:rPr>
              <a:t>反応率 64%</a:t>
            </a:r>
          </a:p>
        </p:txBody>
      </p:sp>
      <p:sp>
        <p:nvSpPr>
          <p:cNvPr id="17" name="Rectangle 16"/>
          <p:cNvSpPr/>
          <p:nvPr/>
        </p:nvSpPr>
        <p:spPr>
          <a:xfrm>
            <a:off x="5806440" y="1417320"/>
            <a:ext cx="2560320" cy="22860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7880" y="1508760"/>
            <a:ext cx="2377440" cy="548640"/>
          </a:xfrm>
          <a:prstGeom prst="rect">
            <a:avLst/>
          </a:prstGeom>
          <a:noFill/>
        </p:spPr>
        <p:txBody>
          <a:bodyPr wrap="square">
            <a:spAutoFit/>
          </a:bodyPr>
          <a:lstStyle/>
          <a:p>
            <a:pPr algn="ctr"/>
            <a:r>
              <a:rPr sz="1400" b="1" i="0">
                <a:solidFill>
                  <a:srgbClr val="FFFFFF"/>
                </a:solidFill>
              </a:rPr>
              <a:t>TF-CBT</a:t>
            </a:r>
          </a:p>
        </p:txBody>
      </p:sp>
      <p:sp>
        <p:nvSpPr>
          <p:cNvPr id="19" name="TextBox 18"/>
          <p:cNvSpPr txBox="1"/>
          <p:nvPr/>
        </p:nvSpPr>
        <p:spPr>
          <a:xfrm>
            <a:off x="5897880" y="2057400"/>
            <a:ext cx="2377440" cy="640080"/>
          </a:xfrm>
          <a:prstGeom prst="rect">
            <a:avLst/>
          </a:prstGeom>
          <a:noFill/>
        </p:spPr>
        <p:txBody>
          <a:bodyPr wrap="square">
            <a:spAutoFit/>
          </a:bodyPr>
          <a:lstStyle/>
          <a:p>
            <a:pPr algn="ctr"/>
            <a:r>
              <a:rPr sz="3000" b="1" i="0">
                <a:solidFill>
                  <a:srgbClr val="FFC107"/>
                </a:solidFill>
              </a:rPr>
              <a:t>d = 1.08</a:t>
            </a:r>
          </a:p>
        </p:txBody>
      </p:sp>
      <p:sp>
        <p:nvSpPr>
          <p:cNvPr id="20" name="TextBox 19"/>
          <p:cNvSpPr txBox="1"/>
          <p:nvPr/>
        </p:nvSpPr>
        <p:spPr>
          <a:xfrm>
            <a:off x="5897880" y="2697480"/>
            <a:ext cx="2377440" cy="365760"/>
          </a:xfrm>
          <a:prstGeom prst="rect">
            <a:avLst/>
          </a:prstGeom>
          <a:noFill/>
        </p:spPr>
        <p:txBody>
          <a:bodyPr wrap="square">
            <a:spAutoFit/>
          </a:bodyPr>
          <a:lstStyle/>
          <a:p>
            <a:pPr algn="ctr"/>
            <a:r>
              <a:rPr sz="1400" b="0" i="0">
                <a:solidFill>
                  <a:srgbClr val="A0D0FF"/>
                </a:solidFill>
              </a:rPr>
              <a:t>反応率 61%</a:t>
            </a:r>
          </a:p>
        </p:txBody>
      </p:sp>
      <p:sp>
        <p:nvSpPr>
          <p:cNvPr id="21" name="TextBox 20"/>
          <p:cNvSpPr txBox="1"/>
          <p:nvPr/>
        </p:nvSpPr>
        <p:spPr>
          <a:xfrm>
            <a:off x="320040" y="3749039"/>
            <a:ext cx="8229600" cy="347472"/>
          </a:xfrm>
          <a:prstGeom prst="rect">
            <a:avLst/>
          </a:prstGeom>
          <a:noFill/>
        </p:spPr>
        <p:txBody>
          <a:bodyPr wrap="square">
            <a:spAutoFit/>
          </a:bodyPr>
          <a:lstStyle/>
          <a:p>
            <a:pPr algn="l"/>
            <a:r>
              <a:rPr sz="1200" b="0" i="1">
                <a:solidFill>
                  <a:srgbClr val="6B7A99"/>
                </a:solidFill>
              </a:rPr>
              <a:t>RCT 45件  n = 4,267（Korovynskyi 2025, PMID: 40737648）</a:t>
            </a:r>
          </a:p>
        </p:txBody>
      </p:sp>
      <p:sp>
        <p:nvSpPr>
          <p:cNvPr id="22" name="Rectangle 21"/>
          <p:cNvSpPr/>
          <p:nvPr/>
        </p:nvSpPr>
        <p:spPr>
          <a:xfrm>
            <a:off x="8686800" y="1417320"/>
            <a:ext cx="3154680" cy="233172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508760"/>
            <a:ext cx="2926080" cy="365760"/>
          </a:xfrm>
          <a:prstGeom prst="rect">
            <a:avLst/>
          </a:prstGeom>
          <a:noFill/>
        </p:spPr>
        <p:txBody>
          <a:bodyPr wrap="square">
            <a:spAutoFit/>
          </a:bodyPr>
          <a:lstStyle/>
          <a:p>
            <a:pPr algn="l"/>
            <a:r>
              <a:rPr sz="1400" b="1" i="0">
                <a:solidFill>
                  <a:srgbClr val="FFFFFF"/>
                </a:solidFill>
              </a:rPr>
              <a:t>脱落率の衝撃</a:t>
            </a:r>
          </a:p>
        </p:txBody>
      </p:sp>
      <p:sp>
        <p:nvSpPr>
          <p:cNvPr id="24" name="TextBox 23"/>
          <p:cNvSpPr txBox="1"/>
          <p:nvPr/>
        </p:nvSpPr>
        <p:spPr>
          <a:xfrm>
            <a:off x="8823960" y="1874519"/>
            <a:ext cx="2926080" cy="1097280"/>
          </a:xfrm>
          <a:prstGeom prst="rect">
            <a:avLst/>
          </a:prstGeom>
          <a:noFill/>
        </p:spPr>
        <p:txBody>
          <a:bodyPr wrap="square">
            <a:spAutoFit/>
          </a:bodyPr>
          <a:lstStyle/>
          <a:p>
            <a:pPr algn="ctr"/>
            <a:r>
              <a:rPr sz="2800" b="1" i="0">
                <a:solidFill>
                  <a:srgbClr val="FFC107"/>
                </a:solidFill>
              </a:rPr>
              <a:t>CPT群
39%
脱落</a:t>
            </a:r>
          </a:p>
        </p:txBody>
      </p:sp>
      <p:sp>
        <p:nvSpPr>
          <p:cNvPr id="25" name="TextBox 24"/>
          <p:cNvSpPr txBox="1"/>
          <p:nvPr/>
        </p:nvSpPr>
        <p:spPr>
          <a:xfrm>
            <a:off x="8823960" y="2971800"/>
            <a:ext cx="2926080" cy="502920"/>
          </a:xfrm>
          <a:prstGeom prst="rect">
            <a:avLst/>
          </a:prstGeom>
          <a:noFill/>
        </p:spPr>
        <p:txBody>
          <a:bodyPr wrap="square">
            <a:spAutoFit/>
          </a:bodyPr>
          <a:lstStyle/>
          <a:p>
            <a:pPr algn="ctr"/>
            <a:r>
              <a:rPr sz="1100" b="0" i="0">
                <a:solidFill>
                  <a:srgbClr val="FFFFFF"/>
                </a:solidFill>
              </a:rPr>
              <a:t>DBT-PTSDとの比較RCT</a:t>
            </a:r>
          </a:p>
        </p:txBody>
      </p:sp>
      <p:sp>
        <p:nvSpPr>
          <p:cNvPr id="26" name="Rectangle 25"/>
          <p:cNvSpPr/>
          <p:nvPr/>
        </p:nvSpPr>
        <p:spPr>
          <a:xfrm>
            <a:off x="320040" y="4206240"/>
            <a:ext cx="11548872" cy="594360"/>
          </a:xfrm>
          <a:prstGeom prst="rect">
            <a:avLst/>
          </a:prstGeom>
          <a:solidFill>
            <a:srgbClr val="F4F7FC"/>
          </a:solidFill>
          <a:ln w="19050">
            <a:solidFill>
              <a:srgbClr val="E84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251960"/>
            <a:ext cx="11183112" cy="502920"/>
          </a:xfrm>
          <a:prstGeom prst="rect">
            <a:avLst/>
          </a:prstGeom>
          <a:noFill/>
        </p:spPr>
        <p:txBody>
          <a:bodyPr wrap="square">
            <a:spAutoFit/>
          </a:bodyPr>
          <a:lstStyle/>
          <a:p>
            <a:pPr algn="l"/>
            <a:r>
              <a:rPr sz="1400" b="1" i="0">
                <a:solidFill>
                  <a:srgbClr val="E84A5F"/>
                </a:solidFill>
              </a:rPr>
              <a:t>⚠  感情調節障害が強いC-PTSD患者への単独適用には要注意。「誰に使うか」が最も重要。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DBT-PTSD — JAMA Psychiatryの衝撃的結果</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第3章：各治療法のエビデンス｜2分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11 / 17  ｜  PMID: 32697288（Bohus M et al., JAMA Psychiatry, 2020）/ PMID: 39221987（Vonderlin R 2024）</a:t>
            </a:r>
          </a:p>
        </p:txBody>
      </p:sp>
      <p:sp>
        <p:nvSpPr>
          <p:cNvPr id="9" name="Rectangle 8"/>
          <p:cNvSpPr/>
          <p:nvPr/>
        </p:nvSpPr>
        <p:spPr>
          <a:xfrm>
            <a:off x="320040" y="1417320"/>
            <a:ext cx="3474720" cy="320040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3200400" cy="365760"/>
          </a:xfrm>
          <a:prstGeom prst="rect">
            <a:avLst/>
          </a:prstGeom>
          <a:noFill/>
        </p:spPr>
        <p:txBody>
          <a:bodyPr wrap="square">
            <a:spAutoFit/>
          </a:bodyPr>
          <a:lstStyle/>
          <a:p>
            <a:pPr algn="l"/>
            <a:r>
              <a:rPr sz="1400" b="1" i="0">
                <a:solidFill>
                  <a:srgbClr val="007A87"/>
                </a:solidFill>
              </a:rPr>
              <a:t>対象患者</a:t>
            </a:r>
          </a:p>
        </p:txBody>
      </p:sp>
      <p:sp>
        <p:nvSpPr>
          <p:cNvPr id="11" name="TextBox 10"/>
          <p:cNvSpPr txBox="1"/>
          <p:nvPr/>
        </p:nvSpPr>
        <p:spPr>
          <a:xfrm>
            <a:off x="457200" y="1920240"/>
            <a:ext cx="3200400" cy="1097280"/>
          </a:xfrm>
          <a:prstGeom prst="rect">
            <a:avLst/>
          </a:prstGeom>
          <a:noFill/>
        </p:spPr>
        <p:txBody>
          <a:bodyPr wrap="square">
            <a:spAutoFit/>
          </a:bodyPr>
          <a:lstStyle/>
          <a:p>
            <a:pPr algn="l"/>
            <a:r>
              <a:rPr sz="1500" b="0" i="0">
                <a:solidFill>
                  <a:srgbClr val="1C1C2E"/>
                </a:solidFill>
              </a:rPr>
              <a:t>幼少期虐待後 C-PTSD
＋ BPD基準3つ以上
（n = 193）</a:t>
            </a:r>
          </a:p>
        </p:txBody>
      </p:sp>
      <p:sp>
        <p:nvSpPr>
          <p:cNvPr id="12" name="TextBox 11"/>
          <p:cNvSpPr txBox="1"/>
          <p:nvPr/>
        </p:nvSpPr>
        <p:spPr>
          <a:xfrm>
            <a:off x="457200" y="3108960"/>
            <a:ext cx="3200400" cy="731520"/>
          </a:xfrm>
          <a:prstGeom prst="rect">
            <a:avLst/>
          </a:prstGeom>
          <a:noFill/>
        </p:spPr>
        <p:txBody>
          <a:bodyPr wrap="square">
            <a:spAutoFit/>
          </a:bodyPr>
          <a:lstStyle/>
          <a:p>
            <a:pPr algn="l"/>
            <a:r>
              <a:rPr sz="1300" b="1" i="0">
                <a:solidFill>
                  <a:srgbClr val="007A87"/>
                </a:solidFill>
              </a:rPr>
              <a:t>DBT-PTSD
（外来45週 or 入院12週）</a:t>
            </a:r>
          </a:p>
        </p:txBody>
      </p:sp>
      <p:sp>
        <p:nvSpPr>
          <p:cNvPr id="13" name="TextBox 12"/>
          <p:cNvSpPr txBox="1"/>
          <p:nvPr/>
        </p:nvSpPr>
        <p:spPr>
          <a:xfrm>
            <a:off x="457200" y="3840480"/>
            <a:ext cx="3200400" cy="457200"/>
          </a:xfrm>
          <a:prstGeom prst="rect">
            <a:avLst/>
          </a:prstGeom>
          <a:noFill/>
        </p:spPr>
        <p:txBody>
          <a:bodyPr wrap="square">
            <a:spAutoFit/>
          </a:bodyPr>
          <a:lstStyle/>
          <a:p>
            <a:pPr algn="l"/>
            <a:r>
              <a:rPr sz="1300" b="0" i="0">
                <a:solidFill>
                  <a:srgbClr val="1C1C2E"/>
                </a:solidFill>
              </a:rPr>
              <a:t>vs  CPT（認知処理療法）</a:t>
            </a:r>
          </a:p>
        </p:txBody>
      </p:sp>
      <p:sp>
        <p:nvSpPr>
          <p:cNvPr id="14" name="Rectangle 13"/>
          <p:cNvSpPr/>
          <p:nvPr/>
        </p:nvSpPr>
        <p:spPr>
          <a:xfrm>
            <a:off x="4023360" y="1417320"/>
            <a:ext cx="4114800"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1490472"/>
            <a:ext cx="3840480" cy="777240"/>
          </a:xfrm>
          <a:prstGeom prst="rect">
            <a:avLst/>
          </a:prstGeom>
          <a:noFill/>
        </p:spPr>
        <p:txBody>
          <a:bodyPr wrap="square">
            <a:spAutoFit/>
          </a:bodyPr>
          <a:lstStyle/>
          <a:p>
            <a:pPr algn="ctr"/>
            <a:r>
              <a:rPr sz="2600" b="1" i="0">
                <a:solidFill>
                  <a:srgbClr val="FFFFFF"/>
                </a:solidFill>
              </a:rPr>
              <a:t>DBT-PTSD  58.4 %</a:t>
            </a:r>
          </a:p>
        </p:txBody>
      </p:sp>
      <p:sp>
        <p:nvSpPr>
          <p:cNvPr id="16" name="Rectangle 15"/>
          <p:cNvSpPr/>
          <p:nvPr/>
        </p:nvSpPr>
        <p:spPr>
          <a:xfrm>
            <a:off x="8321040" y="1417320"/>
            <a:ext cx="3657600" cy="100584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490472"/>
            <a:ext cx="3383280" cy="777240"/>
          </a:xfrm>
          <a:prstGeom prst="rect">
            <a:avLst/>
          </a:prstGeom>
          <a:noFill/>
        </p:spPr>
        <p:txBody>
          <a:bodyPr wrap="square">
            <a:spAutoFit/>
          </a:bodyPr>
          <a:lstStyle/>
          <a:p>
            <a:pPr algn="ctr"/>
            <a:r>
              <a:rPr sz="2600" b="0" i="0">
                <a:solidFill>
                  <a:srgbClr val="1C1C2E"/>
                </a:solidFill>
              </a:rPr>
              <a:t>CPT  40.7 %</a:t>
            </a:r>
          </a:p>
        </p:txBody>
      </p:sp>
      <p:sp>
        <p:nvSpPr>
          <p:cNvPr id="18" name="TextBox 17"/>
          <p:cNvSpPr txBox="1"/>
          <p:nvPr/>
        </p:nvSpPr>
        <p:spPr>
          <a:xfrm>
            <a:off x="4023360" y="2423160"/>
            <a:ext cx="7955279" cy="274320"/>
          </a:xfrm>
          <a:prstGeom prst="rect">
            <a:avLst/>
          </a:prstGeom>
          <a:noFill/>
        </p:spPr>
        <p:txBody>
          <a:bodyPr wrap="square">
            <a:spAutoFit/>
          </a:bodyPr>
          <a:lstStyle/>
          <a:p>
            <a:pPr algn="ctr"/>
            <a:r>
              <a:rPr sz="1100" b="0" i="0">
                <a:solidFill>
                  <a:srgbClr val="6B7A99"/>
                </a:solidFill>
              </a:rPr>
              <a:t>寛解率</a:t>
            </a:r>
          </a:p>
        </p:txBody>
      </p:sp>
      <p:sp>
        <p:nvSpPr>
          <p:cNvPr id="19" name="Rectangle 18"/>
          <p:cNvSpPr/>
          <p:nvPr/>
        </p:nvSpPr>
        <p:spPr>
          <a:xfrm>
            <a:off x="4023360" y="2560320"/>
            <a:ext cx="4114800"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0520" y="2633472"/>
            <a:ext cx="3840480" cy="777240"/>
          </a:xfrm>
          <a:prstGeom prst="rect">
            <a:avLst/>
          </a:prstGeom>
          <a:noFill/>
        </p:spPr>
        <p:txBody>
          <a:bodyPr wrap="square">
            <a:spAutoFit/>
          </a:bodyPr>
          <a:lstStyle/>
          <a:p>
            <a:pPr algn="ctr"/>
            <a:r>
              <a:rPr sz="2600" b="1" i="0">
                <a:solidFill>
                  <a:srgbClr val="FFFFFF"/>
                </a:solidFill>
              </a:rPr>
              <a:t>DBT-PTSD  d = 1.35</a:t>
            </a:r>
          </a:p>
        </p:txBody>
      </p:sp>
      <p:sp>
        <p:nvSpPr>
          <p:cNvPr id="21" name="Rectangle 20"/>
          <p:cNvSpPr/>
          <p:nvPr/>
        </p:nvSpPr>
        <p:spPr>
          <a:xfrm>
            <a:off x="8321040" y="2560320"/>
            <a:ext cx="3657600" cy="100584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2633472"/>
            <a:ext cx="3383280" cy="777240"/>
          </a:xfrm>
          <a:prstGeom prst="rect">
            <a:avLst/>
          </a:prstGeom>
          <a:noFill/>
        </p:spPr>
        <p:txBody>
          <a:bodyPr wrap="square">
            <a:spAutoFit/>
          </a:bodyPr>
          <a:lstStyle/>
          <a:p>
            <a:pPr algn="ctr"/>
            <a:r>
              <a:rPr sz="2600" b="0" i="0">
                <a:solidFill>
                  <a:srgbClr val="1C1C2E"/>
                </a:solidFill>
              </a:rPr>
              <a:t>CPT  d = 0.98</a:t>
            </a:r>
          </a:p>
        </p:txBody>
      </p:sp>
      <p:sp>
        <p:nvSpPr>
          <p:cNvPr id="23" name="TextBox 22"/>
          <p:cNvSpPr txBox="1"/>
          <p:nvPr/>
        </p:nvSpPr>
        <p:spPr>
          <a:xfrm>
            <a:off x="4023360" y="3566160"/>
            <a:ext cx="7955279" cy="274320"/>
          </a:xfrm>
          <a:prstGeom prst="rect">
            <a:avLst/>
          </a:prstGeom>
          <a:noFill/>
        </p:spPr>
        <p:txBody>
          <a:bodyPr wrap="square">
            <a:spAutoFit/>
          </a:bodyPr>
          <a:lstStyle/>
          <a:p>
            <a:pPr algn="ctr"/>
            <a:r>
              <a:rPr sz="1100" b="0" i="0">
                <a:solidFill>
                  <a:srgbClr val="6B7A99"/>
                </a:solidFill>
              </a:rPr>
              <a:t>効果量</a:t>
            </a:r>
          </a:p>
        </p:txBody>
      </p:sp>
      <p:sp>
        <p:nvSpPr>
          <p:cNvPr id="24" name="Rectangle 23"/>
          <p:cNvSpPr/>
          <p:nvPr/>
        </p:nvSpPr>
        <p:spPr>
          <a:xfrm>
            <a:off x="4023360" y="3703320"/>
            <a:ext cx="4114800"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60520" y="3776472"/>
            <a:ext cx="3840480" cy="777240"/>
          </a:xfrm>
          <a:prstGeom prst="rect">
            <a:avLst/>
          </a:prstGeom>
          <a:noFill/>
        </p:spPr>
        <p:txBody>
          <a:bodyPr wrap="square">
            <a:spAutoFit/>
          </a:bodyPr>
          <a:lstStyle/>
          <a:p>
            <a:pPr algn="ctr"/>
            <a:r>
              <a:rPr sz="2600" b="1" i="0">
                <a:solidFill>
                  <a:srgbClr val="FFFFFF"/>
                </a:solidFill>
              </a:rPr>
              <a:t>DBT-PTSD  25.5 %</a:t>
            </a:r>
          </a:p>
        </p:txBody>
      </p:sp>
      <p:sp>
        <p:nvSpPr>
          <p:cNvPr id="26" name="Rectangle 25"/>
          <p:cNvSpPr/>
          <p:nvPr/>
        </p:nvSpPr>
        <p:spPr>
          <a:xfrm>
            <a:off x="8321040" y="3703320"/>
            <a:ext cx="3657600" cy="100584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3776472"/>
            <a:ext cx="3383280" cy="777240"/>
          </a:xfrm>
          <a:prstGeom prst="rect">
            <a:avLst/>
          </a:prstGeom>
          <a:noFill/>
        </p:spPr>
        <p:txBody>
          <a:bodyPr wrap="square">
            <a:spAutoFit/>
          </a:bodyPr>
          <a:lstStyle/>
          <a:p>
            <a:pPr algn="ctr"/>
            <a:r>
              <a:rPr sz="2600" b="0" i="0">
                <a:solidFill>
                  <a:srgbClr val="1C1C2E"/>
                </a:solidFill>
              </a:rPr>
              <a:t>CPT  39.0 %</a:t>
            </a:r>
          </a:p>
        </p:txBody>
      </p:sp>
      <p:sp>
        <p:nvSpPr>
          <p:cNvPr id="28" name="TextBox 27"/>
          <p:cNvSpPr txBox="1"/>
          <p:nvPr/>
        </p:nvSpPr>
        <p:spPr>
          <a:xfrm>
            <a:off x="4023360" y="4709160"/>
            <a:ext cx="7955279" cy="274320"/>
          </a:xfrm>
          <a:prstGeom prst="rect">
            <a:avLst/>
          </a:prstGeom>
          <a:noFill/>
        </p:spPr>
        <p:txBody>
          <a:bodyPr wrap="square">
            <a:spAutoFit/>
          </a:bodyPr>
          <a:lstStyle/>
          <a:p>
            <a:pPr algn="ctr"/>
            <a:r>
              <a:rPr sz="1100" b="0" i="0">
                <a:solidFill>
                  <a:srgbClr val="6B7A99"/>
                </a:solidFill>
              </a:rPr>
              <a:t>脱落率</a:t>
            </a:r>
          </a:p>
        </p:txBody>
      </p:sp>
      <p:sp>
        <p:nvSpPr>
          <p:cNvPr id="29" name="TextBox 28"/>
          <p:cNvSpPr txBox="1"/>
          <p:nvPr/>
        </p:nvSpPr>
        <p:spPr>
          <a:xfrm>
            <a:off x="4023360" y="4572000"/>
            <a:ext cx="7955279" cy="320040"/>
          </a:xfrm>
          <a:prstGeom prst="rect">
            <a:avLst/>
          </a:prstGeom>
          <a:noFill/>
        </p:spPr>
        <p:txBody>
          <a:bodyPr wrap="square">
            <a:spAutoFit/>
          </a:bodyPr>
          <a:lstStyle/>
          <a:p>
            <a:pPr algn="ctr"/>
            <a:r>
              <a:rPr sz="1200" b="0" i="1">
                <a:solidFill>
                  <a:srgbClr val="6B7A99"/>
                </a:solidFill>
              </a:rPr>
              <a:t>9ヶ月後フォローアップでも効果維持（Vonderlin 2024, PMID: 39221987）</a:t>
            </a:r>
          </a:p>
        </p:txBody>
      </p:sp>
      <p:sp>
        <p:nvSpPr>
          <p:cNvPr id="30" name="Rectangle 29"/>
          <p:cNvSpPr/>
          <p:nvPr/>
        </p:nvSpPr>
        <p:spPr>
          <a:xfrm>
            <a:off x="320040" y="4983480"/>
            <a:ext cx="11548872" cy="64008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047488"/>
            <a:ext cx="11183112" cy="548640"/>
          </a:xfrm>
          <a:prstGeom prst="rect">
            <a:avLst/>
          </a:prstGeom>
          <a:noFill/>
        </p:spPr>
        <p:txBody>
          <a:bodyPr wrap="square">
            <a:spAutoFit/>
          </a:bodyPr>
          <a:lstStyle/>
          <a:p>
            <a:pPr algn="ctr"/>
            <a:r>
              <a:rPr sz="1800" b="1" i="0">
                <a:solidFill>
                  <a:srgbClr val="FFC107"/>
                </a:solidFill>
              </a:rPr>
              <a:t>幼少期虐待後 C-PTSD ＋ 感情調節障害 → DBT-PTSDが現時点で最強エビデンス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薬物療法 — 補助療法の位置づけ</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第3章：各治療法のエビデンス｜2分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12 / 17  ｜  PMID: 36162349（Bajor LA et al., Psychiatry Res, 2022）</a:t>
            </a:r>
          </a:p>
        </p:txBody>
      </p:sp>
      <p:sp>
        <p:nvSpPr>
          <p:cNvPr id="9" name="Rectangle 8"/>
          <p:cNvSpPr/>
          <p:nvPr/>
        </p:nvSpPr>
        <p:spPr>
          <a:xfrm>
            <a:off x="320040" y="1417320"/>
            <a:ext cx="11548872" cy="45720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63040"/>
            <a:ext cx="11183112" cy="384048"/>
          </a:xfrm>
          <a:prstGeom prst="rect">
            <a:avLst/>
          </a:prstGeom>
          <a:noFill/>
        </p:spPr>
        <p:txBody>
          <a:bodyPr wrap="square">
            <a:spAutoFit/>
          </a:bodyPr>
          <a:lstStyle/>
          <a:p>
            <a:pPr algn="ctr"/>
            <a:r>
              <a:rPr sz="1500" b="1" i="0">
                <a:solidFill>
                  <a:srgbClr val="FFFFFF"/>
                </a:solidFill>
              </a:rPr>
              <a:t>C-PTSD特化の薬物療法RCTはほぼ存在しない  ——  心理療法の補助として使用する</a:t>
            </a:r>
          </a:p>
        </p:txBody>
      </p:sp>
      <p:sp>
        <p:nvSpPr>
          <p:cNvPr id="11" name="Rectangle 10"/>
          <p:cNvSpPr/>
          <p:nvPr/>
        </p:nvSpPr>
        <p:spPr>
          <a:xfrm>
            <a:off x="320040" y="2011680"/>
            <a:ext cx="2788920" cy="21031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075688"/>
            <a:ext cx="2560320" cy="502920"/>
          </a:xfrm>
          <a:prstGeom prst="rect">
            <a:avLst/>
          </a:prstGeom>
          <a:noFill/>
        </p:spPr>
        <p:txBody>
          <a:bodyPr wrap="square">
            <a:spAutoFit/>
          </a:bodyPr>
          <a:lstStyle/>
          <a:p>
            <a:pPr algn="l"/>
            <a:r>
              <a:rPr sz="1500" b="1" i="0">
                <a:solidFill>
                  <a:srgbClr val="FFFFFF"/>
                </a:solidFill>
              </a:rPr>
              <a:t>STEP 1</a:t>
            </a:r>
          </a:p>
        </p:txBody>
      </p:sp>
      <p:sp>
        <p:nvSpPr>
          <p:cNvPr id="13" name="TextBox 12"/>
          <p:cNvSpPr txBox="1"/>
          <p:nvPr/>
        </p:nvSpPr>
        <p:spPr>
          <a:xfrm>
            <a:off x="411480" y="2578608"/>
            <a:ext cx="2560320" cy="1325880"/>
          </a:xfrm>
          <a:prstGeom prst="rect">
            <a:avLst/>
          </a:prstGeom>
          <a:noFill/>
        </p:spPr>
        <p:txBody>
          <a:bodyPr wrap="square">
            <a:spAutoFit/>
          </a:bodyPr>
          <a:lstStyle/>
          <a:p>
            <a:pPr algn="l"/>
            <a:r>
              <a:rPr sz="1400" b="0" i="0">
                <a:solidFill>
                  <a:srgbClr val="FFFFCC"/>
                </a:solidFill>
              </a:rPr>
              <a:t>まず睡眠障害を治療する</a:t>
            </a:r>
          </a:p>
        </p:txBody>
      </p:sp>
      <p:sp>
        <p:nvSpPr>
          <p:cNvPr id="14" name="TextBox 13"/>
          <p:cNvSpPr txBox="1"/>
          <p:nvPr/>
        </p:nvSpPr>
        <p:spPr>
          <a:xfrm>
            <a:off x="2926080" y="2788920"/>
            <a:ext cx="274320" cy="365760"/>
          </a:xfrm>
          <a:prstGeom prst="rect">
            <a:avLst/>
          </a:prstGeom>
          <a:noFill/>
        </p:spPr>
        <p:txBody>
          <a:bodyPr wrap="square">
            <a:spAutoFit/>
          </a:bodyPr>
          <a:lstStyle/>
          <a:p>
            <a:pPr algn="ctr"/>
            <a:r>
              <a:rPr sz="2400" b="1" i="0">
                <a:solidFill>
                  <a:srgbClr val="1C1C2E"/>
                </a:solidFill>
              </a:rPr>
              <a:t>→</a:t>
            </a:r>
          </a:p>
        </p:txBody>
      </p:sp>
      <p:sp>
        <p:nvSpPr>
          <p:cNvPr id="15" name="Rectangle 14"/>
          <p:cNvSpPr/>
          <p:nvPr/>
        </p:nvSpPr>
        <p:spPr>
          <a:xfrm>
            <a:off x="3291840" y="2011680"/>
            <a:ext cx="2788920" cy="21031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2075688"/>
            <a:ext cx="2560320" cy="502920"/>
          </a:xfrm>
          <a:prstGeom prst="rect">
            <a:avLst/>
          </a:prstGeom>
          <a:noFill/>
        </p:spPr>
        <p:txBody>
          <a:bodyPr wrap="square">
            <a:spAutoFit/>
          </a:bodyPr>
          <a:lstStyle/>
          <a:p>
            <a:pPr algn="l"/>
            <a:r>
              <a:rPr sz="1500" b="1" i="0">
                <a:solidFill>
                  <a:srgbClr val="FFFFFF"/>
                </a:solidFill>
              </a:rPr>
              <a:t>STEP 2
悪夢</a:t>
            </a:r>
          </a:p>
        </p:txBody>
      </p:sp>
      <p:sp>
        <p:nvSpPr>
          <p:cNvPr id="17" name="TextBox 16"/>
          <p:cNvSpPr txBox="1"/>
          <p:nvPr/>
        </p:nvSpPr>
        <p:spPr>
          <a:xfrm>
            <a:off x="3383280" y="2578608"/>
            <a:ext cx="2560320" cy="1325880"/>
          </a:xfrm>
          <a:prstGeom prst="rect">
            <a:avLst/>
          </a:prstGeom>
          <a:noFill/>
        </p:spPr>
        <p:txBody>
          <a:bodyPr wrap="square">
            <a:spAutoFit/>
          </a:bodyPr>
          <a:lstStyle/>
          <a:p>
            <a:pPr algn="l"/>
            <a:r>
              <a:rPr sz="1400" b="0" i="0">
                <a:solidFill>
                  <a:srgbClr val="FFFFCC"/>
                </a:solidFill>
              </a:rPr>
              <a:t>プラゾシン（α1遮断薬）
ノルアドレナリン過活動を抑制</a:t>
            </a:r>
          </a:p>
        </p:txBody>
      </p:sp>
      <p:sp>
        <p:nvSpPr>
          <p:cNvPr id="18" name="TextBox 17"/>
          <p:cNvSpPr txBox="1"/>
          <p:nvPr/>
        </p:nvSpPr>
        <p:spPr>
          <a:xfrm>
            <a:off x="5897880" y="2788920"/>
            <a:ext cx="274320" cy="365760"/>
          </a:xfrm>
          <a:prstGeom prst="rect">
            <a:avLst/>
          </a:prstGeom>
          <a:noFill/>
        </p:spPr>
        <p:txBody>
          <a:bodyPr wrap="square">
            <a:spAutoFit/>
          </a:bodyPr>
          <a:lstStyle/>
          <a:p>
            <a:pPr algn="ctr"/>
            <a:r>
              <a:rPr sz="2400" b="1" i="0">
                <a:solidFill>
                  <a:srgbClr val="1C1C2E"/>
                </a:solidFill>
              </a:rPr>
              <a:t>→</a:t>
            </a:r>
          </a:p>
        </p:txBody>
      </p:sp>
      <p:sp>
        <p:nvSpPr>
          <p:cNvPr id="19" name="Rectangle 18"/>
          <p:cNvSpPr/>
          <p:nvPr/>
        </p:nvSpPr>
        <p:spPr>
          <a:xfrm>
            <a:off x="6263640" y="2011680"/>
            <a:ext cx="2788920" cy="2103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075688"/>
            <a:ext cx="2560320" cy="502920"/>
          </a:xfrm>
          <a:prstGeom prst="rect">
            <a:avLst/>
          </a:prstGeom>
          <a:noFill/>
        </p:spPr>
        <p:txBody>
          <a:bodyPr wrap="square">
            <a:spAutoFit/>
          </a:bodyPr>
          <a:lstStyle/>
          <a:p>
            <a:pPr algn="l"/>
            <a:r>
              <a:rPr sz="1500" b="1" i="0">
                <a:solidFill>
                  <a:srgbClr val="FFFFFF"/>
                </a:solidFill>
              </a:rPr>
              <a:t>STEP 2
入眠障害</a:t>
            </a:r>
          </a:p>
        </p:txBody>
      </p:sp>
      <p:sp>
        <p:nvSpPr>
          <p:cNvPr id="21" name="TextBox 20"/>
          <p:cNvSpPr txBox="1"/>
          <p:nvPr/>
        </p:nvSpPr>
        <p:spPr>
          <a:xfrm>
            <a:off x="6355080" y="2578608"/>
            <a:ext cx="2560320" cy="1325880"/>
          </a:xfrm>
          <a:prstGeom prst="rect">
            <a:avLst/>
          </a:prstGeom>
          <a:noFill/>
        </p:spPr>
        <p:txBody>
          <a:bodyPr wrap="square">
            <a:spAutoFit/>
          </a:bodyPr>
          <a:lstStyle/>
          <a:p>
            <a:pPr algn="l"/>
            <a:r>
              <a:rPr sz="1400" b="0" i="0">
                <a:solidFill>
                  <a:srgbClr val="FFFFCC"/>
                </a:solidFill>
              </a:rPr>
              <a:t>ヒドロキシジン
トラゾドン</a:t>
            </a:r>
          </a:p>
        </p:txBody>
      </p:sp>
      <p:sp>
        <p:nvSpPr>
          <p:cNvPr id="22" name="TextBox 21"/>
          <p:cNvSpPr txBox="1"/>
          <p:nvPr/>
        </p:nvSpPr>
        <p:spPr>
          <a:xfrm>
            <a:off x="8869680" y="2788920"/>
            <a:ext cx="274320" cy="365760"/>
          </a:xfrm>
          <a:prstGeom prst="rect">
            <a:avLst/>
          </a:prstGeom>
          <a:noFill/>
        </p:spPr>
        <p:txBody>
          <a:bodyPr wrap="square">
            <a:spAutoFit/>
          </a:bodyPr>
          <a:lstStyle/>
          <a:p>
            <a:pPr algn="ctr"/>
            <a:r>
              <a:rPr sz="2400" b="1" i="0">
                <a:solidFill>
                  <a:srgbClr val="1C1C2E"/>
                </a:solidFill>
              </a:rPr>
              <a:t>→</a:t>
            </a:r>
          </a:p>
        </p:txBody>
      </p:sp>
      <p:sp>
        <p:nvSpPr>
          <p:cNvPr id="23" name="Rectangle 22"/>
          <p:cNvSpPr/>
          <p:nvPr/>
        </p:nvSpPr>
        <p:spPr>
          <a:xfrm>
            <a:off x="9235440" y="2011680"/>
            <a:ext cx="2788920" cy="21031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2075688"/>
            <a:ext cx="2560320" cy="502920"/>
          </a:xfrm>
          <a:prstGeom prst="rect">
            <a:avLst/>
          </a:prstGeom>
          <a:noFill/>
        </p:spPr>
        <p:txBody>
          <a:bodyPr wrap="square">
            <a:spAutoFit/>
          </a:bodyPr>
          <a:lstStyle/>
          <a:p>
            <a:pPr algn="l"/>
            <a:r>
              <a:rPr sz="1500" b="1" i="0">
                <a:solidFill>
                  <a:srgbClr val="FFFFFF"/>
                </a:solidFill>
              </a:rPr>
              <a:t>STEP 3
残存症状</a:t>
            </a:r>
          </a:p>
        </p:txBody>
      </p:sp>
      <p:sp>
        <p:nvSpPr>
          <p:cNvPr id="25" name="TextBox 24"/>
          <p:cNvSpPr txBox="1"/>
          <p:nvPr/>
        </p:nvSpPr>
        <p:spPr>
          <a:xfrm>
            <a:off x="9326880" y="2578608"/>
            <a:ext cx="2560320" cy="1325880"/>
          </a:xfrm>
          <a:prstGeom prst="rect">
            <a:avLst/>
          </a:prstGeom>
          <a:noFill/>
        </p:spPr>
        <p:txBody>
          <a:bodyPr wrap="square">
            <a:spAutoFit/>
          </a:bodyPr>
          <a:lstStyle/>
          <a:p>
            <a:pPr algn="l"/>
            <a:r>
              <a:rPr sz="1400" b="0" i="0">
                <a:solidFill>
                  <a:srgbClr val="FFFFCC"/>
                </a:solidFill>
              </a:rPr>
              <a:t>SSRI
セルトラリン・パロキセチン</a:t>
            </a:r>
          </a:p>
        </p:txBody>
      </p:sp>
      <p:sp>
        <p:nvSpPr>
          <p:cNvPr id="26" name="Rectangle 25"/>
          <p:cNvSpPr/>
          <p:nvPr/>
        </p:nvSpPr>
        <p:spPr>
          <a:xfrm>
            <a:off x="320040" y="4251960"/>
            <a:ext cx="11548872" cy="502920"/>
          </a:xfrm>
          <a:prstGeom prst="rect">
            <a:avLst/>
          </a:prstGeom>
          <a:solidFill>
            <a:srgbClr val="F4F7FC"/>
          </a:solidFill>
          <a:ln w="12700">
            <a:solidFill>
              <a:srgbClr val="6B7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297680"/>
            <a:ext cx="11183112" cy="411480"/>
          </a:xfrm>
          <a:prstGeom prst="rect">
            <a:avLst/>
          </a:prstGeom>
          <a:noFill/>
        </p:spPr>
        <p:txBody>
          <a:bodyPr wrap="square">
            <a:spAutoFit/>
          </a:bodyPr>
          <a:lstStyle/>
          <a:p>
            <a:pPr algn="l"/>
            <a:r>
              <a:rPr sz="1300" b="0" i="1">
                <a:solidFill>
                  <a:srgbClr val="6B7A99"/>
                </a:solidFill>
              </a:rPr>
              <a:t>ケタミン・TMS・サイケデリクスは現在研究段階——標準治療として提供できる段階ではない</a:t>
            </a:r>
          </a:p>
        </p:txBody>
      </p:sp>
      <p:sp>
        <p:nvSpPr>
          <p:cNvPr id="28" name="Rectangle 27"/>
          <p:cNvSpPr/>
          <p:nvPr/>
        </p:nvSpPr>
        <p:spPr>
          <a:xfrm>
            <a:off x="320040" y="4846320"/>
            <a:ext cx="11548872" cy="64008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910328"/>
            <a:ext cx="11183112" cy="548640"/>
          </a:xfrm>
          <a:prstGeom prst="rect">
            <a:avLst/>
          </a:prstGeom>
          <a:noFill/>
        </p:spPr>
        <p:txBody>
          <a:bodyPr wrap="square">
            <a:spAutoFit/>
          </a:bodyPr>
          <a:lstStyle/>
          <a:p>
            <a:pPr algn="ctr"/>
            <a:r>
              <a:rPr sz="1700" b="1" i="0">
                <a:solidFill>
                  <a:srgbClr val="FFFFFF"/>
                </a:solidFill>
              </a:rPr>
              <a:t>薬は補助。心理療法ができる環境を整えるための「下地づくり」として使う。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スキーマ療法・IFS — 有望だがまだ研究段階</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第3章：各治療法のエビデンス｜2分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13 / 17  ｜  PMID: 41160015（van Hemert 2025）/ PMID: 38934934（Comeau 2024）</a:t>
            </a:r>
          </a:p>
        </p:txBody>
      </p:sp>
      <p:sp>
        <p:nvSpPr>
          <p:cNvPr id="9" name="Rectangle 8"/>
          <p:cNvSpPr/>
          <p:nvPr/>
        </p:nvSpPr>
        <p:spPr>
          <a:xfrm>
            <a:off x="320040" y="1417320"/>
            <a:ext cx="5623560" cy="3703320"/>
          </a:xfrm>
          <a:prstGeom prst="rect">
            <a:avLst/>
          </a:prstGeom>
          <a:solidFill>
            <a:srgbClr val="FFFFFF"/>
          </a:solidFill>
          <a:ln w="2540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5303520" cy="384048"/>
          </a:xfrm>
          <a:prstGeom prst="rect">
            <a:avLst/>
          </a:prstGeom>
          <a:noFill/>
        </p:spPr>
        <p:txBody>
          <a:bodyPr wrap="square">
            <a:spAutoFit/>
          </a:bodyPr>
          <a:lstStyle/>
          <a:p>
            <a:pPr algn="l"/>
            <a:r>
              <a:rPr sz="1600" b="1" i="0">
                <a:solidFill>
                  <a:srgbClr val="007A87"/>
                </a:solidFill>
              </a:rPr>
              <a:t>スキーマ療法（Schema Therapy）</a:t>
            </a:r>
          </a:p>
        </p:txBody>
      </p:sp>
      <p:sp>
        <p:nvSpPr>
          <p:cNvPr id="11" name="TextBox 10"/>
          <p:cNvSpPr txBox="1"/>
          <p:nvPr/>
        </p:nvSpPr>
        <p:spPr>
          <a:xfrm>
            <a:off x="457200" y="1965960"/>
            <a:ext cx="5303520" cy="2926080"/>
          </a:xfrm>
          <a:prstGeom prst="rect">
            <a:avLst/>
          </a:prstGeom>
          <a:noFill/>
        </p:spPr>
        <p:txBody>
          <a:bodyPr wrap="square">
            <a:spAutoFit/>
          </a:bodyPr>
          <a:lstStyle/>
          <a:p>
            <a:pPr algn="l"/>
            <a:r>
              <a:rPr sz="1300" b="0" i="0">
                <a:solidFill>
                  <a:srgbClr val="1C1C2E"/>
                </a:solidFill>
              </a:rPr>
              <a:t>• 幼少期に形成された「早期不適応スキーマ」に働きかける
  （「見捨てられる」「欠陥がある」などの深い信念パターン）
• ST + イメージリスクリプティング + EMDRの段階的統合で
  CAPS-5が重篤→閾値未満まで改善（van Hemert 2025）
• 難民・治療抵抗例への「橋渡し」として有望
⚠  RCTほぼなし——症例・パイロットレベル</a:t>
            </a:r>
          </a:p>
        </p:txBody>
      </p:sp>
      <p:sp>
        <p:nvSpPr>
          <p:cNvPr id="12" name="Rectangle 11"/>
          <p:cNvSpPr/>
          <p:nvPr/>
        </p:nvSpPr>
        <p:spPr>
          <a:xfrm>
            <a:off x="6172200" y="1417320"/>
            <a:ext cx="5669280" cy="3703320"/>
          </a:xfrm>
          <a:prstGeom prst="rect">
            <a:avLst/>
          </a:prstGeom>
          <a:solidFill>
            <a:srgbClr val="FFFFFF"/>
          </a:solidFill>
          <a:ln w="25400">
            <a:solidFill>
              <a:srgbClr val="1A2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508760"/>
            <a:ext cx="5394960" cy="384048"/>
          </a:xfrm>
          <a:prstGeom prst="rect">
            <a:avLst/>
          </a:prstGeom>
          <a:noFill/>
        </p:spPr>
        <p:txBody>
          <a:bodyPr wrap="square">
            <a:spAutoFit/>
          </a:bodyPr>
          <a:lstStyle/>
          <a:p>
            <a:pPr algn="l"/>
            <a:r>
              <a:rPr sz="1600" b="1" i="0">
                <a:solidFill>
                  <a:srgbClr val="1A2F5E"/>
                </a:solidFill>
              </a:rPr>
              <a:t>IFS（内的家族システム療法）</a:t>
            </a:r>
          </a:p>
        </p:txBody>
      </p:sp>
      <p:sp>
        <p:nvSpPr>
          <p:cNvPr id="14" name="TextBox 13"/>
          <p:cNvSpPr txBox="1"/>
          <p:nvPr/>
        </p:nvSpPr>
        <p:spPr>
          <a:xfrm>
            <a:off x="6309360" y="1965960"/>
            <a:ext cx="5394960" cy="2926080"/>
          </a:xfrm>
          <a:prstGeom prst="rect">
            <a:avLst/>
          </a:prstGeom>
          <a:noFill/>
        </p:spPr>
        <p:txBody>
          <a:bodyPr wrap="square">
            <a:spAutoFit/>
          </a:bodyPr>
          <a:lstStyle/>
          <a:p>
            <a:pPr algn="l"/>
            <a:r>
              <a:rPr sz="1300" b="0" i="0">
                <a:solidFill>
                  <a:srgbClr val="1C1C2E"/>
                </a:solidFill>
              </a:rPr>
              <a:t>• 心の中の様々な「部分（parts）」に働きかける
  独特のアプローチ
• Comeau 2024（n=15）16週パイロット：
  → 53%が臨床的有意な反応（CAPS-5改善10点以上）
  → 自己慈悲・感情調節・脱中心化が改善
• 忍容性良好（12回以上参加73%）
⚠  対照群なし——RCT不可欠</a:t>
            </a:r>
          </a:p>
        </p:txBody>
      </p:sp>
      <p:sp>
        <p:nvSpPr>
          <p:cNvPr id="15" name="Rectangle 14"/>
          <p:cNvSpPr/>
          <p:nvPr/>
        </p:nvSpPr>
        <p:spPr>
          <a:xfrm>
            <a:off x="320040" y="5212080"/>
            <a:ext cx="11548872" cy="457200"/>
          </a:xfrm>
          <a:prstGeom prst="rect">
            <a:avLst/>
          </a:prstGeom>
          <a:solidFill>
            <a:srgbClr val="F4F7FC"/>
          </a:solidFill>
          <a:ln w="12700">
            <a:solidFill>
              <a:srgbClr val="6B7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257800"/>
            <a:ext cx="11183112" cy="365760"/>
          </a:xfrm>
          <a:prstGeom prst="rect">
            <a:avLst/>
          </a:prstGeom>
          <a:noFill/>
        </p:spPr>
        <p:txBody>
          <a:bodyPr wrap="square">
            <a:spAutoFit/>
          </a:bodyPr>
          <a:lstStyle/>
          <a:p>
            <a:pPr algn="l"/>
            <a:r>
              <a:rPr sz="1200" b="0" i="1">
                <a:solidFill>
                  <a:srgbClr val="6B7A99"/>
                </a:solidFill>
              </a:rPr>
              <a:t>現時点：治療抵抗例や他の療法の準備段階として統合的に用いる可能性はあるが、RCT確立まで標準推奨不可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どれを選ぶか — 実践的判断フロー</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第3章：各治療法のエビデンス｜2分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14 / 17</a:t>
            </a:r>
          </a:p>
        </p:txBody>
      </p:sp>
      <p:sp>
        <p:nvSpPr>
          <p:cNvPr id="9" name="Rectangle 8"/>
          <p:cNvSpPr/>
          <p:nvPr/>
        </p:nvSpPr>
        <p:spPr>
          <a:xfrm>
            <a:off x="4937760" y="1417320"/>
            <a:ext cx="2377440"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1435608"/>
            <a:ext cx="2377440" cy="457200"/>
          </a:xfrm>
          <a:prstGeom prst="rect">
            <a:avLst/>
          </a:prstGeom>
          <a:noFill/>
        </p:spPr>
        <p:txBody>
          <a:bodyPr wrap="square">
            <a:spAutoFit/>
          </a:bodyPr>
          <a:lstStyle/>
          <a:p>
            <a:pPr algn="ctr"/>
            <a:r>
              <a:rPr sz="1400" b="1" i="0">
                <a:solidFill>
                  <a:srgbClr val="FFFFFF"/>
                </a:solidFill>
              </a:rPr>
              <a:t>C-PTSDと診断 / 疑い</a:t>
            </a:r>
          </a:p>
        </p:txBody>
      </p:sp>
      <p:sp>
        <p:nvSpPr>
          <p:cNvPr id="11" name="Rectangle 10"/>
          <p:cNvSpPr/>
          <p:nvPr/>
        </p:nvSpPr>
        <p:spPr>
          <a:xfrm>
            <a:off x="4937760" y="2057400"/>
            <a:ext cx="2377440" cy="594360"/>
          </a:xfrm>
          <a:prstGeom prst="rect">
            <a:avLst/>
          </a:prstGeom>
          <a:solidFill>
            <a:srgbClr val="F4F7FC"/>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2084831"/>
            <a:ext cx="2194560" cy="530352"/>
          </a:xfrm>
          <a:prstGeom prst="rect">
            <a:avLst/>
          </a:prstGeom>
          <a:noFill/>
        </p:spPr>
        <p:txBody>
          <a:bodyPr wrap="square">
            <a:spAutoFit/>
          </a:bodyPr>
          <a:lstStyle/>
          <a:p>
            <a:pPr algn="ctr"/>
            <a:r>
              <a:rPr sz="1200" b="0" i="0">
                <a:solidFill>
                  <a:srgbClr val="1C1C2E"/>
                </a:solidFill>
              </a:rPr>
              <a:t>感情調節障害が強い？
BPD基準3つ以上？</a:t>
            </a:r>
          </a:p>
        </p:txBody>
      </p:sp>
      <p:sp>
        <p:nvSpPr>
          <p:cNvPr id="13" name="Rectangle 12"/>
          <p:cNvSpPr/>
          <p:nvPr/>
        </p:nvSpPr>
        <p:spPr>
          <a:xfrm>
            <a:off x="320040" y="2331720"/>
            <a:ext cx="3200400" cy="59436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359152"/>
            <a:ext cx="3017520" cy="530352"/>
          </a:xfrm>
          <a:prstGeom prst="rect">
            <a:avLst/>
          </a:prstGeom>
          <a:noFill/>
        </p:spPr>
        <p:txBody>
          <a:bodyPr wrap="square">
            <a:spAutoFit/>
          </a:bodyPr>
          <a:lstStyle/>
          <a:p>
            <a:pPr algn="l"/>
            <a:r>
              <a:rPr sz="1200" b="1" i="0">
                <a:solidFill>
                  <a:srgbClr val="FFFFFF"/>
                </a:solidFill>
              </a:rPr>
              <a:t>YES → DBT-PTSD（第一選択）
寛解率58%（PMID: 32697288）</a:t>
            </a:r>
          </a:p>
        </p:txBody>
      </p:sp>
      <p:sp>
        <p:nvSpPr>
          <p:cNvPr id="15" name="TextBox 14"/>
          <p:cNvSpPr txBox="1"/>
          <p:nvPr/>
        </p:nvSpPr>
        <p:spPr>
          <a:xfrm>
            <a:off x="3520440" y="2468880"/>
            <a:ext cx="1371600" cy="320040"/>
          </a:xfrm>
          <a:prstGeom prst="rect">
            <a:avLst/>
          </a:prstGeom>
          <a:noFill/>
        </p:spPr>
        <p:txBody>
          <a:bodyPr wrap="square">
            <a:spAutoFit/>
          </a:bodyPr>
          <a:lstStyle/>
          <a:p>
            <a:pPr algn="l"/>
            <a:r>
              <a:rPr sz="1300" b="1" i="0">
                <a:solidFill>
                  <a:srgbClr val="007A87"/>
                </a:solidFill>
              </a:rPr>
              <a:t>← YES</a:t>
            </a:r>
          </a:p>
        </p:txBody>
      </p:sp>
      <p:sp>
        <p:nvSpPr>
          <p:cNvPr id="16" name="Rectangle 15"/>
          <p:cNvSpPr/>
          <p:nvPr/>
        </p:nvSpPr>
        <p:spPr>
          <a:xfrm>
            <a:off x="4937760" y="2834640"/>
            <a:ext cx="2377440" cy="594360"/>
          </a:xfrm>
          <a:prstGeom prst="rect">
            <a:avLst/>
          </a:prstGeom>
          <a:solidFill>
            <a:srgbClr val="F4F7FC"/>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880360"/>
            <a:ext cx="2194560" cy="457200"/>
          </a:xfrm>
          <a:prstGeom prst="rect">
            <a:avLst/>
          </a:prstGeom>
          <a:noFill/>
        </p:spPr>
        <p:txBody>
          <a:bodyPr wrap="square">
            <a:spAutoFit/>
          </a:bodyPr>
          <a:lstStyle/>
          <a:p>
            <a:pPr algn="ctr"/>
            <a:r>
              <a:rPr sz="1300" b="0" i="0">
                <a:solidFill>
                  <a:srgbClr val="1C1C2E"/>
                </a:solidFill>
              </a:rPr>
              <a:t>解離症状が顕著？</a:t>
            </a:r>
          </a:p>
        </p:txBody>
      </p:sp>
      <p:sp>
        <p:nvSpPr>
          <p:cNvPr id="18" name="TextBox 17"/>
          <p:cNvSpPr txBox="1"/>
          <p:nvPr/>
        </p:nvSpPr>
        <p:spPr>
          <a:xfrm>
            <a:off x="5760720" y="2651760"/>
            <a:ext cx="914400" cy="182880"/>
          </a:xfrm>
          <a:prstGeom prst="rect">
            <a:avLst/>
          </a:prstGeom>
          <a:noFill/>
        </p:spPr>
        <p:txBody>
          <a:bodyPr wrap="square">
            <a:spAutoFit/>
          </a:bodyPr>
          <a:lstStyle/>
          <a:p>
            <a:pPr algn="ctr"/>
            <a:r>
              <a:rPr sz="1100" b="0" i="0">
                <a:solidFill>
                  <a:srgbClr val="6B7A99"/>
                </a:solidFill>
              </a:rPr>
              <a:t>↓ NO</a:t>
            </a:r>
          </a:p>
        </p:txBody>
      </p:sp>
      <p:sp>
        <p:nvSpPr>
          <p:cNvPr id="19" name="Rectangle 18"/>
          <p:cNvSpPr/>
          <p:nvPr/>
        </p:nvSpPr>
        <p:spPr>
          <a:xfrm>
            <a:off x="320040" y="2926080"/>
            <a:ext cx="3200400" cy="5943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953512"/>
            <a:ext cx="3017520" cy="530352"/>
          </a:xfrm>
          <a:prstGeom prst="rect">
            <a:avLst/>
          </a:prstGeom>
          <a:noFill/>
        </p:spPr>
        <p:txBody>
          <a:bodyPr wrap="square">
            <a:spAutoFit/>
          </a:bodyPr>
          <a:lstStyle/>
          <a:p>
            <a:pPr algn="l"/>
            <a:r>
              <a:rPr sz="1200" b="1" i="0">
                <a:solidFill>
                  <a:srgbClr val="FFFFFF"/>
                </a:solidFill>
              </a:rPr>
              <a:t>YES → 解離安定化介入
       → その後 EMDR</a:t>
            </a:r>
          </a:p>
        </p:txBody>
      </p:sp>
      <p:sp>
        <p:nvSpPr>
          <p:cNvPr id="21" name="TextBox 20"/>
          <p:cNvSpPr txBox="1"/>
          <p:nvPr/>
        </p:nvSpPr>
        <p:spPr>
          <a:xfrm>
            <a:off x="3520440" y="3090672"/>
            <a:ext cx="1371600" cy="320040"/>
          </a:xfrm>
          <a:prstGeom prst="rect">
            <a:avLst/>
          </a:prstGeom>
          <a:noFill/>
        </p:spPr>
        <p:txBody>
          <a:bodyPr wrap="square">
            <a:spAutoFit/>
          </a:bodyPr>
          <a:lstStyle/>
          <a:p>
            <a:pPr algn="l"/>
            <a:r>
              <a:rPr sz="1300" b="1" i="0">
                <a:solidFill>
                  <a:srgbClr val="1A2F5E"/>
                </a:solidFill>
              </a:rPr>
              <a:t>← YES</a:t>
            </a:r>
          </a:p>
        </p:txBody>
      </p:sp>
      <p:sp>
        <p:nvSpPr>
          <p:cNvPr id="22" name="Rectangle 21"/>
          <p:cNvSpPr/>
          <p:nvPr/>
        </p:nvSpPr>
        <p:spPr>
          <a:xfrm>
            <a:off x="4937760" y="3611880"/>
            <a:ext cx="2377440" cy="594360"/>
          </a:xfrm>
          <a:prstGeom prst="rect">
            <a:avLst/>
          </a:prstGeom>
          <a:solidFill>
            <a:srgbClr val="F4F7FC"/>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639312"/>
            <a:ext cx="2194560" cy="530352"/>
          </a:xfrm>
          <a:prstGeom prst="rect">
            <a:avLst/>
          </a:prstGeom>
          <a:noFill/>
        </p:spPr>
        <p:txBody>
          <a:bodyPr wrap="square">
            <a:spAutoFit/>
          </a:bodyPr>
          <a:lstStyle/>
          <a:p>
            <a:pPr algn="ctr"/>
            <a:r>
              <a:rPr sz="1200" b="0" i="0">
                <a:solidFill>
                  <a:srgbClr val="1C1C2E"/>
                </a:solidFill>
              </a:rPr>
              <a:t>幼少期発症トラウマ？
長期的介入が必要？</a:t>
            </a:r>
          </a:p>
        </p:txBody>
      </p:sp>
      <p:sp>
        <p:nvSpPr>
          <p:cNvPr id="24" name="TextBox 23"/>
          <p:cNvSpPr txBox="1"/>
          <p:nvPr/>
        </p:nvSpPr>
        <p:spPr>
          <a:xfrm>
            <a:off x="5760720" y="3456432"/>
            <a:ext cx="914400" cy="182880"/>
          </a:xfrm>
          <a:prstGeom prst="rect">
            <a:avLst/>
          </a:prstGeom>
          <a:noFill/>
        </p:spPr>
        <p:txBody>
          <a:bodyPr wrap="square">
            <a:spAutoFit/>
          </a:bodyPr>
          <a:lstStyle/>
          <a:p>
            <a:pPr algn="ctr"/>
            <a:r>
              <a:rPr sz="1100" b="0" i="0">
                <a:solidFill>
                  <a:srgbClr val="6B7A99"/>
                </a:solidFill>
              </a:rPr>
              <a:t>↓ NO</a:t>
            </a:r>
          </a:p>
        </p:txBody>
      </p:sp>
      <p:sp>
        <p:nvSpPr>
          <p:cNvPr id="25" name="Rectangle 24"/>
          <p:cNvSpPr/>
          <p:nvPr/>
        </p:nvSpPr>
        <p:spPr>
          <a:xfrm>
            <a:off x="320040" y="3657600"/>
            <a:ext cx="3200400" cy="64008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3685032"/>
            <a:ext cx="3017520" cy="576072"/>
          </a:xfrm>
          <a:prstGeom prst="rect">
            <a:avLst/>
          </a:prstGeom>
          <a:noFill/>
        </p:spPr>
        <p:txBody>
          <a:bodyPr wrap="square">
            <a:spAutoFit/>
          </a:bodyPr>
          <a:lstStyle/>
          <a:p>
            <a:pPr algn="l"/>
            <a:r>
              <a:rPr sz="1200" b="1" i="0">
                <a:solidFill>
                  <a:srgbClr val="FFFFFF"/>
                </a:solidFill>
              </a:rPr>
              <a:t>YES → STAIRナラティブ療法
       ＋ フェーズ基盤型 CPT</a:t>
            </a:r>
          </a:p>
        </p:txBody>
      </p:sp>
      <p:sp>
        <p:nvSpPr>
          <p:cNvPr id="27" name="TextBox 26"/>
          <p:cNvSpPr txBox="1"/>
          <p:nvPr/>
        </p:nvSpPr>
        <p:spPr>
          <a:xfrm>
            <a:off x="3520440" y="3840480"/>
            <a:ext cx="1371600" cy="320040"/>
          </a:xfrm>
          <a:prstGeom prst="rect">
            <a:avLst/>
          </a:prstGeom>
          <a:noFill/>
        </p:spPr>
        <p:txBody>
          <a:bodyPr wrap="square">
            <a:spAutoFit/>
          </a:bodyPr>
          <a:lstStyle/>
          <a:p>
            <a:pPr algn="l"/>
            <a:r>
              <a:rPr sz="1300" b="1" i="0">
                <a:solidFill>
                  <a:srgbClr val="E84A5F"/>
                </a:solidFill>
              </a:rPr>
              <a:t>← YES</a:t>
            </a:r>
          </a:p>
        </p:txBody>
      </p:sp>
      <p:sp>
        <p:nvSpPr>
          <p:cNvPr id="28" name="TextBox 27"/>
          <p:cNvSpPr txBox="1"/>
          <p:nvPr/>
        </p:nvSpPr>
        <p:spPr>
          <a:xfrm>
            <a:off x="5760720" y="4233672"/>
            <a:ext cx="914400" cy="182880"/>
          </a:xfrm>
          <a:prstGeom prst="rect">
            <a:avLst/>
          </a:prstGeom>
          <a:noFill/>
        </p:spPr>
        <p:txBody>
          <a:bodyPr wrap="square">
            <a:spAutoFit/>
          </a:bodyPr>
          <a:lstStyle/>
          <a:p>
            <a:pPr algn="ctr"/>
            <a:r>
              <a:rPr sz="1100" b="0" i="0">
                <a:solidFill>
                  <a:srgbClr val="6B7A99"/>
                </a:solidFill>
              </a:rPr>
              <a:t>↓ NO</a:t>
            </a:r>
          </a:p>
        </p:txBody>
      </p:sp>
      <p:sp>
        <p:nvSpPr>
          <p:cNvPr id="29" name="Rectangle 28"/>
          <p:cNvSpPr/>
          <p:nvPr/>
        </p:nvSpPr>
        <p:spPr>
          <a:xfrm>
            <a:off x="4937760" y="4416552"/>
            <a:ext cx="2377440" cy="5486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0" y="4443984"/>
            <a:ext cx="2194560" cy="475488"/>
          </a:xfrm>
          <a:prstGeom prst="rect">
            <a:avLst/>
          </a:prstGeom>
          <a:noFill/>
        </p:spPr>
        <p:txBody>
          <a:bodyPr wrap="square">
            <a:spAutoFit/>
          </a:bodyPr>
          <a:lstStyle/>
          <a:p>
            <a:pPr algn="ctr"/>
            <a:r>
              <a:rPr sz="1300" b="1" i="0">
                <a:solidFill>
                  <a:srgbClr val="FFFFFF"/>
                </a:solidFill>
              </a:rPr>
              <a:t>EMDR  または  PE / CPT</a:t>
            </a:r>
          </a:p>
        </p:txBody>
      </p:sp>
      <p:sp>
        <p:nvSpPr>
          <p:cNvPr id="31" name="Rectangle 30"/>
          <p:cNvSpPr/>
          <p:nvPr/>
        </p:nvSpPr>
        <p:spPr>
          <a:xfrm>
            <a:off x="8412480" y="2057400"/>
            <a:ext cx="3520440" cy="3291840"/>
          </a:xfrm>
          <a:prstGeom prst="rect">
            <a:avLst/>
          </a:prstGeom>
          <a:solidFill>
            <a:srgbClr val="F4F7FC"/>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9640" y="2148840"/>
            <a:ext cx="3200400" cy="365760"/>
          </a:xfrm>
          <a:prstGeom prst="rect">
            <a:avLst/>
          </a:prstGeom>
          <a:noFill/>
        </p:spPr>
        <p:txBody>
          <a:bodyPr wrap="square">
            <a:spAutoFit/>
          </a:bodyPr>
          <a:lstStyle/>
          <a:p>
            <a:pPr algn="l"/>
            <a:r>
              <a:rPr sz="1400" b="1" i="0">
                <a:solidFill>
                  <a:srgbClr val="28A745"/>
                </a:solidFill>
              </a:rPr>
              <a:t>全員に共通</a:t>
            </a:r>
          </a:p>
        </p:txBody>
      </p:sp>
      <p:sp>
        <p:nvSpPr>
          <p:cNvPr id="33" name="TextBox 32"/>
          <p:cNvSpPr txBox="1"/>
          <p:nvPr/>
        </p:nvSpPr>
        <p:spPr>
          <a:xfrm>
            <a:off x="8549640" y="2560320"/>
            <a:ext cx="3200400" cy="2560320"/>
          </a:xfrm>
          <a:prstGeom prst="rect">
            <a:avLst/>
          </a:prstGeom>
          <a:noFill/>
        </p:spPr>
        <p:txBody>
          <a:bodyPr wrap="square">
            <a:spAutoFit/>
          </a:bodyPr>
          <a:lstStyle/>
          <a:p>
            <a:pPr algn="l"/>
            <a:r>
              <a:rPr sz="1300" b="0" i="0">
                <a:solidFill>
                  <a:srgbClr val="1C1C2E"/>
                </a:solidFill>
              </a:rPr>
              <a:t>睡眠障害があれば
薬物療法を補助的に
悪夢 → プラゾシン
入眠障害 → トラゾドン
残存症状 → SSRI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C-PTSDを疑うべきサイン 5つ</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第4章：臨床チェックポイント｜1分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15 / 17</a:t>
            </a:r>
          </a:p>
        </p:txBody>
      </p:sp>
      <p:sp>
        <p:nvSpPr>
          <p:cNvPr id="9" name="Rectangle 8"/>
          <p:cNvSpPr/>
          <p:nvPr/>
        </p:nvSpPr>
        <p:spPr>
          <a:xfrm>
            <a:off x="320040" y="1417320"/>
            <a:ext cx="640080" cy="7315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463040"/>
            <a:ext cx="640080" cy="594360"/>
          </a:xfrm>
          <a:prstGeom prst="rect">
            <a:avLst/>
          </a:prstGeom>
          <a:noFill/>
        </p:spPr>
        <p:txBody>
          <a:bodyPr wrap="square">
            <a:spAutoFit/>
          </a:bodyPr>
          <a:lstStyle/>
          <a:p>
            <a:pPr algn="ctr"/>
            <a:r>
              <a:rPr sz="2600" b="1" i="0">
                <a:solidFill>
                  <a:srgbClr val="FFFFFF"/>
                </a:solidFill>
              </a:rPr>
              <a:t>1</a:t>
            </a:r>
          </a:p>
        </p:txBody>
      </p:sp>
      <p:sp>
        <p:nvSpPr>
          <p:cNvPr id="11" name="Rectangle 10"/>
          <p:cNvSpPr/>
          <p:nvPr/>
        </p:nvSpPr>
        <p:spPr>
          <a:xfrm>
            <a:off x="1051560" y="1417320"/>
            <a:ext cx="10817352" cy="73152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1481328"/>
            <a:ext cx="10543032" cy="594360"/>
          </a:xfrm>
          <a:prstGeom prst="rect">
            <a:avLst/>
          </a:prstGeom>
          <a:noFill/>
        </p:spPr>
        <p:txBody>
          <a:bodyPr wrap="square">
            <a:spAutoFit/>
          </a:bodyPr>
          <a:lstStyle/>
          <a:p>
            <a:pPr algn="l"/>
            <a:r>
              <a:rPr sz="1600" b="0" i="0">
                <a:solidFill>
                  <a:srgbClr val="1C1C2E"/>
                </a:solidFill>
              </a:rPr>
              <a:t>複数の科を転々としている「難治」患者</a:t>
            </a:r>
          </a:p>
        </p:txBody>
      </p:sp>
      <p:sp>
        <p:nvSpPr>
          <p:cNvPr id="13" name="Rectangle 12"/>
          <p:cNvSpPr/>
          <p:nvPr/>
        </p:nvSpPr>
        <p:spPr>
          <a:xfrm>
            <a:off x="320040" y="2286000"/>
            <a:ext cx="640080" cy="7315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331720"/>
            <a:ext cx="640080" cy="594360"/>
          </a:xfrm>
          <a:prstGeom prst="rect">
            <a:avLst/>
          </a:prstGeom>
          <a:noFill/>
        </p:spPr>
        <p:txBody>
          <a:bodyPr wrap="square">
            <a:spAutoFit/>
          </a:bodyPr>
          <a:lstStyle/>
          <a:p>
            <a:pPr algn="ctr"/>
            <a:r>
              <a:rPr sz="2600" b="1" i="0">
                <a:solidFill>
                  <a:srgbClr val="FFFFFF"/>
                </a:solidFill>
              </a:rPr>
              <a:t>2</a:t>
            </a:r>
          </a:p>
        </p:txBody>
      </p:sp>
      <p:sp>
        <p:nvSpPr>
          <p:cNvPr id="15" name="Rectangle 14"/>
          <p:cNvSpPr/>
          <p:nvPr/>
        </p:nvSpPr>
        <p:spPr>
          <a:xfrm>
            <a:off x="1051560" y="2286000"/>
            <a:ext cx="10817352"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2350008"/>
            <a:ext cx="10543032" cy="594360"/>
          </a:xfrm>
          <a:prstGeom prst="rect">
            <a:avLst/>
          </a:prstGeom>
          <a:noFill/>
        </p:spPr>
        <p:txBody>
          <a:bodyPr wrap="square">
            <a:spAutoFit/>
          </a:bodyPr>
          <a:lstStyle/>
          <a:p>
            <a:pPr algn="l"/>
            <a:r>
              <a:rPr sz="1600" b="0" i="0">
                <a:solidFill>
                  <a:srgbClr val="1C1C2E"/>
                </a:solidFill>
              </a:rPr>
              <a:t>感情の激しい起伏  または  感情の平板化</a:t>
            </a:r>
          </a:p>
        </p:txBody>
      </p:sp>
      <p:sp>
        <p:nvSpPr>
          <p:cNvPr id="17" name="Rectangle 16"/>
          <p:cNvSpPr/>
          <p:nvPr/>
        </p:nvSpPr>
        <p:spPr>
          <a:xfrm>
            <a:off x="320040" y="3154680"/>
            <a:ext cx="640080" cy="73152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3200400"/>
            <a:ext cx="640080" cy="594360"/>
          </a:xfrm>
          <a:prstGeom prst="rect">
            <a:avLst/>
          </a:prstGeom>
          <a:noFill/>
        </p:spPr>
        <p:txBody>
          <a:bodyPr wrap="square">
            <a:spAutoFit/>
          </a:bodyPr>
          <a:lstStyle/>
          <a:p>
            <a:pPr algn="ctr"/>
            <a:r>
              <a:rPr sz="2600" b="1" i="0">
                <a:solidFill>
                  <a:srgbClr val="FFFFFF"/>
                </a:solidFill>
              </a:rPr>
              <a:t>3</a:t>
            </a:r>
          </a:p>
        </p:txBody>
      </p:sp>
      <p:sp>
        <p:nvSpPr>
          <p:cNvPr id="19" name="Rectangle 18"/>
          <p:cNvSpPr/>
          <p:nvPr/>
        </p:nvSpPr>
        <p:spPr>
          <a:xfrm>
            <a:off x="1051560" y="3154680"/>
            <a:ext cx="10817352" cy="73152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3218688"/>
            <a:ext cx="10543032" cy="594360"/>
          </a:xfrm>
          <a:prstGeom prst="rect">
            <a:avLst/>
          </a:prstGeom>
          <a:noFill/>
        </p:spPr>
        <p:txBody>
          <a:bodyPr wrap="square">
            <a:spAutoFit/>
          </a:bodyPr>
          <a:lstStyle/>
          <a:p>
            <a:pPr algn="l"/>
            <a:r>
              <a:rPr sz="1600" b="0" i="0">
                <a:solidFill>
                  <a:srgbClr val="1C1C2E"/>
                </a:solidFill>
              </a:rPr>
              <a:t>医療者への不信・「問題患者」ラベルがついている</a:t>
            </a:r>
          </a:p>
        </p:txBody>
      </p:sp>
      <p:sp>
        <p:nvSpPr>
          <p:cNvPr id="21" name="Rectangle 20"/>
          <p:cNvSpPr/>
          <p:nvPr/>
        </p:nvSpPr>
        <p:spPr>
          <a:xfrm>
            <a:off x="320040" y="4023359"/>
            <a:ext cx="640080" cy="73152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4069079"/>
            <a:ext cx="640080" cy="594360"/>
          </a:xfrm>
          <a:prstGeom prst="rect">
            <a:avLst/>
          </a:prstGeom>
          <a:noFill/>
        </p:spPr>
        <p:txBody>
          <a:bodyPr wrap="square">
            <a:spAutoFit/>
          </a:bodyPr>
          <a:lstStyle/>
          <a:p>
            <a:pPr algn="ctr"/>
            <a:r>
              <a:rPr sz="2600" b="1" i="0">
                <a:solidFill>
                  <a:srgbClr val="FFFFFF"/>
                </a:solidFill>
              </a:rPr>
              <a:t>4</a:t>
            </a:r>
          </a:p>
        </p:txBody>
      </p:sp>
      <p:sp>
        <p:nvSpPr>
          <p:cNvPr id="23" name="Rectangle 22"/>
          <p:cNvSpPr/>
          <p:nvPr/>
        </p:nvSpPr>
        <p:spPr>
          <a:xfrm>
            <a:off x="1051560" y="4023359"/>
            <a:ext cx="10817352"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087368"/>
            <a:ext cx="10543032" cy="594360"/>
          </a:xfrm>
          <a:prstGeom prst="rect">
            <a:avLst/>
          </a:prstGeom>
          <a:noFill/>
        </p:spPr>
        <p:txBody>
          <a:bodyPr wrap="square">
            <a:spAutoFit/>
          </a:bodyPr>
          <a:lstStyle/>
          <a:p>
            <a:pPr algn="l"/>
            <a:r>
              <a:rPr sz="1600" b="0" i="0">
                <a:solidFill>
                  <a:srgbClr val="1C1C2E"/>
                </a:solidFill>
              </a:rPr>
              <a:t>慢性疼痛・機能性身体症状が遷延している</a:t>
            </a:r>
          </a:p>
        </p:txBody>
      </p:sp>
      <p:sp>
        <p:nvSpPr>
          <p:cNvPr id="25" name="Rectangle 24"/>
          <p:cNvSpPr/>
          <p:nvPr/>
        </p:nvSpPr>
        <p:spPr>
          <a:xfrm>
            <a:off x="320040" y="4892040"/>
            <a:ext cx="640080" cy="7315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4937760"/>
            <a:ext cx="640080" cy="594360"/>
          </a:xfrm>
          <a:prstGeom prst="rect">
            <a:avLst/>
          </a:prstGeom>
          <a:noFill/>
        </p:spPr>
        <p:txBody>
          <a:bodyPr wrap="square">
            <a:spAutoFit/>
          </a:bodyPr>
          <a:lstStyle/>
          <a:p>
            <a:pPr algn="ctr"/>
            <a:r>
              <a:rPr sz="2600" b="1" i="0">
                <a:solidFill>
                  <a:srgbClr val="FFFFFF"/>
                </a:solidFill>
              </a:rPr>
              <a:t>5</a:t>
            </a:r>
          </a:p>
        </p:txBody>
      </p:sp>
      <p:sp>
        <p:nvSpPr>
          <p:cNvPr id="27" name="Rectangle 26"/>
          <p:cNvSpPr/>
          <p:nvPr/>
        </p:nvSpPr>
        <p:spPr>
          <a:xfrm>
            <a:off x="1051560" y="4892040"/>
            <a:ext cx="10817352" cy="73152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4956048"/>
            <a:ext cx="10543032" cy="594360"/>
          </a:xfrm>
          <a:prstGeom prst="rect">
            <a:avLst/>
          </a:prstGeom>
          <a:noFill/>
        </p:spPr>
        <p:txBody>
          <a:bodyPr wrap="square">
            <a:spAutoFit/>
          </a:bodyPr>
          <a:lstStyle/>
          <a:p>
            <a:pPr algn="l"/>
            <a:r>
              <a:rPr sz="1600" b="1" i="0">
                <a:solidFill>
                  <a:srgbClr val="1C1C2E"/>
                </a:solidFill>
              </a:rPr>
              <a:t>反復・長期トラウマの既往（問診で必ず確認 ← 最重要）</a:t>
            </a:r>
          </a:p>
        </p:txBody>
      </p:sp>
      <p:sp>
        <p:nvSpPr>
          <p:cNvPr id="29" name="Rectangle 28"/>
          <p:cNvSpPr/>
          <p:nvPr/>
        </p:nvSpPr>
        <p:spPr>
          <a:xfrm>
            <a:off x="320040" y="5806440"/>
            <a:ext cx="11548872" cy="5029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852160"/>
            <a:ext cx="11183112" cy="411480"/>
          </a:xfrm>
          <a:prstGeom prst="rect">
            <a:avLst/>
          </a:prstGeom>
          <a:noFill/>
        </p:spPr>
        <p:txBody>
          <a:bodyPr wrap="square">
            <a:spAutoFit/>
          </a:bodyPr>
          <a:lstStyle/>
          <a:p>
            <a:pPr algn="ctr"/>
            <a:r>
              <a:rPr sz="1400" b="1" i="0">
                <a:solidFill>
                  <a:srgbClr val="1A2F5E"/>
                </a:solidFill>
              </a:rPr>
              <a:t>No.5 が最重要：「幼少期に大変なことはありましたか？」と意識的に問診する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紹介のタイミングと「やってはいけないこと」</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第4章：臨床チェックポイント｜2分</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16 / 17</a:t>
            </a:r>
          </a:p>
        </p:txBody>
      </p:sp>
      <p:sp>
        <p:nvSpPr>
          <p:cNvPr id="9" name="Rectangle 8"/>
          <p:cNvSpPr/>
          <p:nvPr/>
        </p:nvSpPr>
        <p:spPr>
          <a:xfrm>
            <a:off x="320040" y="1417320"/>
            <a:ext cx="5486400" cy="182880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5212080" cy="320040"/>
          </a:xfrm>
          <a:prstGeom prst="rect">
            <a:avLst/>
          </a:prstGeom>
          <a:noFill/>
        </p:spPr>
        <p:txBody>
          <a:bodyPr wrap="square">
            <a:spAutoFit/>
          </a:bodyPr>
          <a:lstStyle/>
          <a:p>
            <a:pPr algn="l"/>
            <a:r>
              <a:rPr sz="1400" b="1" i="0">
                <a:solidFill>
                  <a:srgbClr val="007A87"/>
                </a:solidFill>
              </a:rPr>
              <a:t>紹介のタイミング</a:t>
            </a:r>
          </a:p>
        </p:txBody>
      </p:sp>
      <p:sp>
        <p:nvSpPr>
          <p:cNvPr id="11" name="TextBox 10"/>
          <p:cNvSpPr txBox="1"/>
          <p:nvPr/>
        </p:nvSpPr>
        <p:spPr>
          <a:xfrm>
            <a:off x="457200" y="1828800"/>
            <a:ext cx="5212080" cy="1280160"/>
          </a:xfrm>
          <a:prstGeom prst="rect">
            <a:avLst/>
          </a:prstGeom>
          <a:noFill/>
        </p:spPr>
        <p:txBody>
          <a:bodyPr wrap="square">
            <a:spAutoFit/>
          </a:bodyPr>
          <a:lstStyle/>
          <a:p>
            <a:pPr>
              <a:spcBef>
                <a:spcPts val="300"/>
              </a:spcBef>
            </a:pPr>
            <a:r>
              <a:rPr sz="1500">
                <a:solidFill>
                  <a:srgbClr val="1C1C2E"/>
                </a:solidFill>
              </a:rPr>
              <a:t>●  自傷・希死念慮が出現したとき（緊急）</a:t>
            </a:r>
          </a:p>
          <a:p>
            <a:pPr>
              <a:spcBef>
                <a:spcPts val="300"/>
              </a:spcBef>
            </a:pPr>
            <a:r>
              <a:rPr sz="1500">
                <a:solidFill>
                  <a:srgbClr val="1C1C2E"/>
                </a:solidFill>
              </a:rPr>
              <a:t>●  解離症状が顕著なとき</a:t>
            </a:r>
          </a:p>
          <a:p>
            <a:pPr>
              <a:spcBef>
                <a:spcPts val="300"/>
              </a:spcBef>
            </a:pPr>
            <a:r>
              <a:rPr sz="1500">
                <a:solidFill>
                  <a:srgbClr val="1C1C2E"/>
                </a:solidFill>
              </a:rPr>
              <a:t>●  感情調節障害が強く通常の外来対応が困難なとき</a:t>
            </a:r>
          </a:p>
        </p:txBody>
      </p:sp>
      <p:sp>
        <p:nvSpPr>
          <p:cNvPr id="12" name="Rectangle 11"/>
          <p:cNvSpPr/>
          <p:nvPr/>
        </p:nvSpPr>
        <p:spPr>
          <a:xfrm>
            <a:off x="320040" y="3337560"/>
            <a:ext cx="5486400" cy="1828800"/>
          </a:xfrm>
          <a:prstGeom prst="rect">
            <a:avLst/>
          </a:prstGeom>
          <a:solidFill>
            <a:srgbClr val="FFFFFF"/>
          </a:solidFill>
          <a:ln w="19050">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212080" cy="320040"/>
          </a:xfrm>
          <a:prstGeom prst="rect">
            <a:avLst/>
          </a:prstGeom>
          <a:noFill/>
        </p:spPr>
        <p:txBody>
          <a:bodyPr wrap="square">
            <a:spAutoFit/>
          </a:bodyPr>
          <a:lstStyle/>
          <a:p>
            <a:pPr algn="l"/>
            <a:r>
              <a:rPr sz="1400" b="1" i="0">
                <a:solidFill>
                  <a:srgbClr val="007A87"/>
                </a:solidFill>
              </a:rPr>
              <a:t>紹介先の選び方</a:t>
            </a:r>
          </a:p>
        </p:txBody>
      </p:sp>
      <p:sp>
        <p:nvSpPr>
          <p:cNvPr id="14" name="TextBox 13"/>
          <p:cNvSpPr txBox="1"/>
          <p:nvPr/>
        </p:nvSpPr>
        <p:spPr>
          <a:xfrm>
            <a:off x="457200" y="3749040"/>
            <a:ext cx="5212080" cy="1280160"/>
          </a:xfrm>
          <a:prstGeom prst="rect">
            <a:avLst/>
          </a:prstGeom>
          <a:noFill/>
        </p:spPr>
        <p:txBody>
          <a:bodyPr wrap="square">
            <a:spAutoFit/>
          </a:bodyPr>
          <a:lstStyle/>
          <a:p>
            <a:pPr>
              <a:spcBef>
                <a:spcPts val="300"/>
              </a:spcBef>
            </a:pPr>
            <a:r>
              <a:rPr sz="1500">
                <a:solidFill>
                  <a:srgbClr val="1C1C2E"/>
                </a:solidFill>
              </a:rPr>
              <a:t>●  DBTを提供できる精神科・心療内科クリニック</a:t>
            </a:r>
          </a:p>
          <a:p>
            <a:pPr>
              <a:spcBef>
                <a:spcPts val="300"/>
              </a:spcBef>
            </a:pPr>
            <a:r>
              <a:rPr sz="1500">
                <a:solidFill>
                  <a:srgbClr val="1C1C2E"/>
                </a:solidFill>
              </a:rPr>
              <a:t>●  トラウマ専門外来（大学病院）</a:t>
            </a:r>
          </a:p>
          <a:p>
            <a:pPr>
              <a:spcBef>
                <a:spcPts val="300"/>
              </a:spcBef>
            </a:pPr>
            <a:r>
              <a:rPr sz="1500">
                <a:solidFill>
                  <a:srgbClr val="1C1C2E"/>
                </a:solidFill>
              </a:rPr>
              <a:t>●  EMDR認定セラピストのいる施設</a:t>
            </a:r>
          </a:p>
        </p:txBody>
      </p:sp>
      <p:sp>
        <p:nvSpPr>
          <p:cNvPr id="15" name="Rectangle 14"/>
          <p:cNvSpPr/>
          <p:nvPr/>
        </p:nvSpPr>
        <p:spPr>
          <a:xfrm>
            <a:off x="5989320" y="1417320"/>
            <a:ext cx="5852160" cy="128016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481328"/>
            <a:ext cx="5303520" cy="365760"/>
          </a:xfrm>
          <a:prstGeom prst="rect">
            <a:avLst/>
          </a:prstGeom>
          <a:noFill/>
        </p:spPr>
        <p:txBody>
          <a:bodyPr wrap="square">
            <a:spAutoFit/>
          </a:bodyPr>
          <a:lstStyle/>
          <a:p>
            <a:pPr algn="l"/>
            <a:r>
              <a:rPr sz="1500" b="1" i="0">
                <a:solidFill>
                  <a:srgbClr val="FFFFFF"/>
                </a:solidFill>
              </a:rPr>
              <a:t>❌  1</a:t>
            </a:r>
          </a:p>
        </p:txBody>
      </p:sp>
      <p:sp>
        <p:nvSpPr>
          <p:cNvPr id="17" name="TextBox 16"/>
          <p:cNvSpPr txBox="1"/>
          <p:nvPr/>
        </p:nvSpPr>
        <p:spPr>
          <a:xfrm>
            <a:off x="6126480" y="1847088"/>
            <a:ext cx="5303520" cy="640080"/>
          </a:xfrm>
          <a:prstGeom prst="rect">
            <a:avLst/>
          </a:prstGeom>
          <a:noFill/>
        </p:spPr>
        <p:txBody>
          <a:bodyPr wrap="square">
            <a:spAutoFit/>
          </a:bodyPr>
          <a:lstStyle/>
          <a:p>
            <a:pPr algn="l"/>
            <a:r>
              <a:rPr sz="1300" b="0" i="0">
                <a:solidFill>
                  <a:srgbClr val="FFFFFF"/>
                </a:solidFill>
              </a:rPr>
              <a:t>安定化なしにトラウマを詳しく掘り起こす
「詳しく教えてください」は最初の診察では禁物</a:t>
            </a:r>
          </a:p>
        </p:txBody>
      </p:sp>
      <p:sp>
        <p:nvSpPr>
          <p:cNvPr id="18" name="Rectangle 17"/>
          <p:cNvSpPr/>
          <p:nvPr/>
        </p:nvSpPr>
        <p:spPr>
          <a:xfrm>
            <a:off x="5989320" y="2834640"/>
            <a:ext cx="5852160" cy="128016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898648"/>
            <a:ext cx="5303520" cy="365760"/>
          </a:xfrm>
          <a:prstGeom prst="rect">
            <a:avLst/>
          </a:prstGeom>
          <a:noFill/>
        </p:spPr>
        <p:txBody>
          <a:bodyPr wrap="square">
            <a:spAutoFit/>
          </a:bodyPr>
          <a:lstStyle/>
          <a:p>
            <a:pPr algn="l"/>
            <a:r>
              <a:rPr sz="1500" b="1" i="0">
                <a:solidFill>
                  <a:srgbClr val="FFFFFF"/>
                </a:solidFill>
              </a:rPr>
              <a:t>❌  2</a:t>
            </a:r>
          </a:p>
        </p:txBody>
      </p:sp>
      <p:sp>
        <p:nvSpPr>
          <p:cNvPr id="20" name="TextBox 19"/>
          <p:cNvSpPr txBox="1"/>
          <p:nvPr/>
        </p:nvSpPr>
        <p:spPr>
          <a:xfrm>
            <a:off x="6126480" y="3264408"/>
            <a:ext cx="5303520" cy="640080"/>
          </a:xfrm>
          <a:prstGeom prst="rect">
            <a:avLst/>
          </a:prstGeom>
          <a:noFill/>
        </p:spPr>
        <p:txBody>
          <a:bodyPr wrap="square">
            <a:spAutoFit/>
          </a:bodyPr>
          <a:lstStyle/>
          <a:p>
            <a:pPr algn="l"/>
            <a:r>
              <a:rPr sz="1300" b="0" i="0">
                <a:solidFill>
                  <a:srgbClr val="FFFFFF"/>
                </a:solidFill>
              </a:rPr>
              <a:t>「もう過去のことだから大丈夫」と言う
過去は今この瞬間も続いている体験をしている</a:t>
            </a:r>
          </a:p>
        </p:txBody>
      </p:sp>
      <p:sp>
        <p:nvSpPr>
          <p:cNvPr id="21" name="Rectangle 20"/>
          <p:cNvSpPr/>
          <p:nvPr/>
        </p:nvSpPr>
        <p:spPr>
          <a:xfrm>
            <a:off x="5989320" y="4251960"/>
            <a:ext cx="5852160" cy="1280160"/>
          </a:xfrm>
          <a:prstGeom prst="rect">
            <a:avLst/>
          </a:prstGeom>
          <a:solidFill>
            <a:srgbClr val="E84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4315968"/>
            <a:ext cx="5303520" cy="365760"/>
          </a:xfrm>
          <a:prstGeom prst="rect">
            <a:avLst/>
          </a:prstGeom>
          <a:noFill/>
        </p:spPr>
        <p:txBody>
          <a:bodyPr wrap="square">
            <a:spAutoFit/>
          </a:bodyPr>
          <a:lstStyle/>
          <a:p>
            <a:pPr algn="l"/>
            <a:r>
              <a:rPr sz="1500" b="1" i="0">
                <a:solidFill>
                  <a:srgbClr val="FFFFFF"/>
                </a:solidFill>
              </a:rPr>
              <a:t>❌  3</a:t>
            </a:r>
          </a:p>
        </p:txBody>
      </p:sp>
      <p:sp>
        <p:nvSpPr>
          <p:cNvPr id="23" name="TextBox 22"/>
          <p:cNvSpPr txBox="1"/>
          <p:nvPr/>
        </p:nvSpPr>
        <p:spPr>
          <a:xfrm>
            <a:off x="6126480" y="4681728"/>
            <a:ext cx="5303520" cy="640080"/>
          </a:xfrm>
          <a:prstGeom prst="rect">
            <a:avLst/>
          </a:prstGeom>
          <a:noFill/>
        </p:spPr>
        <p:txBody>
          <a:bodyPr wrap="square">
            <a:spAutoFit/>
          </a:bodyPr>
          <a:lstStyle/>
          <a:p>
            <a:pPr algn="l"/>
            <a:r>
              <a:rPr sz="1300" b="0" i="0">
                <a:solidFill>
                  <a:srgbClr val="FFFFFF"/>
                </a:solidFill>
              </a:rPr>
              <a:t>「問題患者」として切り捨て、紹介もしない
できなければできる施設へ——それが最大の支援</a:t>
            </a:r>
          </a:p>
        </p:txBody>
      </p:sp>
      <p:sp>
        <p:nvSpPr>
          <p:cNvPr id="24" name="TextBox 23"/>
          <p:cNvSpPr txBox="1"/>
          <p:nvPr/>
        </p:nvSpPr>
        <p:spPr>
          <a:xfrm>
            <a:off x="5989320" y="1234440"/>
            <a:ext cx="3200400" cy="320040"/>
          </a:xfrm>
          <a:prstGeom prst="rect">
            <a:avLst/>
          </a:prstGeom>
          <a:noFill/>
        </p:spPr>
        <p:txBody>
          <a:bodyPr wrap="square">
            <a:spAutoFit/>
          </a:bodyPr>
          <a:lstStyle/>
          <a:p>
            <a:pPr algn="l"/>
            <a:r>
              <a:rPr sz="1400" b="1" i="0">
                <a:solidFill>
                  <a:srgbClr val="E84A5F"/>
                </a:solidFill>
              </a:rPr>
              <a:t>やってはいけないこと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74552" cy="777240"/>
          </a:xfrm>
          <a:prstGeom prst="rect">
            <a:avLst/>
          </a:prstGeom>
          <a:noFill/>
        </p:spPr>
        <p:txBody>
          <a:bodyPr wrap="square">
            <a:spAutoFit/>
          </a:bodyPr>
          <a:lstStyle/>
          <a:p>
            <a:pPr algn="l"/>
            <a:r>
              <a:rPr sz="2600" b="1" i="0">
                <a:solidFill>
                  <a:srgbClr val="FFFFFF"/>
                </a:solidFill>
              </a:rPr>
              <a:t>今日の 3 つのキーメッセージ</a:t>
            </a:r>
          </a:p>
        </p:txBody>
      </p:sp>
      <p:sp>
        <p:nvSpPr>
          <p:cNvPr id="5" name="Rectangle 4"/>
          <p:cNvSpPr/>
          <p:nvPr/>
        </p:nvSpPr>
        <p:spPr>
          <a:xfrm>
            <a:off x="320040" y="1325880"/>
            <a:ext cx="594360" cy="109728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417320"/>
            <a:ext cx="594360" cy="914400"/>
          </a:xfrm>
          <a:prstGeom prst="rect">
            <a:avLst/>
          </a:prstGeom>
          <a:noFill/>
        </p:spPr>
        <p:txBody>
          <a:bodyPr wrap="square">
            <a:spAutoFit/>
          </a:bodyPr>
          <a:lstStyle/>
          <a:p>
            <a:pPr algn="ctr"/>
            <a:r>
              <a:rPr sz="3200" b="1" i="0">
                <a:solidFill>
                  <a:srgbClr val="FFFFFF"/>
                </a:solidFill>
              </a:rPr>
              <a:t>1</a:t>
            </a:r>
          </a:p>
        </p:txBody>
      </p:sp>
      <p:sp>
        <p:nvSpPr>
          <p:cNvPr id="7" name="Rectangle 6"/>
          <p:cNvSpPr/>
          <p:nvPr/>
        </p:nvSpPr>
        <p:spPr>
          <a:xfrm>
            <a:off x="1005840" y="1325880"/>
            <a:ext cx="10863072" cy="1097280"/>
          </a:xfrm>
          <a:prstGeom prst="rect">
            <a:avLst/>
          </a:prstGeom>
          <a:solidFill>
            <a:srgbClr val="0E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389888"/>
            <a:ext cx="10543032" cy="411480"/>
          </a:xfrm>
          <a:prstGeom prst="rect">
            <a:avLst/>
          </a:prstGeom>
          <a:noFill/>
        </p:spPr>
        <p:txBody>
          <a:bodyPr wrap="square">
            <a:spAutoFit/>
          </a:bodyPr>
          <a:lstStyle/>
          <a:p>
            <a:pPr algn="l"/>
            <a:r>
              <a:rPr sz="1800" b="1" i="0">
                <a:solidFill>
                  <a:srgbClr val="FFC107"/>
                </a:solidFill>
              </a:rPr>
              <a:t>C-PTSDは通常PTSDとは別物</a:t>
            </a:r>
          </a:p>
        </p:txBody>
      </p:sp>
      <p:sp>
        <p:nvSpPr>
          <p:cNvPr id="9" name="TextBox 8"/>
          <p:cNvSpPr txBox="1"/>
          <p:nvPr/>
        </p:nvSpPr>
        <p:spPr>
          <a:xfrm>
            <a:off x="1143000" y="1801368"/>
            <a:ext cx="10543032" cy="384048"/>
          </a:xfrm>
          <a:prstGeom prst="rect">
            <a:avLst/>
          </a:prstGeom>
          <a:noFill/>
        </p:spPr>
        <p:txBody>
          <a:bodyPr wrap="square">
            <a:spAutoFit/>
          </a:bodyPr>
          <a:lstStyle/>
          <a:p>
            <a:pPr algn="l"/>
            <a:r>
              <a:rPr sz="1400" b="0" i="0">
                <a:solidFill>
                  <a:srgbClr val="C0D8FF"/>
                </a:solidFill>
              </a:rPr>
              <a:t>DSO（情動調節困難・否定的自己概念・対人関係障害）を意識的に拾う</a:t>
            </a:r>
          </a:p>
        </p:txBody>
      </p:sp>
      <p:sp>
        <p:nvSpPr>
          <p:cNvPr id="10" name="Rectangle 9"/>
          <p:cNvSpPr/>
          <p:nvPr/>
        </p:nvSpPr>
        <p:spPr>
          <a:xfrm>
            <a:off x="320040" y="2651760"/>
            <a:ext cx="594360" cy="109728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743200"/>
            <a:ext cx="594360" cy="914400"/>
          </a:xfrm>
          <a:prstGeom prst="rect">
            <a:avLst/>
          </a:prstGeom>
          <a:noFill/>
        </p:spPr>
        <p:txBody>
          <a:bodyPr wrap="square">
            <a:spAutoFit/>
          </a:bodyPr>
          <a:lstStyle/>
          <a:p>
            <a:pPr algn="ctr"/>
            <a:r>
              <a:rPr sz="3200" b="1" i="0">
                <a:solidFill>
                  <a:srgbClr val="FFFFFF"/>
                </a:solidFill>
              </a:rPr>
              <a:t>2</a:t>
            </a:r>
          </a:p>
        </p:txBody>
      </p:sp>
      <p:sp>
        <p:nvSpPr>
          <p:cNvPr id="12" name="Rectangle 11"/>
          <p:cNvSpPr/>
          <p:nvPr/>
        </p:nvSpPr>
        <p:spPr>
          <a:xfrm>
            <a:off x="1005840" y="2651760"/>
            <a:ext cx="10863072" cy="1097280"/>
          </a:xfrm>
          <a:prstGeom prst="rect">
            <a:avLst/>
          </a:prstGeom>
          <a:solidFill>
            <a:srgbClr val="0E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715768"/>
            <a:ext cx="10543032" cy="411480"/>
          </a:xfrm>
          <a:prstGeom prst="rect">
            <a:avLst/>
          </a:prstGeom>
          <a:noFill/>
        </p:spPr>
        <p:txBody>
          <a:bodyPr wrap="square">
            <a:spAutoFit/>
          </a:bodyPr>
          <a:lstStyle/>
          <a:p>
            <a:pPr algn="l"/>
            <a:r>
              <a:rPr sz="1800" b="1" i="0">
                <a:solidFill>
                  <a:srgbClr val="FFC107"/>
                </a:solidFill>
              </a:rPr>
              <a:t>フェーズ基盤型が原則</a:t>
            </a:r>
          </a:p>
        </p:txBody>
      </p:sp>
      <p:sp>
        <p:nvSpPr>
          <p:cNvPr id="14" name="TextBox 13"/>
          <p:cNvSpPr txBox="1"/>
          <p:nvPr/>
        </p:nvSpPr>
        <p:spPr>
          <a:xfrm>
            <a:off x="1143000" y="3127248"/>
            <a:ext cx="10543032" cy="384048"/>
          </a:xfrm>
          <a:prstGeom prst="rect">
            <a:avLst/>
          </a:prstGeom>
          <a:noFill/>
        </p:spPr>
        <p:txBody>
          <a:bodyPr wrap="square">
            <a:spAutoFit/>
          </a:bodyPr>
          <a:lstStyle/>
          <a:p>
            <a:pPr algn="l"/>
            <a:r>
              <a:rPr sz="1400" b="0" i="0">
                <a:solidFill>
                  <a:srgbClr val="C0D8FF"/>
                </a:solidFill>
              </a:rPr>
              <a:t>急いでトラウマを掘り起こさない——安全確立→安定化→トラウマ処理の順番を守る</a:t>
            </a:r>
          </a:p>
        </p:txBody>
      </p:sp>
      <p:sp>
        <p:nvSpPr>
          <p:cNvPr id="15" name="Rectangle 14"/>
          <p:cNvSpPr/>
          <p:nvPr/>
        </p:nvSpPr>
        <p:spPr>
          <a:xfrm>
            <a:off x="320040" y="3977639"/>
            <a:ext cx="594360" cy="109728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4069080"/>
            <a:ext cx="594360" cy="914400"/>
          </a:xfrm>
          <a:prstGeom prst="rect">
            <a:avLst/>
          </a:prstGeom>
          <a:noFill/>
        </p:spPr>
        <p:txBody>
          <a:bodyPr wrap="square">
            <a:spAutoFit/>
          </a:bodyPr>
          <a:lstStyle/>
          <a:p>
            <a:pPr algn="ctr"/>
            <a:r>
              <a:rPr sz="3200" b="1" i="0">
                <a:solidFill>
                  <a:srgbClr val="FFFFFF"/>
                </a:solidFill>
              </a:rPr>
              <a:t>3</a:t>
            </a:r>
          </a:p>
        </p:txBody>
      </p:sp>
      <p:sp>
        <p:nvSpPr>
          <p:cNvPr id="17" name="Rectangle 16"/>
          <p:cNvSpPr/>
          <p:nvPr/>
        </p:nvSpPr>
        <p:spPr>
          <a:xfrm>
            <a:off x="1005840" y="3977639"/>
            <a:ext cx="10863072" cy="1097280"/>
          </a:xfrm>
          <a:prstGeom prst="rect">
            <a:avLst/>
          </a:prstGeom>
          <a:solidFill>
            <a:srgbClr val="0E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041648"/>
            <a:ext cx="10543032" cy="411480"/>
          </a:xfrm>
          <a:prstGeom prst="rect">
            <a:avLst/>
          </a:prstGeom>
          <a:noFill/>
        </p:spPr>
        <p:txBody>
          <a:bodyPr wrap="square">
            <a:spAutoFit/>
          </a:bodyPr>
          <a:lstStyle/>
          <a:p>
            <a:pPr algn="l"/>
            <a:r>
              <a:rPr sz="1800" b="1" i="0">
                <a:solidFill>
                  <a:srgbClr val="FFC107"/>
                </a:solidFill>
              </a:rPr>
              <a:t>感情調節障害＋BPD共存 → DBT-PTSDが最強エビデンス</a:t>
            </a:r>
          </a:p>
        </p:txBody>
      </p:sp>
      <p:sp>
        <p:nvSpPr>
          <p:cNvPr id="19" name="TextBox 18"/>
          <p:cNvSpPr txBox="1"/>
          <p:nvPr/>
        </p:nvSpPr>
        <p:spPr>
          <a:xfrm>
            <a:off x="1143000" y="4453128"/>
            <a:ext cx="10543032" cy="384048"/>
          </a:xfrm>
          <a:prstGeom prst="rect">
            <a:avLst/>
          </a:prstGeom>
          <a:noFill/>
        </p:spPr>
        <p:txBody>
          <a:bodyPr wrap="square">
            <a:spAutoFit/>
          </a:bodyPr>
          <a:lstStyle/>
          <a:p>
            <a:pPr algn="l"/>
            <a:r>
              <a:rPr sz="1400" b="0" i="0">
                <a:solidFill>
                  <a:srgbClr val="C0D8FF"/>
                </a:solidFill>
              </a:rPr>
              <a:t>寛解率 58.4%（JAMA Psychiatry 2020, PMID: 32697288）</a:t>
            </a:r>
          </a:p>
        </p:txBody>
      </p:sp>
      <p:sp>
        <p:nvSpPr>
          <p:cNvPr id="20" name="Rectangle 19"/>
          <p:cNvSpPr/>
          <p:nvPr/>
        </p:nvSpPr>
        <p:spPr>
          <a:xfrm>
            <a:off x="320040" y="5349240"/>
            <a:ext cx="11548872" cy="914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394960"/>
            <a:ext cx="11183112" cy="777240"/>
          </a:xfrm>
          <a:prstGeom prst="rect">
            <a:avLst/>
          </a:prstGeom>
          <a:noFill/>
        </p:spPr>
        <p:txBody>
          <a:bodyPr wrap="square">
            <a:spAutoFit/>
          </a:bodyPr>
          <a:lstStyle/>
          <a:p>
            <a:pPr algn="ctr"/>
            <a:r>
              <a:rPr sz="2200" b="1" i="0">
                <a:solidFill>
                  <a:srgbClr val="FFFFFF"/>
                </a:solidFill>
              </a:rPr>
              <a:t>「問題患者」は「見落とされたC-PTSD患者」かもしれない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57432" cy="685800"/>
          </a:xfrm>
          <a:prstGeom prst="rect">
            <a:avLst/>
          </a:prstGeom>
          <a:noFill/>
        </p:spPr>
        <p:txBody>
          <a:bodyPr wrap="square">
            <a:spAutoFit/>
          </a:bodyPr>
          <a:lstStyle/>
          <a:p>
            <a:pPr algn="l"/>
            <a:r>
              <a:rPr sz="2400" b="1" i="0">
                <a:solidFill>
                  <a:srgbClr val="FFFFFF"/>
                </a:solidFill>
              </a:rPr>
              <a:t>主要参考文献</a:t>
            </a:r>
          </a:p>
        </p:txBody>
      </p:sp>
      <p:sp>
        <p:nvSpPr>
          <p:cNvPr id="5" name="TextBox 4"/>
          <p:cNvSpPr txBox="1"/>
          <p:nvPr/>
        </p:nvSpPr>
        <p:spPr>
          <a:xfrm>
            <a:off x="365760" y="749808"/>
            <a:ext cx="11457432" cy="411480"/>
          </a:xfrm>
          <a:prstGeom prst="rect">
            <a:avLst/>
          </a:prstGeom>
          <a:noFill/>
        </p:spPr>
        <p:txBody>
          <a:bodyPr wrap="square">
            <a:spAutoFit/>
          </a:bodyPr>
          <a:lstStyle/>
          <a:p>
            <a:pPr algn="l"/>
            <a:r>
              <a:rPr sz="1400" b="0" i="0">
                <a:solidFill>
                  <a:srgbClr val="A8C4E8"/>
                </a:solidFill>
              </a:rPr>
              <a:t>補足資料</a:t>
            </a:r>
          </a:p>
        </p:txBody>
      </p:sp>
      <p:sp>
        <p:nvSpPr>
          <p:cNvPr id="6" name="Rectangle 5"/>
          <p:cNvSpPr/>
          <p:nvPr/>
        </p:nvSpPr>
        <p:spPr>
          <a:xfrm>
            <a:off x="0" y="1234440"/>
            <a:ext cx="12188952" cy="508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92240"/>
            <a:ext cx="12188952" cy="36576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0040"/>
          </a:xfrm>
          <a:prstGeom prst="rect">
            <a:avLst/>
          </a:prstGeom>
          <a:noFill/>
        </p:spPr>
        <p:txBody>
          <a:bodyPr wrap="square">
            <a:spAutoFit/>
          </a:bodyPr>
          <a:lstStyle/>
          <a:p>
            <a:pPr algn="l"/>
            <a:r>
              <a:rPr sz="900" b="0" i="0">
                <a:solidFill>
                  <a:srgbClr val="A8C4E8"/>
                </a:solidFill>
              </a:rPr>
              <a:t>Slide 18 / 17（補足）</a:t>
            </a:r>
          </a:p>
        </p:txBody>
      </p:sp>
      <p:sp>
        <p:nvSpPr>
          <p:cNvPr id="9" name="TextBox 8"/>
          <p:cNvSpPr txBox="1"/>
          <p:nvPr/>
        </p:nvSpPr>
        <p:spPr>
          <a:xfrm>
            <a:off x="320040" y="1463040"/>
            <a:ext cx="11548872" cy="5029200"/>
          </a:xfrm>
          <a:prstGeom prst="rect">
            <a:avLst/>
          </a:prstGeom>
          <a:noFill/>
        </p:spPr>
        <p:txBody>
          <a:bodyPr wrap="square">
            <a:spAutoFit/>
          </a:bodyPr>
          <a:lstStyle/>
          <a:p>
            <a:pPr>
              <a:spcBef>
                <a:spcPts val="500"/>
              </a:spcBef>
            </a:pPr>
            <a:r>
              <a:rPr sz="1300" b="1">
                <a:solidFill>
                  <a:srgbClr val="007A87"/>
                </a:solidFill>
              </a:rPr>
              <a:t>PMID: 31283056  </a:t>
            </a:r>
            <a:r>
              <a:rPr sz="1300">
                <a:solidFill>
                  <a:srgbClr val="1C1C2E"/>
                </a:solidFill>
              </a:rPr>
              <a:t>Bisson JI et al., J Trauma Stress, 2019 — ISTSSガイドライン</a:t>
            </a:r>
          </a:p>
          <a:p>
            <a:pPr>
              <a:spcBef>
                <a:spcPts val="500"/>
              </a:spcBef>
            </a:pPr>
            <a:r>
              <a:rPr sz="1300" b="1">
                <a:solidFill>
                  <a:srgbClr val="007A87"/>
                </a:solidFill>
              </a:rPr>
              <a:t>PMID: 30857567  </a:t>
            </a:r>
            <a:r>
              <a:rPr sz="1300">
                <a:solidFill>
                  <a:srgbClr val="1C1C2E"/>
                </a:solidFill>
              </a:rPr>
              <a:t>Karatzias T et al., Psychological Medicine, 2019 — EMDRメタ解析</a:t>
            </a:r>
          </a:p>
          <a:p>
            <a:pPr>
              <a:spcBef>
                <a:spcPts val="500"/>
              </a:spcBef>
            </a:pPr>
            <a:r>
              <a:rPr sz="1300" b="1">
                <a:solidFill>
                  <a:srgbClr val="007A87"/>
                </a:solidFill>
              </a:rPr>
              <a:t>PMID: 40737648  </a:t>
            </a:r>
            <a:r>
              <a:rPr sz="1300">
                <a:solidFill>
                  <a:srgbClr val="1C1C2E"/>
                </a:solidFill>
              </a:rPr>
              <a:t>Korovynskyi I et al., Georgian Medical News, 2025 — TF-CBT/PE/CPTメタ解析</a:t>
            </a:r>
          </a:p>
          <a:p>
            <a:pPr>
              <a:spcBef>
                <a:spcPts val="500"/>
              </a:spcBef>
            </a:pPr>
            <a:r>
              <a:rPr sz="1300" b="1">
                <a:solidFill>
                  <a:srgbClr val="007A87"/>
                </a:solidFill>
              </a:rPr>
              <a:t>PMID: 32697288  </a:t>
            </a:r>
            <a:r>
              <a:rPr sz="1300">
                <a:solidFill>
                  <a:srgbClr val="1C1C2E"/>
                </a:solidFill>
              </a:rPr>
              <a:t>Bohus M et al., JAMA Psychiatry, 2020 — DBT-PTSD RCT（最重要）</a:t>
            </a:r>
          </a:p>
          <a:p>
            <a:pPr>
              <a:spcBef>
                <a:spcPts val="500"/>
              </a:spcBef>
            </a:pPr>
            <a:r>
              <a:rPr sz="1300" b="1">
                <a:solidFill>
                  <a:srgbClr val="007A87"/>
                </a:solidFill>
              </a:rPr>
              <a:t>PMID: 39221987  </a:t>
            </a:r>
            <a:r>
              <a:rPr sz="1300">
                <a:solidFill>
                  <a:srgbClr val="1C1C2E"/>
                </a:solidFill>
              </a:rPr>
              <a:t>Vonderlin R et al., Eur J Psychotraumatol, 2024 — DBT-PTSD長期フォロー</a:t>
            </a:r>
          </a:p>
          <a:p>
            <a:pPr>
              <a:spcBef>
                <a:spcPts val="500"/>
              </a:spcBef>
            </a:pPr>
            <a:r>
              <a:rPr sz="1300" b="1">
                <a:solidFill>
                  <a:srgbClr val="007A87"/>
                </a:solidFill>
              </a:rPr>
              <a:t>PMID: 41160015  </a:t>
            </a:r>
            <a:r>
              <a:rPr sz="1300">
                <a:solidFill>
                  <a:srgbClr val="1C1C2E"/>
                </a:solidFill>
              </a:rPr>
              <a:t>van Hemert MTC et al., Eur J Psychotraumatol, 2025 — スキーマ療法</a:t>
            </a:r>
          </a:p>
          <a:p>
            <a:pPr>
              <a:spcBef>
                <a:spcPts val="500"/>
              </a:spcBef>
            </a:pPr>
            <a:r>
              <a:rPr sz="1300" b="1">
                <a:solidFill>
                  <a:srgbClr val="007A87"/>
                </a:solidFill>
              </a:rPr>
              <a:t>PMID: 38934934  </a:t>
            </a:r>
            <a:r>
              <a:rPr sz="1300">
                <a:solidFill>
                  <a:srgbClr val="1C1C2E"/>
                </a:solidFill>
              </a:rPr>
              <a:t>Comeau A et al., Psychol Trauma, 2024 — IFSパイロット</a:t>
            </a:r>
          </a:p>
          <a:p>
            <a:pPr>
              <a:spcBef>
                <a:spcPts val="500"/>
              </a:spcBef>
            </a:pPr>
            <a:r>
              <a:rPr sz="1300" b="1">
                <a:solidFill>
                  <a:srgbClr val="007A87"/>
                </a:solidFill>
              </a:rPr>
              <a:t>PMID: 36162349  </a:t>
            </a:r>
            <a:r>
              <a:rPr sz="1300">
                <a:solidFill>
                  <a:srgbClr val="1C1C2E"/>
                </a:solidFill>
              </a:rPr>
              <a:t>Bajor LA et al., Psychiatry Res, 2022 — 薬物療法アルゴリズム</a:t>
            </a:r>
          </a:p>
          <a:p>
            <a:pPr>
              <a:spcBef>
                <a:spcPts val="500"/>
              </a:spcBef>
            </a:pPr>
            <a:r>
              <a:rPr sz="1300" b="1">
                <a:solidFill>
                  <a:srgbClr val="007A87"/>
                </a:solidFill>
              </a:rPr>
              <a:t>PMID: 40234083  </a:t>
            </a:r>
            <a:r>
              <a:rPr sz="1300">
                <a:solidFill>
                  <a:srgbClr val="1C1C2E"/>
                </a:solidFill>
              </a:rPr>
              <a:t>Schaug JP et al., BMJ Mental Health, 2025 — 最新ガイドライン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